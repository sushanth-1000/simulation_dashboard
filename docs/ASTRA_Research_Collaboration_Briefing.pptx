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84831"/>
            <a:ext cx="1554480" cy="3492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A8C9"/>
                </a:solidFill>
                <a:latin typeface="Segoe UI"/>
              </a:rPr>
              <a:t>RESEARCH &amp; COLLABORATION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95728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Segoe UI"/>
              </a:rPr>
              <a:t>ASTRA</a:t>
            </a:r>
          </a:p>
          <a:p>
            <a:pPr algn="l">
              <a:spcAft>
                <a:spcPts val="200"/>
              </a:spcAft>
            </a:pPr>
            <a:r>
              <a:rPr sz="2300" b="0" i="0">
                <a:solidFill>
                  <a:srgbClr val="DAE4EE"/>
                </a:solidFill>
                <a:latin typeface="Segoe UI"/>
              </a:rPr>
              <a:t>Fault Observability, Information Loss &amp; Monitor Placement</a:t>
            </a:r>
          </a:p>
          <a:p>
            <a:pPr algn="l">
              <a:spcAft>
                <a:spcPts val="1400"/>
              </a:spcAft>
            </a:pPr>
            <a:r>
              <a:rPr sz="2300" b="0" i="0">
                <a:solidFill>
                  <a:srgbClr val="DAE4EE"/>
                </a:solidFill>
                <a:latin typeface="Segoe UI"/>
              </a:rPr>
              <a:t>in Autonomous Driving Systems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FBAD2"/>
                </a:solidFill>
                <a:latin typeface="Segoe UI"/>
              </a:rPr>
              <a:t>Current Evidence  •  Research Roadmap  •  Dataset Validation  •  Industry Value  •  Publication 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DA5BC"/>
                </a:solidFill>
                <a:latin typeface="Segoe UI"/>
              </a:rPr>
              <a:t>Sushanth C.  ·  Tarun Gowda V  ·  T Tilak Reddy   |   Guide: Dr. Chaitra R.   |   BMS College of Engineering   |   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WHERE THE PROJECT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3456432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0000" cy="2057400"/>
          </a:xfrm>
          <a:prstGeom prst="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309067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What exists today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An audited experimental framework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90 profiles · 2,160 closed-loop runs · 0 failures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Pre-registered before execution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Three measurement defects found and corrected — two by self-audit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481328"/>
            <a:ext cx="3456432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81328"/>
            <a:ext cx="30000" cy="2057400"/>
          </a:xfrm>
          <a:prstGeom prst="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627632"/>
            <a:ext cx="309067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The initial finding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Fault evidence weakens stage-by-stage,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and differently for different faults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One stable, well-posed result at n=30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Three other faults behave in three other 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1856" y="1481328"/>
            <a:ext cx="3529584" cy="20574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91856" y="1481328"/>
            <a:ext cx="30000" cy="2057400"/>
          </a:xfrm>
          <a:prstGeom prst="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627632"/>
            <a:ext cx="3163824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What is not yet known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Whether it generalises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No real-world data yet · no closed loop yet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Monitor-placement consequence untested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Adversarial extension not started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94760"/>
            <a:ext cx="10881360" cy="1371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30000" cy="137160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86784"/>
            <a:ext cx="10332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The ask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Segoe UI"/>
              </a:rPr>
              <a:t>ASTRA has a technically audited foundation and a scientifically interesting initial finding. The remaining work is not feature development — it is a gated validation programme that determines whether the finding generalises to real data, adversarial conditions and closed-loop driving.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8A99A8"/>
                </a:solidFill>
                <a:latin typeface="Segoe UI"/>
              </a:rPr>
              <a:t>Every claim in this deck is badged ESTABLISHED / PARTIALLY VALIDATED / PLANNED / HYPOTHESIS and is traceable to the project's own audit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WHY THIS QUESTION IS NOT ALREADY ANSWERED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5120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2263A"/>
                </a:solidFill>
                <a:latin typeface="Segoe UI"/>
              </a:rPr>
              <a:t>A sensor fault does not stay a sensor fault.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5A6B7C"/>
                </a:solidFill>
                <a:latin typeface="Segoe UI"/>
              </a:rPr>
              <a:t>It passes through estimation, fusion, trust scoring and a stack of safety monitors. Each stage transforms it. Somewhere along that path the evidence that anything is wrong can become too weak for a downstream monitor to act on.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6B7C"/>
                </a:solidFill>
                <a:latin typeface="Segoe UI"/>
              </a:rPr>
              <a:t>Conventional fault detection asks a binary question: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12263A"/>
                </a:solidFill>
                <a:latin typeface="Consolas"/>
              </a:rPr>
              <a:t>        “fault or no fault?”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B7C"/>
                </a:solidFill>
                <a:latin typeface="Segoe UI"/>
              </a:rPr>
              <a:t>It does not tell an engineer WHERE in their own architecture the evidence stopped being usable — which is exactly what determines where a monitor should sit.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481328"/>
            <a:ext cx="5349240" cy="3429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642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THE BLIND-SPOT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084831"/>
            <a:ext cx="4800600" cy="384048"/>
          </a:xfrm>
          <a:prstGeom prst="round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Sensor fault occurs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670048"/>
            <a:ext cx="2148840" cy="384048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L1  sensing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76148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evidence strong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172968"/>
            <a:ext cx="2148840" cy="384048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L2  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26440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evidence weakens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675888"/>
            <a:ext cx="2148840" cy="384048"/>
          </a:xfrm>
          <a:prstGeom prst="round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L6/L7 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7673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evidence insufficient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3159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2263A"/>
                </a:solidFill>
                <a:latin typeface="Segoe UI"/>
              </a:rPr>
              <a:t>The monitor sits after the point where the evidence became insufficient — so it cannot act, however well it is implemented.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8A99A8"/>
                </a:solidFill>
                <a:latin typeface="Segoe UI"/>
              </a:rPr>
              <a:t>Illustrative schematic of the problem class. Measured per-fault profiles appear on the results slides.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What ASTRA actually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881360" cy="9326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0000" cy="932688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63A"/>
                </a:solidFill>
                <a:latin typeface="Segoe UI"/>
              </a:rPr>
              <a:t>A framework for quantifying how sensor-fault evidence changes across an autonomous-driving estimation and safety pipeline — identifying where discriminative evidence becomes insufficient for downstream detection, and investigating how that guides monitor placement.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349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B6CA8"/>
                </a:solidFill>
                <a:latin typeface="Segoe UI"/>
              </a:rPr>
              <a:t>The primary question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2263A"/>
                </a:solidFill>
                <a:latin typeface="Segoe UI"/>
              </a:rPr>
              <a:t>When a sensor becomes faulty, where in the pipeline does the fault stop being distinguishable from healthy behaviour?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B6CA8"/>
                </a:solidFill>
                <a:latin typeface="Segoe UI"/>
              </a:rPr>
              <a:t>Secondary question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12263A"/>
                </a:solidFill>
                <a:latin typeface="Segoe UI"/>
              </a:rPr>
              <a:t>Can that information decide where monitoring should occur?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B6CA8"/>
                </a:solidFill>
                <a:latin typeface="Segoe UI"/>
              </a:rPr>
              <a:t>Future security question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6B7280"/>
                </a:solidFill>
                <a:latin typeface="Segoe UI"/>
              </a:rPr>
              <a:t>Does a deliberately manipulated sensor behave differently from a naturally faulty one?  — not yet answered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697480"/>
            <a:ext cx="5212080" cy="3063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697480"/>
            <a:ext cx="30000" cy="3063240"/>
          </a:xfrm>
          <a:prstGeom prst="rect">
            <a:avLst/>
          </a:prstGeom>
          <a:solidFill>
            <a:srgbClr val="5A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843784"/>
            <a:ext cx="48463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ASTRA is NOT positioned as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✕  a sensor fault detector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✕  a Kalman-filtering contribution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✕  a CARLA testing exercise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✕  a multi-dataset benchmark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It measures how evidence about a fault survives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transformation — not whether a fault is present.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NINE LAYERS, TWO ISOLATED 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The ASTRA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Measurement points used by the experiment are marked. Core-A proposes; Core-B may veto. The trust boundary is one-way.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33271" cy="868680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L1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EAF2"/>
                </a:solidFill>
                <a:latin typeface="Segoe UI"/>
              </a:rPr>
              <a:t>sensing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53818" y="1920240"/>
            <a:ext cx="1033271" cy="868680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L2a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EAF2"/>
                </a:solidFill>
                <a:latin typeface="Segoe UI"/>
              </a:rPr>
              <a:t>innovation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7556" y="1920240"/>
            <a:ext cx="1033271" cy="868680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L2b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EAF2"/>
                </a:solidFill>
                <a:latin typeface="Segoe UI"/>
              </a:rPr>
              <a:t>estimate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81294" y="1920240"/>
            <a:ext cx="1033271" cy="868680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L3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EAF2"/>
                </a:solidFill>
                <a:latin typeface="Segoe UI"/>
              </a:rPr>
              <a:t>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5032" y="1920240"/>
            <a:ext cx="1033271" cy="868680"/>
          </a:xfrm>
          <a:prstGeom prst="roundRect">
            <a:avLst/>
          </a:prstGeom>
          <a:solidFill>
            <a:srgbClr val="5A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L4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EAF2"/>
                </a:solidFill>
                <a:latin typeface="Segoe UI"/>
              </a:rPr>
              <a:t>policy
CORE-A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0" y="1920240"/>
            <a:ext cx="1033271" cy="868680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L5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EAF2"/>
                </a:solidFill>
                <a:latin typeface="Segoe UI"/>
              </a:rPr>
              <a:t>twin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22508" y="1920240"/>
            <a:ext cx="1033271" cy="868680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L6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EAF2"/>
                </a:solidFill>
                <a:latin typeface="Segoe UI"/>
              </a:rPr>
              <a:t>conformal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6246" y="1920240"/>
            <a:ext cx="1033271" cy="868680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L7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EAF2"/>
                </a:solidFill>
                <a:latin typeface="Segoe UI"/>
              </a:rPr>
              <a:t>shield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9984" y="1920240"/>
            <a:ext cx="1033271" cy="868680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L8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EAF2"/>
                </a:solidFill>
                <a:latin typeface="Segoe UI"/>
              </a:rPr>
              <a:t>fail-safe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3722" y="1920240"/>
            <a:ext cx="1033271" cy="868680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L9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E2EAF2"/>
                </a:solidFill>
                <a:latin typeface="Segoe UI"/>
              </a:rPr>
              <a:t>arbitration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4315968" cy="274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62656"/>
            <a:ext cx="43159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Segoe UI"/>
              </a:rPr>
              <a:t>SHARED  ·  L1–L3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926080"/>
            <a:ext cx="1033271" cy="274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962656"/>
            <a:ext cx="103327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Segoe UI"/>
              </a:rPr>
              <a:t>CORE-A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2926080"/>
            <a:ext cx="4279392" cy="274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4" y="2962656"/>
            <a:ext cx="42793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A6B7C"/>
                </a:solidFill>
                <a:latin typeface="Segoe UI"/>
              </a:rPr>
              <a:t>CORE-B  ·  3 gates verdict on every tick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56432"/>
            <a:ext cx="1691640" cy="237744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ESTABLISHED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438144"/>
            <a:ext cx="9052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263A"/>
                </a:solidFill>
                <a:latin typeface="Segoe UI"/>
              </a:rPr>
              <a:t>9 / 9 layers domain-mapped · 3 / 3 Core-B gates produce a verdict on every one of 300 ticks — verified in a live run, not from documentation.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3931920"/>
          <a:ext cx="10881358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042"/>
                <a:gridCol w="4914162"/>
                <a:gridCol w="4680154"/>
              </a:tblGrid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Statistic measured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Role in the experiment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raw channel value / dispersion / stream health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sensor-level detectability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L2a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UKF innovation (Mahalanobis)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estimator-level observability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L2b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estimated lateral 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post-estimation state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L3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trust index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normalised-innovation trust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conformal non-conformity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statistical gate evidence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L7 / L8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veto flag / fail-safe posture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operational gate outcome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8A99A8"/>
                </a:solidFill>
                <a:latin typeface="Segoe UI"/>
              </a:rPr>
              <a:t>Stage statistics are one defensible choice among several; a different statistic could move the measured values. Stated as a limitation throughout.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AUDITED, 1 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Current E17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3200400" cy="658368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E17 — NEEDS MINOR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481328"/>
            <a:ext cx="7452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Segoe UI"/>
              </a:rPr>
              <a:t>Sweep audited: 4 of 6 faults passed injection integrity; 2 were invalid, have since been re-injected through the correct per-channel path, and re-run at n=30. Contaminated records are retained and flagged, not deleted.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304288"/>
          <a:ext cx="10881358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885"/>
                <a:gridCol w="1373375"/>
                <a:gridCol w="1479019"/>
                <a:gridCol w="5916079"/>
              </a:tblGrid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Fault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Injection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30-seed data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Current interpretation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speed_stuck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E6B52"/>
                          </a:solidFill>
                          <a:latin typeface="Segoe UI"/>
                        </a:rPr>
                        <a:t>Valid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Valid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L2a — well-posed on 30/30 seeds (policy P1)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speed_bias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E6B52"/>
                          </a:solidFill>
                          <a:latin typeface="Segoe UI"/>
                        </a:rPr>
                        <a:t>Valid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Valid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L2a modal 100 %, but 0/30 well-posed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lateral_noise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E6B52"/>
                          </a:solidFill>
                          <a:latin typeface="Segoe UI"/>
                        </a:rPr>
                        <a:t>Valid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Valid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Persistent — never absorbed at any stage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imu_dropout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E6B52"/>
                          </a:solidFill>
                          <a:latin typeface="Segoe UI"/>
                        </a:rPr>
                        <a:t>Valid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Valid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Non-monotonic — no well-posed A(f)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position_bias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A9760B"/>
                          </a:solidFill>
                          <a:latin typeface="Segoe UI"/>
                        </a:rPr>
                        <a:t>Corrected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Re-run n=30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0362A"/>
                          </a:solidFill>
                          <a:latin typeface="Segoe UI"/>
                        </a:rPr>
                        <a:t>NOT absorbed — D_L2a 0.675–0.797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position_drift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A9760B"/>
                          </a:solidFill>
                          <a:latin typeface="Segoe UI"/>
                        </a:rPr>
                        <a:t>Corrected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Re-run n=30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B0362A"/>
                          </a:solidFill>
                          <a:latin typeface="Segoe UI"/>
                        </a:rPr>
                        <a:t>NOT absorbed — D_L2a 0.655–0.767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828032"/>
            <a:ext cx="5349240" cy="12984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28032"/>
            <a:ext cx="30000" cy="1298448"/>
          </a:xfrm>
          <a:prstGeom prst="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974336"/>
            <a:ext cx="49834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The two position faults, corrected and re-run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Re-injected via redundant.offset — the per-channel path. Fault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reached the estimator in 720/720 runs. Result: absorbed at L2a in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0 of 12 cells. The original D = 0.500 was entirely the artefact.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4828032"/>
            <a:ext cx="5349240" cy="12984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4828032"/>
            <a:ext cx="30000" cy="1298448"/>
          </a:xfrm>
          <a:prstGeom prst="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974336"/>
            <a:ext cx="498348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Why this strengthens rather than weakens the work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The defect was found by auditing our own headline result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because it looked too clean. The workflow now requires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delivered-signal verification before any result is accepted.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READING THE METRIC CORRECTLY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What the current results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B7C"/>
                </a:solidFill>
                <a:latin typeface="Segoe UI"/>
              </a:rPr>
              <a:t>D_s = AUC(faulted, matched-clean), folded to [0.5, 1.0]. Unit of analysis is the seed, never the tick.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49240" cy="11704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0000" cy="1170432"/>
          </a:xfrm>
          <a:prstGeom prst="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D = 0.5 does NOT mean “50 % accuracy”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0.5 is chance-level discriminability and the floor of a folded metric. It means the evaluated representation does not retain discriminative evidence — not that a detector is right half the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349240" cy="117043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30000" cy="1170432"/>
          </a:xfrm>
          <a:prstGeom prst="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75104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High D does NOT mean the gate fired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AUC is scale-free. It reports near-perfect separation for a shift far below a gate's decision threshold. Statistical separability and operational detection are different claims.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1868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Fault-specific observability trajectories — four valid faults, four distinct behaviours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602736"/>
          <a:ext cx="10881358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018"/>
                <a:gridCol w="2792561"/>
                <a:gridCol w="3177742"/>
                <a:gridCol w="3274037"/>
              </a:tblGrid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Fault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Behaviour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Absorption point A(f)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speed_stuck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Absorbed at estimation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L2a — well-posed 30/30 (P1)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0.9625 → 0.5629, SD 0.0077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speed_bias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Weakens, then statistic recovers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not well-posed — 0/30 seeds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modal L2a 100 % is misleading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imu_dropout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Non-monotonic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none — no unique A(f)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curve crosses and returns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lateral_noise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Persistent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none — never absorbed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stays separable throughout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position_bias / drift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Survives estimation (corrected)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none — not absorbed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D_L2a 0.655–0.797, n=30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40080" y="5907024"/>
            <a:ext cx="1691640" cy="237744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PARTIALLY 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888736"/>
            <a:ext cx="9052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263A"/>
                </a:solidFill>
                <a:latin typeface="Segoe UI"/>
              </a:rPr>
              <a:t>Heterogeneity is the finding: a single absorption point is ill-posed for five of six faults. One fault-policy pair shows a clean, well-posed absorption.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8A99A8"/>
                </a:solidFill>
                <a:latin typeface="Segoe UI"/>
              </a:rPr>
              <a:t>One plant model · one severity per fault · three policies · simulation only. Reproducibility across seeds is not external validity.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WHAT SURVIVED OUR OWN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Validated vs invalidated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463040" cy="237744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492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FaultChannel.POSITION_Y is inert against the driven sensing path under ADR-0033 — demonstrated causally (Control C: estimator sees 0 with redundancy on, 3.18 with it off), consistent across 9 policy/seed pairs.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All nine layers are domain-mapped; all three Core-B gates verdict on every tick.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The current L6 calibration prevents the gate from firing under the tested condition — classified as OD-8 / exchangeability violation, not a wiring defect.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speed_stuck shows a stable, well-posed 30/30 absorption result at L2a under P1.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Fault observability is heterogeneous across the valid faults.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Invalid records are retained and flagged rather than deleted.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The workflow now requires delivered-signal integrity verification before a sweep result is accepted.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1463040" cy="237744"/>
          </a:xfrm>
          <a:prstGeom prst="round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WITHDRAWN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828800"/>
            <a:ext cx="53492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“Position faults are absorbed at the estimator.” — the faults never reached the estimator. Re-injected correctly and re-run at n=30: absorbed in 0 of 12 cells (D_L2a 0.655–0.797). The original result was entirely artefact.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“All 18 falsification checks negative.” — sound checks, contaminated data.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The H-regime operating-regime claim — withdrawn as a Simpson's paradox: pooled ρ = −0.341, but within policy P2 ρ = +0.836.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“Information is destroyed at L2a.” — a downstream statistic recovers part of it; the correct phrasing is that the evaluated representation does not retain discriminative evidence.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▪  “A detection-without-response gap at L6.” — the gate returns PASS on every tick; it never made a detection to ignore.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8A99A8"/>
                </a:solidFill>
                <a:latin typeface="Segoe UI"/>
              </a:rPr>
              <a:t>Three measurement defects were found in this project's own code, two of them by self-audit before publication. Each is documented with its cause and correction.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STATED SO IT CAN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Current scientific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88136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0000" cy="105156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63A"/>
                </a:solidFill>
                <a:latin typeface="Segoe UI"/>
              </a:rPr>
              <a:t>Sensor-fault evidence degrades non-uniformly across pipeline stages, and the stage at which it becomes insufficient is a measurable, fault-specific property that can inform where monitors are placed.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63A"/>
                </a:solidFill>
                <a:latin typeface="Segoe UI"/>
              </a:rPr>
              <a:t>Three concepts kept separate throughout — conflating them is the most common error in this 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3529584" cy="777240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Sensor-level
detectability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9664" y="3282696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154680"/>
            <a:ext cx="3529584" cy="777240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Estimator-level
observability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3282696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3154680"/>
            <a:ext cx="3529584" cy="777240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Downstream operational
detectability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Can the fault be recognised from the raw corrupted measurement?     |     Does it remain distinguishable after state estimation?     |     Can a real gate, with its real threshold, act on it?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10881360" cy="1417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617720"/>
            <a:ext cx="30000" cy="1417320"/>
          </a:xfrm>
          <a:prstGeom prst="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764024"/>
            <a:ext cx="10515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The distinction that currently matters most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A statistic can separate faulted from clean almost perfectly while the gate reading that statistic cannot fire, because the shift is far below its decision threshold.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This is why ASTRA reports statistical discriminability and operational detectability as separate quantities — and why the deck never presents one as the other.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STATED AS A HYPOTHESIS, NOT A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Novelty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Segoe UI"/>
              </a:rPr>
              <a:t>The novelty is not any single ingredient — each exists in the literature. The proposed contribution is the combination.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58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575"/>
                <a:gridCol w="6872437"/>
                <a:gridCol w="3540346"/>
              </a:tblGrid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Proposed contribution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Status today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Stage-wise fault discriminability across a governance pipeline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E6B52"/>
                          </a:solidFill>
                          <a:latin typeface="Segoe UI"/>
                        </a:rPr>
                        <a:t>Measured on 4 valid faults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Fault-specific observability trajectories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E6B52"/>
                          </a:solidFill>
                          <a:latin typeface="Segoe UI"/>
                        </a:rPr>
                        <a:t>Measured — four distinct behaviours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A candidate fault-absorption point A(f)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A9760B"/>
                          </a:solidFill>
                          <a:latin typeface="Segoe UI"/>
                        </a:rPr>
                        <a:t>Ill-posed for 5 of 6 faults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Separating statistical discriminability from operational gate detection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E6B52"/>
                          </a:solidFill>
                          <a:latin typeface="Segoe UI"/>
                        </a:rPr>
                        <a:t>Measured — and consequential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Using measured observability to investigate monitor placement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D5A8A"/>
                          </a:solidFill>
                          <a:latin typeface="Segoe UI"/>
                        </a:rPr>
                        <a:t>PLANNED — experiment H7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Natural vs adversarial sensor manipulation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D5A8A"/>
                          </a:solidFill>
                          <a:latin typeface="Segoe UI"/>
                        </a:rPr>
                        <a:t>PLANNED — not started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2263A"/>
                          </a:solidFill>
                          <a:latin typeface="Segoe UI"/>
                        </a:rPr>
                        <a:t>Simulation → real data → closed loop validation chain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D5A8A"/>
                          </a:solidFill>
                          <a:latin typeface="Segoe UI"/>
                        </a:rPr>
                        <a:t>PLANNED — gated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864608"/>
            <a:ext cx="10881360" cy="84124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864608"/>
            <a:ext cx="30000" cy="84124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4748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Novelty remains a research hypothesis until confirmed against a final systematic literature review and the completed experiments. No priority claim is made in this deck.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THE NEXT SCIENTIFIC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H7 — the monitor-placement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188720" cy="237744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PLANNED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49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B6CA8"/>
                </a:solidFill>
                <a:latin typeface="Segoe UI"/>
              </a:rPr>
              <a:t>The question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12263A"/>
                </a:solidFill>
                <a:latin typeface="Segoe UI"/>
              </a:rPr>
              <a:t>If a fault is distinguishable at one stage but not at a later stage, does monitoring at the earlier stage provide better operational detection?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B7C"/>
                </a:solidFill>
                <a:latin typeface="Segoe UI"/>
              </a:rPr>
              <a:t>This is where measured observability would become an engineering recommendation rather than an observation.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828800"/>
            <a:ext cx="5349240" cy="2011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828800"/>
            <a:ext cx="30000" cy="2011680"/>
          </a:xfrm>
          <a:prstGeom prst="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975104"/>
            <a:ext cx="4983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A binding constraint discovered first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Monitor calibration — not placement — is currently the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limiting factor. Under the tested condition the L6 gate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cannot fire: live non-conformity ≈ 3.39 against a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conformal quantile ≈ 5.40, a gap of ≈ 2.0.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416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H7 must therefore resolve, in order: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34840"/>
            <a:ext cx="2615184" cy="731520"/>
          </a:xfrm>
          <a:prstGeom prst="round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Can the monitor
operate at all?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4" y="456285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4434840"/>
            <a:ext cx="2615184" cy="731520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Where does evidence
remain sufficient?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7608" y="456285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4434840"/>
            <a:ext cx="2615184" cy="731520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Does relocating it
improve detection?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456285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97112" y="4434840"/>
            <a:ext cx="2615184" cy="731520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Does it hold across
faults &amp; policies?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132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B7C"/>
                </a:solidFill>
                <a:latin typeface="Segoe UI"/>
              </a:rPr>
              <a:t>Because the first step is currently unresolved, H7 is gated behind the calibration question (OD-8). H7 has not succeeded and has not been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EACH SOURCE ANSWERS ONE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Dataset &amp; validation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881359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286000"/>
                <a:gridCol w="3931920"/>
                <a:gridCol w="2377440"/>
                <a:gridCol w="1051559"/>
              </a:tblGrid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Contributes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Weakness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E17
(synthetic)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Controlled causal experimentation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fault injection, severity, seeds, stage-wise D, absorption, policy dependence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synthetic; not external validity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IN USE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comma2k19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Real-world driving-data validation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does the E17 phenomenon transfer when driven by real vehicle data?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does not natively contain the required sensor faults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highD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Naturalistic traffic / regime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trajectories, speed distributions, density, following &amp; lane-change behaviour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not a sensor-fault dataset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CARLA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Closed-loop validation &amp; demonstration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faults, adversarial sensors, estimator behaviour, closed-loop consequences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must not be the sole source of evidence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2263A"/>
                          </a:solidFill>
                          <a:latin typeface="Segoe U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138928"/>
            <a:ext cx="10881360" cy="98755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138928"/>
            <a:ext cx="30000" cy="987552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285232"/>
            <a:ext cx="10515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Method note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Where a real-world dataset does not contain the required faults, controlled fault injection is applied over real measurements. This is stated as a method, not disguised as naturally occurring faults. Dataset availability and licensing are verified before a dataset is treated as a confirmed resource.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AND WHAT NEITHER PROVES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comma2k19 and highD — what each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349240" cy="2423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0000" cy="2423160"/>
          </a:xfrm>
          <a:prstGeom prst="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49834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comma2k19 — real-world signal realism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Question: does the observability behaviour found in E17 survive when the pipeline is driven by real vehicle data?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Contributes raw GNSS, 9-axis IMU and CAN from real highway driving.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It does NOT natively contain the sensor faults being studied — controlled injection over real measurements is the method.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A9760B"/>
                </a:solidFill>
                <a:latin typeface="Segoe UI"/>
              </a:rPr>
              <a:t>Status: conditional — verification of timestamp precision, storage, calibration and drive identity is outstanding.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81328"/>
            <a:ext cx="5349240" cy="2423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81328"/>
            <a:ext cx="30000" cy="2423160"/>
          </a:xfrm>
          <a:prstGeom prst="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627632"/>
            <a:ext cx="49834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highD — operating-regime realism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Question: do the results hold across realistic traffic regimes rather than one synthetic driving profile?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Contributes naturalistic trajectories, speed distributions, traffic density, following and lane-change behaviour.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It is NOT treated as a sensor-fault dataset. Its role is regime and generalisation validation only.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3D5A8A"/>
                </a:solidFill>
                <a:latin typeface="Segoe UI"/>
              </a:rPr>
              <a:t>Status: planned, not started.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1088136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30000" cy="960120"/>
          </a:xfrm>
          <a:prstGeom prst="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Additional dataset opportunities — only if scientifically justified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Categories under consideration: autonomous-driving datasets, localisation/sensor datasets, trajectory datasets, perception datasets, fault/diagnostic datasets, cybersecurity/attack datasets. More datasets do not automatically increase novelty — one is added only when it answers a specific unresolved question.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852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263A"/>
                </a:solidFill>
                <a:latin typeface="Segoe UI"/>
              </a:rPr>
              <a:t>Current external-validation status: none. Every result in this deck is simulation-based. Thirty seeds buys reproducibility, not external validity — the two are routinely conflated and are not the same claim.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FUTURE SECURITY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Adversarial / lying-sensor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188720" cy="237744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PLANNED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26464"/>
            <a:ext cx="9509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B0362A"/>
                </a:solidFill>
                <a:latin typeface="Segoe UI"/>
              </a:rPr>
              <a:t>Not started. ASTRA does not currently detect manipulated sensors and no such claim is made.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200400" cy="457200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Honest sensor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08483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reports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32888"/>
            <a:ext cx="3200400" cy="457200"/>
          </a:xfrm>
          <a:prstGeom prst="round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Compromised sensor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6517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reports plausible falsehood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99816"/>
            <a:ext cx="3200400" cy="457200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Honest redundant sensor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2186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reports truth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4937760" cy="457200"/>
          </a:xfrm>
          <a:prstGeom prst="roundRect">
            <a:avLst/>
          </a:prstGeom>
          <a:solidFill>
            <a:srgbClr val="5A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Sensor fusion / estimator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23160"/>
            <a:ext cx="49377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Segoe U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478024"/>
            <a:ext cx="4937760" cy="457200"/>
          </a:xfrm>
          <a:prstGeom prst="round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ASTRA stage-wise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35224"/>
            <a:ext cx="4937760" cy="54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8A99A8"/>
                </a:solidFill>
                <a:latin typeface="Segoe U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90088"/>
            <a:ext cx="4937760" cy="4572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Is the manipulation still visible?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5349240" cy="187451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30000" cy="1874519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032504"/>
            <a:ext cx="498348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The scientific question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Can ASTRA characterise whether deliberately plausible false measurements remain observable, or become hidden by sensor fusion?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A natural fault and a crafted one may occupy very different positions in the observability profile. That difference — if it exists — is the contribution.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886200"/>
            <a:ext cx="5349240" cy="187451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886200"/>
            <a:ext cx="30000" cy="1874519"/>
          </a:xfrm>
          <a:prstGeom prst="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032504"/>
            <a:ext cx="498348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Entry point already exists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redundant.offset(modality, tick)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A per-channel injection path added during the September audit. It makes one channel lie while others stay honest — which is precisely the adversarial configuration, and is the same mechanism needed to fix the position faults.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STAGES ARE GATED, NOT SEQUENTIAL BY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Gated validation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606040" cy="566928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1.  E17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746504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600200"/>
            <a:ext cx="2606040" cy="566928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2.  Fix position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1746504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00200"/>
            <a:ext cx="2606040" cy="566928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3.  Correct L6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7384" y="1746504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1976" y="1600200"/>
            <a:ext cx="2606040" cy="566928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4.  Confirm speed_stuck 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78024"/>
            <a:ext cx="2606040" cy="566928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5.  Corrected E17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24328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2478024"/>
            <a:ext cx="2606040" cy="566928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6.  H7 monitor placement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2624328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478024"/>
            <a:ext cx="2606040" cy="566928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7.  comma2k19 real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384" y="2624328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478024"/>
            <a:ext cx="2606040" cy="566928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8.  highD regime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55848"/>
            <a:ext cx="2606040" cy="566928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9.  Adversarial sensors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502152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0712" y="3355848"/>
            <a:ext cx="2606040" cy="566928"/>
          </a:xfrm>
          <a:prstGeom prst="roundRect">
            <a:avLst/>
          </a:prstGeom>
          <a:solidFill>
            <a:srgbClr val="3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10.  CARLA closed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3502152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3355848"/>
            <a:ext cx="2606040" cy="5669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11.  Integrated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3502152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1976" y="3355848"/>
            <a:ext cx="2606040" cy="5669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12.  Conference paper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33672"/>
            <a:ext cx="2606040" cy="56692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13.  Expanded journal paper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029200"/>
            <a:ext cx="1088136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029200"/>
            <a:ext cx="30000" cy="1051560"/>
          </a:xfrm>
          <a:prstGeom prst="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93792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Gating rule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B7C"/>
                </a:solidFill>
                <a:latin typeface="Segoe UI"/>
              </a:rPr>
              <a:t>A stage is not entered because it exists in the roadmap. Each must answer a specific unresolved scientific question, and the preceding stage must have produced evidence that justifies it. CARLA is deliberately last and is not presented as a source of primary evidence.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POTENTIAL VALUE — TO BE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Why would a company care?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5349240" cy="1691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0000" cy="169164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18488"/>
            <a:ext cx="4983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1  Better monitor placement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Move from intuition-based or convention-based monitor siting to evidence-based guidance: monitor where fault evidence still exists.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fewer blind spots · better diagnostic coverage · better use of compute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81328"/>
            <a:ext cx="5349240" cy="1691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81328"/>
            <a:ext cx="30000" cy="169164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618488"/>
            <a:ext cx="4983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2  Safety validation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Answer “which sensor faults become invisible after state estimation?” before deployment rather than after.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find monitor blind spots · identify failure modes · prioritise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55847"/>
            <a:ext cx="5349240" cy="1691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55847"/>
            <a:ext cx="30000" cy="169164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493007"/>
            <a:ext cx="4983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3  Sensor-fusion robustness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As GNSS, IMU, odometry, camera, LiDAR and radar are fused, ask what happens to fault evidence after fusion.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framework for reasoning about fusion-induced evidence loss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355847"/>
            <a:ext cx="5349240" cy="16916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355847"/>
            <a:ext cx="30000" cy="169164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493007"/>
            <a:ext cx="4983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4  Cybersecurity extension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If the adversarial work succeeds: which manipulations stay detectable after fusion, and which do not?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security testing · attack-surface analysis · redundancy evaluation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85232"/>
            <a:ext cx="10881360" cy="7498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285232"/>
            <a:ext cx="30000" cy="749808"/>
          </a:xfrm>
          <a:prstGeom prst="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31536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263A"/>
                </a:solidFill>
                <a:latin typeface="Segoe UI"/>
              </a:rPr>
              <a:t>All four are POTENTIAL benefits contingent on the validation programme succeeding. No cybersecurity protection is promised, and no company benefit has yet been demonstrated on company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WHAT THE OUTPUT COULD BECOME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Engineering 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A6B7C"/>
                </a:solidFill>
                <a:latin typeface="Segoe UI"/>
              </a:rPr>
              <a:t>TODAY — binary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2596896" cy="502920"/>
          </a:xfrm>
          <a:prstGeom prst="roundRect">
            <a:avLst/>
          </a:prstGeom>
          <a:solidFill>
            <a:srgbClr val="5A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Fault occurs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6976" y="1883664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8A99A8"/>
                </a:solidFill>
                <a:latin typeface="Segoe UI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1755648"/>
            <a:ext cx="2596896" cy="502920"/>
          </a:xfrm>
          <a:prstGeom prst="roundRect">
            <a:avLst/>
          </a:prstGeom>
          <a:solidFill>
            <a:srgbClr val="5A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Detector: “fault / no fault”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Limited information about where the fault became invisible.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6CA8"/>
                </a:solidFill>
                <a:latin typeface="Segoe UI"/>
              </a:rPr>
              <a:t>POTENTIAL WITH ASTRA — stage-wise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55648"/>
            <a:ext cx="2286000" cy="310896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L1  sensing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81051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B7C"/>
                </a:solidFill>
                <a:latin typeface="Segoe UI"/>
              </a:rPr>
              <a:t>visible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121408"/>
            <a:ext cx="2286000" cy="310896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L2  estimation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17627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B7C"/>
                </a:solidFill>
                <a:latin typeface="Segoe UI"/>
              </a:rPr>
              <a:t>visible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487168"/>
            <a:ext cx="2286000" cy="310896"/>
          </a:xfrm>
          <a:prstGeom prst="round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L2a 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54203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B7C"/>
                </a:solidFill>
                <a:latin typeface="Segoe UI"/>
              </a:rPr>
              <a:t>weak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852928"/>
            <a:ext cx="2286000" cy="310896"/>
          </a:xfrm>
          <a:prstGeom prst="round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L7  shield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90779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B7C"/>
                </a:solidFill>
                <a:latin typeface="Segoe UI"/>
              </a:rPr>
              <a:t>insufficient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461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2263A"/>
                </a:solidFill>
                <a:latin typeface="Segoe UI"/>
              </a:rPr>
              <a:t>→ “the architecture has a monitoring blind spot here”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63A"/>
                </a:solidFill>
                <a:latin typeface="Segoe UI"/>
              </a:rPr>
              <a:t>Possible future output format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41648"/>
            <a:ext cx="10881360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fault  →  stage where evidence weakens  →  recommended monitor location  → 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263A"/>
                </a:solidFill>
                <a:latin typeface="Segoe UI"/>
              </a:rPr>
              <a:t>What we could offer a collaborating company — potential directions, not existing partnerships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5349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validation on company-specific sensor architectures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safety-monitor evaluation and blind-spot analysis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sensor-fusion robustness and fault-injection scenarios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074920"/>
            <a:ext cx="5349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adversarial sensor testing (once validated)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CARLA / digital-twin closed-loop validation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benchmarking and joint publication or technical report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QUALITATIVE, NOT PROBABILISTIC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Credibility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81328"/>
          <a:ext cx="1088136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566160"/>
              </a:tblGrid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Current status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After the roadmap</a:t>
                      </a:r>
                    </a:p>
                  </a:txBody>
                  <a:tcPr marL="73152" marR="73152" marT="27432" marB="27432" anchor="ctr">
                    <a:solidFill>
                      <a:srgbClr val="12263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Experimental integrity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Strong — independently audited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Strong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Controlled validation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Developing — E17, 4 valid faults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Strong — E17 expanded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Statistical confidence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Developing — n=30 seeds, CIs reported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Strong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Real-world validity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Low — none yet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Promising — comma2k19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Regime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Low — none yet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Promising — highD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Monitor-placement evidence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Low — H7 not run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Promising — H7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Adversarial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Low — not started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Developing — planned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Closed-loop validation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Low — not started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Promising — CARLA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Industry relevance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Developing — potential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Promising after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Conference readiness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Developing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Potentially strong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Journal (Q2) readiness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Potentially strong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Journal (Q1) readiness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2263A"/>
                          </a:solidFill>
                          <a:latin typeface="Segoe UI"/>
                        </a:rPr>
                        <a:t>Depends on final evidence</a:t>
                      </a:r>
                    </a:p>
                  </a:txBody>
                  <a:tcPr marL="73152" marR="73152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Segoe UI"/>
              </a:rPr>
              <a:t>Labels are qualitative by design: Low · Developing · Promising · Strong · Submission-ready. No acceptance probability is quoted, because none can be responsibly estimated.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THREE TIERS, EACH WITH EXPLICIT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Publication pathway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3520440" cy="41605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520440" cy="45720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910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IEEE Conference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3200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corrected E17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reproducibility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statistically defensible results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clear novelty positioning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H7 evidence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meaningful external validation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clearly stated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Strong conference potential IF the remaining validation confirms the central hypothesis.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81328"/>
            <a:ext cx="3520440" cy="41605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81328"/>
            <a:ext cx="3520440" cy="457200"/>
          </a:xfrm>
          <a:prstGeom prst="rect">
            <a:avLst/>
          </a:prstGeom>
          <a:solidFill>
            <a:srgbClr val="A97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910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Q2 Journal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1"/>
            <a:ext cx="3200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everything above, plus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real-world validation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strong ablations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full statistical analysis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reproducibility package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clear engineering implications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89204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A rigorous empirical paper could form a strong Q2 submission.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81328"/>
            <a:ext cx="3520440" cy="41605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81328"/>
            <a:ext cx="3520440" cy="4572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910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Q1 Journal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84831"/>
            <a:ext cx="3200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novel phenomenon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statistical reproducibility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independent real-world validation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mechanistic explanation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monitor-placement consequence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adversarial extension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closed-loop CARLA validation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▪  strong baselines + ablations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9204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2263A"/>
                </a:solidFill>
                <a:latin typeface="Segoe UI"/>
              </a:rPr>
              <a:t>Q1 requires substantially stronger evidence than exists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97296"/>
            <a:ext cx="10881360" cy="457200"/>
          </a:xfrm>
          <a:prstGeom prst="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8873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No acceptance probability can be guaranteed. The objective is to make the scientific contribution strong enough for a credible submission.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6CA8"/>
                </a:solidFill>
                <a:latin typeface="Segoe UI"/>
              </a:rPr>
              <a:t>WHAT WE SAY, AND WHAT WE REFUSE TO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63A"/>
                </a:solidFill>
                <a:latin typeface="Segoe UI"/>
              </a:rPr>
              <a:t>Claims discipline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371600" cy="2095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463040" cy="237744"/>
          </a:xfrm>
          <a:prstGeom prst="round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10512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What we can officially claim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3492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✓  POSITION_Y is inert under ADR-0033 — causally demonstrated (Control C)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✓  9/9 layers domain-mapped; 3/3 Core-B gates verdict every tick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✓  Current L6 calibration prevents firing under the tested condition (OD-8)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✓  speed_stuck: stable well-posed 30/30 absorption at L2a under P1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✓  Fault observability is heterogeneous across the valid faults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✓  The H-regime claim was withdrawn (Simpson's paradox)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✓  Invalid records are retained and flagged, not deleted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✓  Delivered-signal integrity verification is now required before acceptance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5A6B7C"/>
                </a:solidFill>
                <a:latin typeface="Segoe UI"/>
              </a:rPr>
              <a:t>✓  Corrected position faults are NOT absorbed at L2a — 0 of 12 cells, n=30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1737360" cy="237744"/>
          </a:xfrm>
          <a:prstGeom prst="roundRect">
            <a:avLst/>
          </a:prstGeom>
          <a:solidFill>
            <a:srgbClr val="B03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MUST NOT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263A"/>
                </a:solidFill>
                <a:latin typeface="Segoe UI"/>
              </a:rPr>
              <a:t>What we refuse to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148840"/>
            <a:ext cx="53492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B0362A"/>
                </a:solidFill>
                <a:latin typeface="Segoe UI"/>
              </a:rPr>
              <a:t>✕  universal fault absorption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B0362A"/>
                </a:solidFill>
                <a:latin typeface="Segoe UI"/>
              </a:rPr>
              <a:t>✕  that position faults are currently absorbed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B0362A"/>
                </a:solidFill>
                <a:latin typeface="Segoe UI"/>
              </a:rPr>
              <a:t>✕  that all faults have validated absorption points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B0362A"/>
                </a:solidFill>
                <a:latin typeface="Segoe UI"/>
              </a:rPr>
              <a:t>✕  that D = 0.5 means “50 % accuracy”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B0362A"/>
                </a:solidFill>
                <a:latin typeface="Segoe UI"/>
              </a:rPr>
              <a:t>✕  that high D means an operational gate fired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B0362A"/>
                </a:solidFill>
                <a:latin typeface="Segoe UI"/>
              </a:rPr>
              <a:t>✕  that ASTRA already detects hacked sensors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B0362A"/>
                </a:solidFill>
                <a:latin typeface="Segoe UI"/>
              </a:rPr>
              <a:t>✕  that ASTRA is proven Q1-worthy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B0362A"/>
                </a:solidFill>
                <a:latin typeface="Segoe UI"/>
              </a:rPr>
              <a:t>✕  guaranteed conference or journal acceptance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B0362A"/>
                </a:solidFill>
                <a:latin typeface="Segoe UI"/>
              </a:rPr>
              <a:t>✕  that more datasets automatically create novelty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EA8C9"/>
                </a:solidFill>
                <a:latin typeface="Segoe UI"/>
              </a:rPr>
              <a:t>WHY WE SHOULD CONTINUE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70432"/>
            <a:ext cx="1554480" cy="3000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3383280" cy="438912"/>
          </a:xfrm>
          <a:prstGeom prst="roundRect">
            <a:avLst/>
          </a:prstGeom>
          <a:solidFill>
            <a:srgbClr val="1D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FDCE8"/>
                </a:solidFill>
                <a:latin typeface="Segoe UI"/>
              </a:rPr>
              <a:t>1.  Controlled science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72768"/>
            <a:ext cx="3383280" cy="438912"/>
          </a:xfrm>
          <a:prstGeom prst="roundRect">
            <a:avLst/>
          </a:prstGeom>
          <a:solidFill>
            <a:srgbClr val="1D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FDCE8"/>
                </a:solidFill>
                <a:latin typeface="Segoe UI"/>
              </a:rPr>
              <a:t>2.  Fault observability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72768"/>
            <a:ext cx="3383280" cy="438912"/>
          </a:xfrm>
          <a:prstGeom prst="roundRect">
            <a:avLst/>
          </a:prstGeom>
          <a:solidFill>
            <a:srgbClr val="1D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FDCE8"/>
                </a:solidFill>
                <a:latin typeface="Segoe UI"/>
              </a:rPr>
              <a:t>3.  Estimator interaction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39696"/>
            <a:ext cx="3383280" cy="438912"/>
          </a:xfrm>
          <a:prstGeom prst="roundRect">
            <a:avLst/>
          </a:prstGeom>
          <a:solidFill>
            <a:srgbClr val="1D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FDCE8"/>
                </a:solidFill>
                <a:latin typeface="Segoe UI"/>
              </a:rPr>
              <a:t>4.  Monitor placement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39696"/>
            <a:ext cx="3383280" cy="438912"/>
          </a:xfrm>
          <a:prstGeom prst="roundRect">
            <a:avLst/>
          </a:prstGeom>
          <a:solidFill>
            <a:srgbClr val="1D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FDCE8"/>
                </a:solidFill>
                <a:latin typeface="Segoe UI"/>
              </a:rPr>
              <a:t>5.  Real-world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39696"/>
            <a:ext cx="3383280" cy="438912"/>
          </a:xfrm>
          <a:prstGeom prst="roundRect">
            <a:avLst/>
          </a:prstGeom>
          <a:solidFill>
            <a:srgbClr val="1D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FDCE8"/>
                </a:solidFill>
                <a:latin typeface="Segoe UI"/>
              </a:rPr>
              <a:t>6.  Traffic-regime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06624"/>
            <a:ext cx="3383280" cy="438912"/>
          </a:xfrm>
          <a:prstGeom prst="roundRect">
            <a:avLst/>
          </a:prstGeom>
          <a:solidFill>
            <a:srgbClr val="1D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FDCE8"/>
                </a:solidFill>
                <a:latin typeface="Segoe UI"/>
              </a:rPr>
              <a:t>7.  Adversarial sensors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706624"/>
            <a:ext cx="3383280" cy="438912"/>
          </a:xfrm>
          <a:prstGeom prst="roundRect">
            <a:avLst/>
          </a:prstGeom>
          <a:solidFill>
            <a:srgbClr val="1D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FDCE8"/>
                </a:solidFill>
                <a:latin typeface="Segoe UI"/>
              </a:rPr>
              <a:t>8.  Closed-loop safety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06624"/>
            <a:ext cx="3383280" cy="438912"/>
          </a:xfrm>
          <a:prstGeom prst="roundRect">
            <a:avLst/>
          </a:prstGeom>
          <a:solidFill>
            <a:srgbClr val="1D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FDCE8"/>
                </a:solidFill>
                <a:latin typeface="Segoe UI"/>
              </a:rPr>
              <a:t>9.  Industry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The current E17 result is not the final product. It is the controlled foundation for testing a broader hypothesis across increasingly realistic environments.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2D3E2"/>
                </a:solidFill>
                <a:latin typeface="Segoe UI"/>
              </a:rPr>
              <a:t>ASTRA already has a technically audited foundation and a scientifically interesting initial finding. The remaining work is not random feature development: it is a gated validation programme that can determine whether the finding generalises to real data, adversarial conditions and closed-loop autonomous driving — and whether it can become both an industry-relevant engineering capability and a strong academic contribution.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8DA5BC"/>
                </a:solidFill>
                <a:latin typeface="Segoe UI"/>
              </a:rPr>
              <a:t>The goal is not to expand the project artificially. It is to determine whether the observed phenomenon is real, reproducible, generalisable and practically useful.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