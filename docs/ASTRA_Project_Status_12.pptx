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295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863840" y="0"/>
            <a:ext cx="4327855" cy="6858000"/>
          </a:xfrm>
          <a:prstGeom prst="rect">
            <a:avLst/>
          </a:prstGeom>
          <a:solidFill>
            <a:srgbClr val="1A21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66760" y="1417320"/>
            <a:ext cx="3383280" cy="1234440"/>
          </a:xfrm>
          <a:prstGeom prst="rect">
            <a:avLst/>
          </a:prstGeom>
          <a:noFill/>
        </p:spPr>
        <p:txBody>
          <a:bodyPr wrap="square" anchor="t" lIns="0" rIns="0" tIns="0" bIns="0">
            <a:spAutoFit/>
          </a:bodyPr>
          <a:lstStyle/>
          <a:p>
            <a:pPr algn="l">
              <a:spcAft>
                <a:spcPts val="200"/>
              </a:spcAft>
            </a:pPr>
            <a:r>
              <a:rPr sz="3300" b="1" i="0">
                <a:solidFill>
                  <a:srgbClr val="6EC8E8"/>
                </a:solidFill>
                <a:latin typeface="Cambria"/>
              </a:rPr>
              <a:t>6</a:t>
            </a:r>
          </a:p>
          <a:p>
            <a:pPr algn="l">
              <a:spcAft>
                <a:spcPts val="0"/>
              </a:spcAft>
            </a:pPr>
            <a:r>
              <a:rPr sz="1050" b="0" i="0">
                <a:solidFill>
                  <a:srgbClr val="A8C0D4"/>
                </a:solidFill>
                <a:latin typeface="Calibri"/>
              </a:rPr>
              <a:t>experiment</a:t>
            </a:r>
          </a:p>
          <a:p>
            <a:pPr algn="l">
              <a:spcAft>
                <a:spcPts val="0"/>
              </a:spcAft>
            </a:pPr>
            <a:r>
              <a:rPr sz="1050" b="0" i="0">
                <a:solidFill>
                  <a:srgbClr val="A8C0D4"/>
                </a:solidFill>
                <a:latin typeface="Calibri"/>
              </a:rPr>
              <a:t>phases run</a:t>
            </a:r>
          </a:p>
        </p:txBody>
      </p:sp>
      <p:sp>
        <p:nvSpPr>
          <p:cNvPr id="5" name="TextBox 4"/>
          <p:cNvSpPr txBox="1"/>
          <p:nvPr/>
        </p:nvSpPr>
        <p:spPr>
          <a:xfrm>
            <a:off x="8366760" y="2898648"/>
            <a:ext cx="3383280" cy="1234440"/>
          </a:xfrm>
          <a:prstGeom prst="rect">
            <a:avLst/>
          </a:prstGeom>
          <a:noFill/>
        </p:spPr>
        <p:txBody>
          <a:bodyPr wrap="square" anchor="t" lIns="0" rIns="0" tIns="0" bIns="0">
            <a:spAutoFit/>
          </a:bodyPr>
          <a:lstStyle/>
          <a:p>
            <a:pPr algn="l">
              <a:spcAft>
                <a:spcPts val="200"/>
              </a:spcAft>
            </a:pPr>
            <a:r>
              <a:rPr sz="3300" b="1" i="0">
                <a:solidFill>
                  <a:srgbClr val="6EC8E8"/>
                </a:solidFill>
                <a:latin typeface="Cambria"/>
              </a:rPr>
              <a:t>4,290</a:t>
            </a:r>
          </a:p>
          <a:p>
            <a:pPr algn="l">
              <a:spcAft>
                <a:spcPts val="0"/>
              </a:spcAft>
            </a:pPr>
            <a:r>
              <a:rPr sz="1050" b="0" i="0">
                <a:solidFill>
                  <a:srgbClr val="A8C0D4"/>
                </a:solidFill>
                <a:latin typeface="Calibri"/>
              </a:rPr>
              <a:t>closed-loop</a:t>
            </a:r>
          </a:p>
          <a:p>
            <a:pPr algn="l">
              <a:spcAft>
                <a:spcPts val="0"/>
              </a:spcAft>
            </a:pPr>
            <a:r>
              <a:rPr sz="1050" b="0" i="0">
                <a:solidFill>
                  <a:srgbClr val="A8C0D4"/>
                </a:solidFill>
                <a:latin typeface="Calibri"/>
              </a:rPr>
              <a:t>runs executed</a:t>
            </a:r>
          </a:p>
        </p:txBody>
      </p:sp>
      <p:sp>
        <p:nvSpPr>
          <p:cNvPr id="6" name="TextBox 5"/>
          <p:cNvSpPr txBox="1"/>
          <p:nvPr/>
        </p:nvSpPr>
        <p:spPr>
          <a:xfrm>
            <a:off x="8366760" y="4379976"/>
            <a:ext cx="3383280" cy="1234440"/>
          </a:xfrm>
          <a:prstGeom prst="rect">
            <a:avLst/>
          </a:prstGeom>
          <a:noFill/>
        </p:spPr>
        <p:txBody>
          <a:bodyPr wrap="square" anchor="t" lIns="0" rIns="0" tIns="0" bIns="0">
            <a:spAutoFit/>
          </a:bodyPr>
          <a:lstStyle/>
          <a:p>
            <a:pPr algn="l">
              <a:spcAft>
                <a:spcPts val="200"/>
              </a:spcAft>
            </a:pPr>
            <a:r>
              <a:rPr sz="3300" b="1" i="0">
                <a:solidFill>
                  <a:srgbClr val="6EC8E8"/>
                </a:solidFill>
                <a:latin typeface="Cambria"/>
              </a:rPr>
              <a:t>6</a:t>
            </a:r>
          </a:p>
          <a:p>
            <a:pPr algn="l">
              <a:spcAft>
                <a:spcPts val="0"/>
              </a:spcAft>
            </a:pPr>
            <a:r>
              <a:rPr sz="1050" b="0" i="0">
                <a:solidFill>
                  <a:srgbClr val="A8C0D4"/>
                </a:solidFill>
                <a:latin typeface="Calibri"/>
              </a:rPr>
              <a:t>measurement defects</a:t>
            </a:r>
          </a:p>
          <a:p>
            <a:pPr algn="l">
              <a:spcAft>
                <a:spcPts val="0"/>
              </a:spcAft>
            </a:pPr>
            <a:r>
              <a:rPr sz="1050" b="0" i="0">
                <a:solidFill>
                  <a:srgbClr val="A8C0D4"/>
                </a:solidFill>
                <a:latin typeface="Calibri"/>
              </a:rPr>
              <a:t>found, 5 self-caught</a:t>
            </a:r>
          </a:p>
        </p:txBody>
      </p:sp>
      <p:sp>
        <p:nvSpPr>
          <p:cNvPr id="7" name="TextBox 6"/>
          <p:cNvSpPr txBox="1"/>
          <p:nvPr/>
        </p:nvSpPr>
        <p:spPr>
          <a:xfrm>
            <a:off x="777240" y="1371600"/>
            <a:ext cx="6766560" cy="274320"/>
          </a:xfrm>
          <a:prstGeom prst="rect">
            <a:avLst/>
          </a:prstGeom>
          <a:noFill/>
        </p:spPr>
        <p:txBody>
          <a:bodyPr wrap="square" anchor="t" lIns="0" rIns="0" tIns="0" bIns="0">
            <a:spAutoFit/>
          </a:bodyPr>
          <a:lstStyle/>
          <a:p>
            <a:pPr algn="l">
              <a:spcAft>
                <a:spcPts val="0"/>
              </a:spcAft>
            </a:pPr>
            <a:r>
              <a:rPr sz="1150" b="1" i="0">
                <a:solidFill>
                  <a:srgbClr val="6EC8E8"/>
                </a:solidFill>
                <a:latin typeface="Calibri"/>
              </a:rPr>
              <a:t>RESEARCH STATUS BRIEFING</a:t>
            </a:r>
          </a:p>
        </p:txBody>
      </p:sp>
      <p:sp>
        <p:nvSpPr>
          <p:cNvPr id="8" name="TextBox 7"/>
          <p:cNvSpPr txBox="1"/>
          <p:nvPr/>
        </p:nvSpPr>
        <p:spPr>
          <a:xfrm>
            <a:off x="777240" y="1874519"/>
            <a:ext cx="6766560" cy="2743200"/>
          </a:xfrm>
          <a:prstGeom prst="rect">
            <a:avLst/>
          </a:prstGeom>
          <a:noFill/>
        </p:spPr>
        <p:txBody>
          <a:bodyPr wrap="square" anchor="t" lIns="0" rIns="0" tIns="0" bIns="0">
            <a:spAutoFit/>
          </a:bodyPr>
          <a:lstStyle/>
          <a:p>
            <a:pPr algn="l">
              <a:spcAft>
                <a:spcPts val="400"/>
              </a:spcAft>
            </a:pPr>
            <a:r>
              <a:rPr sz="5400" b="1" i="0">
                <a:solidFill>
                  <a:srgbClr val="FFFFFF"/>
                </a:solidFill>
                <a:latin typeface="Cambria"/>
              </a:rPr>
              <a:t>ASTRA</a:t>
            </a:r>
          </a:p>
          <a:p>
            <a:pPr algn="l">
              <a:spcAft>
                <a:spcPts val="200"/>
              </a:spcAft>
            </a:pPr>
            <a:r>
              <a:rPr sz="2100" b="0" i="0">
                <a:solidFill>
                  <a:srgbClr val="D6E3EE"/>
                </a:solidFill>
                <a:latin typeface="Cambria"/>
              </a:rPr>
              <a:t>Fault Observability and Operational</a:t>
            </a:r>
          </a:p>
          <a:p>
            <a:pPr algn="l">
              <a:spcAft>
                <a:spcPts val="1400"/>
              </a:spcAft>
            </a:pPr>
            <a:r>
              <a:rPr sz="2100" b="0" i="0">
                <a:solidFill>
                  <a:srgbClr val="D6E3EE"/>
                </a:solidFill>
                <a:latin typeface="Cambria"/>
              </a:rPr>
              <a:t>Monitoring in a Layered Governance Stack</a:t>
            </a:r>
          </a:p>
          <a:p>
            <a:pPr algn="l">
              <a:spcAft>
                <a:spcPts val="0"/>
              </a:spcAft>
            </a:pPr>
            <a:r>
              <a:rPr sz="1300" b="0" i="0">
                <a:solidFill>
                  <a:srgbClr val="9FB8CC"/>
                </a:solidFill>
                <a:latin typeface="Calibri"/>
              </a:rPr>
              <a:t>Where does sensor-fault evidence stop being usable — and can that be turned into a working monitor?</a:t>
            </a:r>
          </a:p>
        </p:txBody>
      </p:sp>
      <p:sp>
        <p:nvSpPr>
          <p:cNvPr id="9" name="TextBox 8"/>
          <p:cNvSpPr txBox="1"/>
          <p:nvPr/>
        </p:nvSpPr>
        <p:spPr>
          <a:xfrm>
            <a:off x="777240" y="5806440"/>
            <a:ext cx="6766560" cy="640080"/>
          </a:xfrm>
          <a:prstGeom prst="rect">
            <a:avLst/>
          </a:prstGeom>
          <a:noFill/>
        </p:spPr>
        <p:txBody>
          <a:bodyPr wrap="square" anchor="t" lIns="0" rIns="0" tIns="0" bIns="0">
            <a:spAutoFit/>
          </a:bodyPr>
          <a:lstStyle/>
          <a:p>
            <a:pPr algn="l">
              <a:spcAft>
                <a:spcPts val="0"/>
              </a:spcAft>
            </a:pPr>
            <a:r>
              <a:rPr sz="1050" b="0" i="0">
                <a:solidFill>
                  <a:srgbClr val="829CB4"/>
                </a:solidFill>
                <a:latin typeface="Calibri"/>
              </a:rPr>
              <a:t>Sushanth C.  ·  Tarun Gowda V  ·  T Tilak Reddy
Guide: Dr. Chaitra R.  ·  BMS College of Engineering  ·  1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10881360" cy="237744"/>
          </a:xfrm>
          <a:prstGeom prst="rect">
            <a:avLst/>
          </a:prstGeom>
          <a:noFill/>
        </p:spPr>
        <p:txBody>
          <a:bodyPr wrap="square" anchor="t" lIns="0" rIns="0" tIns="0" bIns="0">
            <a:spAutoFit/>
          </a:bodyPr>
          <a:lstStyle/>
          <a:p>
            <a:pPr algn="l">
              <a:spcAft>
                <a:spcPts val="0"/>
              </a:spcAft>
            </a:pPr>
            <a:r>
              <a:rPr sz="1000" b="1" i="0">
                <a:solidFill>
                  <a:srgbClr val="1C7293"/>
                </a:solidFill>
                <a:latin typeface="Calibri"/>
              </a:rPr>
              <a:t>INTRODUCTION</a:t>
            </a:r>
          </a:p>
        </p:txBody>
      </p:sp>
      <p:sp>
        <p:nvSpPr>
          <p:cNvPr id="3" name="TextBox 2"/>
          <p:cNvSpPr txBox="1"/>
          <p:nvPr/>
        </p:nvSpPr>
        <p:spPr>
          <a:xfrm>
            <a:off x="640080" y="603504"/>
            <a:ext cx="10881360" cy="566928"/>
          </a:xfrm>
          <a:prstGeom prst="rect">
            <a:avLst/>
          </a:prstGeom>
          <a:noFill/>
        </p:spPr>
        <p:txBody>
          <a:bodyPr wrap="square" anchor="t" lIns="0" rIns="0" tIns="0" bIns="0">
            <a:spAutoFit/>
          </a:bodyPr>
          <a:lstStyle/>
          <a:p>
            <a:pPr algn="l">
              <a:spcAft>
                <a:spcPts val="0"/>
              </a:spcAft>
            </a:pPr>
            <a:r>
              <a:rPr sz="3200" b="1" i="0">
                <a:solidFill>
                  <a:srgbClr val="1A2233"/>
                </a:solidFill>
                <a:latin typeface="Cambria"/>
              </a:rPr>
              <a:t>The problem we are working on</a:t>
            </a:r>
          </a:p>
        </p:txBody>
      </p:sp>
      <p:sp>
        <p:nvSpPr>
          <p:cNvPr id="4" name="TextBox 3"/>
          <p:cNvSpPr txBox="1"/>
          <p:nvPr/>
        </p:nvSpPr>
        <p:spPr>
          <a:xfrm>
            <a:off x="640080" y="1389888"/>
            <a:ext cx="5486400" cy="4206240"/>
          </a:xfrm>
          <a:prstGeom prst="rect">
            <a:avLst/>
          </a:prstGeom>
          <a:noFill/>
        </p:spPr>
        <p:txBody>
          <a:bodyPr wrap="square" anchor="t" lIns="0" rIns="0" tIns="0" bIns="0">
            <a:spAutoFit/>
          </a:bodyPr>
          <a:lstStyle/>
          <a:p>
            <a:pPr algn="l">
              <a:spcAft>
                <a:spcPts val="900"/>
              </a:spcAft>
            </a:pPr>
            <a:r>
              <a:rPr sz="1500" b="1" i="0">
                <a:solidFill>
                  <a:srgbClr val="1A2233"/>
                </a:solidFill>
                <a:latin typeface="Cambria"/>
              </a:rPr>
              <a:t>A sensor fault does not stay a sensor fault.</a:t>
            </a:r>
          </a:p>
          <a:p>
            <a:pPr algn="l">
              <a:spcAft>
                <a:spcPts val="1000"/>
              </a:spcAft>
            </a:pPr>
            <a:r>
              <a:rPr sz="1200" b="0" i="0">
                <a:solidFill>
                  <a:srgbClr val="455566"/>
                </a:solidFill>
                <a:latin typeface="Calibri"/>
              </a:rPr>
              <a:t>It passes through estimation, fusion, trust scoring and a stack of safety monitors. Each stage transforms it. Somewhere along that path the evidence that anything is wrong can become too weak for a downstream monitor to act on.</a:t>
            </a:r>
          </a:p>
          <a:p>
            <a:pPr algn="l">
              <a:spcAft>
                <a:spcPts val="1000"/>
              </a:spcAft>
            </a:pPr>
            <a:r>
              <a:rPr sz="1200" b="0" i="0">
                <a:solidFill>
                  <a:srgbClr val="455566"/>
                </a:solidFill>
                <a:latin typeface="Calibri"/>
              </a:rPr>
              <a:t>Conventional fault detection answers a binary question — “fault or no fault?” It does not tell an engineer WHERE in their own architecture the evidence stopped being usable, which is exactly what decides where a monitor should sit.</a:t>
            </a:r>
          </a:p>
          <a:p>
            <a:pPr algn="l">
              <a:spcAft>
                <a:spcPts val="0"/>
              </a:spcAft>
            </a:pPr>
            <a:r>
              <a:rPr sz="1200" b="1" i="0">
                <a:solidFill>
                  <a:srgbClr val="1A2233"/>
                </a:solidFill>
                <a:latin typeface="Calibri"/>
              </a:rPr>
              <a:t>ASTRA is a 9-layer runtime governance stack for a learned controller, instrumented so that fault evidence can be measured at every stage.</a:t>
            </a:r>
          </a:p>
        </p:txBody>
      </p:sp>
      <p:sp>
        <p:nvSpPr>
          <p:cNvPr id="5" name="Rectangle 4"/>
          <p:cNvSpPr/>
          <p:nvPr/>
        </p:nvSpPr>
        <p:spPr>
          <a:xfrm>
            <a:off x="6446520" y="1389888"/>
            <a:ext cx="5074920" cy="1874519"/>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47688" y="1536192"/>
            <a:ext cx="4672584" cy="1600199"/>
          </a:xfrm>
          <a:prstGeom prst="rect">
            <a:avLst/>
          </a:prstGeom>
          <a:noFill/>
        </p:spPr>
        <p:txBody>
          <a:bodyPr wrap="square" anchor="t" lIns="0" rIns="0" tIns="0" bIns="0">
            <a:spAutoFit/>
          </a:bodyPr>
          <a:lstStyle/>
          <a:p>
            <a:pPr algn="l">
              <a:spcAft>
                <a:spcPts val="700"/>
              </a:spcAft>
            </a:pPr>
            <a:r>
              <a:rPr sz="1250" b="1" i="0">
                <a:solidFill>
                  <a:srgbClr val="065A82"/>
                </a:solidFill>
                <a:latin typeface="Cambria"/>
              </a:rPr>
              <a:t>The primary question</a:t>
            </a:r>
          </a:p>
          <a:p>
            <a:pPr algn="l">
              <a:spcAft>
                <a:spcPts val="500"/>
              </a:spcAft>
            </a:pPr>
            <a:r>
              <a:rPr sz="1050" b="1" i="0">
                <a:solidFill>
                  <a:srgbClr val="1A2233"/>
                </a:solidFill>
                <a:latin typeface="Calibri"/>
              </a:rPr>
              <a:t>When a sensor becomes faulty, where in the pipeline does the fault stop being distinguishable from healthy behaviour?</a:t>
            </a:r>
          </a:p>
        </p:txBody>
      </p:sp>
      <p:sp>
        <p:nvSpPr>
          <p:cNvPr id="7" name="Rectangle 6"/>
          <p:cNvSpPr/>
          <p:nvPr/>
        </p:nvSpPr>
        <p:spPr>
          <a:xfrm>
            <a:off x="6446520" y="3447288"/>
            <a:ext cx="5074920" cy="1170432"/>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3593592"/>
            <a:ext cx="4672584" cy="896112"/>
          </a:xfrm>
          <a:prstGeom prst="rect">
            <a:avLst/>
          </a:prstGeom>
          <a:noFill/>
        </p:spPr>
        <p:txBody>
          <a:bodyPr wrap="square" anchor="t" lIns="0" rIns="0" tIns="0" bIns="0">
            <a:spAutoFit/>
          </a:bodyPr>
          <a:lstStyle/>
          <a:p>
            <a:pPr algn="l">
              <a:spcAft>
                <a:spcPts val="700"/>
              </a:spcAft>
            </a:pPr>
            <a:r>
              <a:rPr sz="1250" b="1" i="0">
                <a:solidFill>
                  <a:srgbClr val="1C7293"/>
                </a:solidFill>
                <a:latin typeface="Cambria"/>
              </a:rPr>
              <a:t>Secondary question</a:t>
            </a:r>
          </a:p>
          <a:p>
            <a:pPr algn="l">
              <a:spcAft>
                <a:spcPts val="500"/>
              </a:spcAft>
            </a:pPr>
            <a:r>
              <a:rPr sz="1050" b="1" i="0">
                <a:solidFill>
                  <a:srgbClr val="1A2233"/>
                </a:solidFill>
                <a:latin typeface="Calibri"/>
              </a:rPr>
              <a:t>Can that information decide where monitoring should occur?</a:t>
            </a:r>
          </a:p>
        </p:txBody>
      </p:sp>
      <p:sp>
        <p:nvSpPr>
          <p:cNvPr id="9" name="Rectangle 8"/>
          <p:cNvSpPr/>
          <p:nvPr/>
        </p:nvSpPr>
        <p:spPr>
          <a:xfrm>
            <a:off x="6446520" y="4800600"/>
            <a:ext cx="5074920" cy="1170432"/>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47688" y="4946904"/>
            <a:ext cx="4672584" cy="896112"/>
          </a:xfrm>
          <a:prstGeom prst="rect">
            <a:avLst/>
          </a:prstGeom>
          <a:noFill/>
        </p:spPr>
        <p:txBody>
          <a:bodyPr wrap="square" anchor="t" lIns="0" rIns="0" tIns="0" bIns="0">
            <a:spAutoFit/>
          </a:bodyPr>
          <a:lstStyle/>
          <a:p>
            <a:pPr algn="l">
              <a:spcAft>
                <a:spcPts val="700"/>
              </a:spcAft>
            </a:pPr>
            <a:r>
              <a:rPr sz="1250" b="1" i="0">
                <a:solidFill>
                  <a:srgbClr val="6B7280"/>
                </a:solidFill>
                <a:latin typeface="Cambria"/>
              </a:rPr>
              <a:t>Future security question</a:t>
            </a:r>
          </a:p>
          <a:p>
            <a:pPr algn="l">
              <a:spcAft>
                <a:spcPts val="500"/>
              </a:spcAft>
            </a:pPr>
            <a:r>
              <a:rPr sz="1050" b="1" i="0">
                <a:solidFill>
                  <a:srgbClr val="6B7280"/>
                </a:solidFill>
                <a:latin typeface="Calibri"/>
              </a:rPr>
              <a:t>Does a deliberately manipulated sensor behave differently from a naturally faulty one?</a:t>
            </a:r>
          </a:p>
        </p:txBody>
      </p:sp>
      <p:sp>
        <p:nvSpPr>
          <p:cNvPr id="11" name="Rounded Rectangle 10"/>
          <p:cNvSpPr/>
          <p:nvPr/>
        </p:nvSpPr>
        <p:spPr>
          <a:xfrm>
            <a:off x="10561320" y="4864608"/>
            <a:ext cx="950975" cy="228600"/>
          </a:xfrm>
          <a:prstGeom prst="round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NOT TESTED</a:t>
            </a:r>
          </a:p>
        </p:txBody>
      </p:sp>
      <p:sp>
        <p:nvSpPr>
          <p:cNvPr id="12" name="TextBox 11"/>
          <p:cNvSpPr txBox="1"/>
          <p:nvPr/>
        </p:nvSpPr>
        <p:spPr>
          <a:xfrm>
            <a:off x="640080" y="6364224"/>
            <a:ext cx="10881360" cy="274320"/>
          </a:xfrm>
          <a:prstGeom prst="rect">
            <a:avLst/>
          </a:prstGeom>
          <a:noFill/>
        </p:spPr>
        <p:txBody>
          <a:bodyPr wrap="square" anchor="t" lIns="0" rIns="0" tIns="0" bIns="0">
            <a:spAutoFit/>
          </a:bodyPr>
          <a:lstStyle/>
          <a:p>
            <a:pPr algn="l">
              <a:spcAft>
                <a:spcPts val="0"/>
              </a:spcAft>
            </a:pPr>
            <a:r>
              <a:rPr sz="850" b="0" i="1">
                <a:solidFill>
                  <a:srgbClr val="8A99A8"/>
                </a:solidFill>
                <a:latin typeface="Calibri"/>
              </a:rPr>
              <a:t>Nine layers: L1 sensing · L2 dual-rate UKF · L3 trust · L4 learned proposer (Core-A) · L5 PINN twin · L6 conformal gate · L7 shield · L8 fail-safe · L9 arbitration.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10881360" cy="237744"/>
          </a:xfrm>
          <a:prstGeom prst="rect">
            <a:avLst/>
          </a:prstGeom>
          <a:noFill/>
        </p:spPr>
        <p:txBody>
          <a:bodyPr wrap="square" anchor="t" lIns="0" rIns="0" tIns="0" bIns="0">
            <a:spAutoFit/>
          </a:bodyPr>
          <a:lstStyle/>
          <a:p>
            <a:pPr algn="l">
              <a:spcAft>
                <a:spcPts val="0"/>
              </a:spcAft>
            </a:pPr>
            <a:r>
              <a:rPr sz="1000" b="1" i="0">
                <a:solidFill>
                  <a:srgbClr val="1C7293"/>
                </a:solidFill>
                <a:latin typeface="Calibri"/>
              </a:rPr>
              <a:t>METHODOLOGY</a:t>
            </a:r>
          </a:p>
        </p:txBody>
      </p:sp>
      <p:sp>
        <p:nvSpPr>
          <p:cNvPr id="3" name="TextBox 2"/>
          <p:cNvSpPr txBox="1"/>
          <p:nvPr/>
        </p:nvSpPr>
        <p:spPr>
          <a:xfrm>
            <a:off x="640080" y="603504"/>
            <a:ext cx="10881360" cy="566928"/>
          </a:xfrm>
          <a:prstGeom prst="rect">
            <a:avLst/>
          </a:prstGeom>
          <a:noFill/>
        </p:spPr>
        <p:txBody>
          <a:bodyPr wrap="square" anchor="t" lIns="0" rIns="0" tIns="0" bIns="0">
            <a:spAutoFit/>
          </a:bodyPr>
          <a:lstStyle/>
          <a:p>
            <a:pPr algn="l">
              <a:spcAft>
                <a:spcPts val="0"/>
              </a:spcAft>
            </a:pPr>
            <a:r>
              <a:rPr sz="3200" b="1" i="0">
                <a:solidFill>
                  <a:srgbClr val="1A2233"/>
                </a:solidFill>
                <a:latin typeface="Cambria"/>
              </a:rPr>
              <a:t>How we measure</a:t>
            </a:r>
          </a:p>
        </p:txBody>
      </p:sp>
      <p:sp>
        <p:nvSpPr>
          <p:cNvPr id="4" name="TextBox 3"/>
          <p:cNvSpPr txBox="1"/>
          <p:nvPr/>
        </p:nvSpPr>
        <p:spPr>
          <a:xfrm>
            <a:off x="640080" y="1371600"/>
            <a:ext cx="10881360" cy="274320"/>
          </a:xfrm>
          <a:prstGeom prst="rect">
            <a:avLst/>
          </a:prstGeom>
          <a:noFill/>
        </p:spPr>
        <p:txBody>
          <a:bodyPr wrap="square" anchor="t" lIns="0" rIns="0" tIns="0" bIns="0">
            <a:spAutoFit/>
          </a:bodyPr>
          <a:lstStyle/>
          <a:p>
            <a:pPr algn="l">
              <a:spcAft>
                <a:spcPts val="0"/>
              </a:spcAft>
            </a:pPr>
            <a:r>
              <a:rPr sz="1250" b="0" i="0">
                <a:solidFill>
                  <a:srgbClr val="455566"/>
                </a:solidFill>
                <a:latin typeface="Calibri"/>
              </a:rPr>
              <a:t>Four commitments that make the numbers mean something</a:t>
            </a:r>
          </a:p>
        </p:txBody>
      </p:sp>
      <p:sp>
        <p:nvSpPr>
          <p:cNvPr id="5" name="Rectangle 4"/>
          <p:cNvSpPr/>
          <p:nvPr/>
        </p:nvSpPr>
        <p:spPr>
          <a:xfrm>
            <a:off x="640080" y="1828800"/>
            <a:ext cx="5349240" cy="1755648"/>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59536" y="2029968"/>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150" b="1" i="0">
                <a:solidFill>
                  <a:srgbClr val="FFFFFF"/>
                </a:solidFill>
                <a:latin typeface="Calibri"/>
              </a:rPr>
              <a:t>1</a:t>
            </a:r>
          </a:p>
        </p:txBody>
      </p:sp>
      <p:sp>
        <p:nvSpPr>
          <p:cNvPr id="7" name="TextBox 6"/>
          <p:cNvSpPr txBox="1"/>
          <p:nvPr/>
        </p:nvSpPr>
        <p:spPr>
          <a:xfrm>
            <a:off x="1298448" y="2011680"/>
            <a:ext cx="4480560" cy="1463040"/>
          </a:xfrm>
          <a:prstGeom prst="rect">
            <a:avLst/>
          </a:prstGeom>
          <a:noFill/>
        </p:spPr>
        <p:txBody>
          <a:bodyPr wrap="square" anchor="t" lIns="0" rIns="0" tIns="0" bIns="0">
            <a:spAutoFit/>
          </a:bodyPr>
          <a:lstStyle/>
          <a:p>
            <a:pPr algn="l">
              <a:spcAft>
                <a:spcPts val="600"/>
              </a:spcAft>
            </a:pPr>
            <a:r>
              <a:rPr sz="1300" b="1" i="0">
                <a:solidFill>
                  <a:srgbClr val="065A82"/>
                </a:solidFill>
                <a:latin typeface="Cambria"/>
              </a:rPr>
              <a:t>Stage-wise discriminability</a:t>
            </a:r>
          </a:p>
          <a:p>
            <a:pPr algn="l">
              <a:spcAft>
                <a:spcPts val="0"/>
              </a:spcAft>
            </a:pPr>
            <a:r>
              <a:rPr sz="1050" b="0" i="0">
                <a:solidFill>
                  <a:srgbClr val="455566"/>
                </a:solidFill>
                <a:latin typeface="Calibri"/>
              </a:rPr>
              <a:t>D_s(f) = AUC(faulted, matched-clean), folded to [0.5, 1.0]. 0.5 is chance-level separation, never “50 % accuracy”. Reported per stage as a profile, not collapsed to one number.</a:t>
            </a:r>
          </a:p>
        </p:txBody>
      </p:sp>
      <p:sp>
        <p:nvSpPr>
          <p:cNvPr id="8" name="Rectangle 7"/>
          <p:cNvSpPr/>
          <p:nvPr/>
        </p:nvSpPr>
        <p:spPr>
          <a:xfrm>
            <a:off x="6172200" y="1828800"/>
            <a:ext cx="5349240" cy="1755648"/>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391656" y="2029968"/>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150" b="1" i="0">
                <a:solidFill>
                  <a:srgbClr val="FFFFFF"/>
                </a:solidFill>
                <a:latin typeface="Calibri"/>
              </a:rPr>
              <a:t>2</a:t>
            </a:r>
          </a:p>
        </p:txBody>
      </p:sp>
      <p:sp>
        <p:nvSpPr>
          <p:cNvPr id="10" name="TextBox 9"/>
          <p:cNvSpPr txBox="1"/>
          <p:nvPr/>
        </p:nvSpPr>
        <p:spPr>
          <a:xfrm>
            <a:off x="6830568" y="2011680"/>
            <a:ext cx="4480560" cy="1463040"/>
          </a:xfrm>
          <a:prstGeom prst="rect">
            <a:avLst/>
          </a:prstGeom>
          <a:noFill/>
        </p:spPr>
        <p:txBody>
          <a:bodyPr wrap="square" anchor="t" lIns="0" rIns="0" tIns="0" bIns="0">
            <a:spAutoFit/>
          </a:bodyPr>
          <a:lstStyle/>
          <a:p>
            <a:pPr algn="l">
              <a:spcAft>
                <a:spcPts val="600"/>
              </a:spcAft>
            </a:pPr>
            <a:r>
              <a:rPr sz="1300" b="1" i="0">
                <a:solidFill>
                  <a:srgbClr val="065A82"/>
                </a:solidFill>
                <a:latin typeface="Cambria"/>
              </a:rPr>
              <a:t>Delivered-signal integrity</a:t>
            </a:r>
          </a:p>
          <a:p>
            <a:pPr algn="l">
              <a:spcAft>
                <a:spcPts val="0"/>
              </a:spcAft>
            </a:pPr>
            <a:r>
              <a:rPr sz="1050" b="0" i="0">
                <a:solidFill>
                  <a:srgbClr val="455566"/>
                </a:solidFill>
                <a:latin typeface="Calibri"/>
              </a:rPr>
              <a:t>A result is rejected unless the faulted arm is shown to differ from the clean arm at the point each consumer reads it. This rule exists because three earlier results were 0.5 by construction.</a:t>
            </a:r>
          </a:p>
        </p:txBody>
      </p:sp>
      <p:sp>
        <p:nvSpPr>
          <p:cNvPr id="11" name="Rectangle 10"/>
          <p:cNvSpPr/>
          <p:nvPr/>
        </p:nvSpPr>
        <p:spPr>
          <a:xfrm>
            <a:off x="640080" y="3794760"/>
            <a:ext cx="5349240" cy="1755648"/>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59536" y="3995928"/>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150" b="1" i="0">
                <a:solidFill>
                  <a:srgbClr val="FFFFFF"/>
                </a:solidFill>
                <a:latin typeface="Calibri"/>
              </a:rPr>
              <a:t>3</a:t>
            </a:r>
          </a:p>
        </p:txBody>
      </p:sp>
      <p:sp>
        <p:nvSpPr>
          <p:cNvPr id="13" name="TextBox 12"/>
          <p:cNvSpPr txBox="1"/>
          <p:nvPr/>
        </p:nvSpPr>
        <p:spPr>
          <a:xfrm>
            <a:off x="1298448" y="3977640"/>
            <a:ext cx="4480560" cy="1463040"/>
          </a:xfrm>
          <a:prstGeom prst="rect">
            <a:avLst/>
          </a:prstGeom>
          <a:noFill/>
        </p:spPr>
        <p:txBody>
          <a:bodyPr wrap="square" anchor="t" lIns="0" rIns="0" tIns="0" bIns="0">
            <a:spAutoFit/>
          </a:bodyPr>
          <a:lstStyle/>
          <a:p>
            <a:pPr algn="l">
              <a:spcAft>
                <a:spcPts val="600"/>
              </a:spcAft>
            </a:pPr>
            <a:r>
              <a:rPr sz="1300" b="1" i="0">
                <a:solidFill>
                  <a:srgbClr val="065A82"/>
                </a:solidFill>
                <a:latin typeface="Cambria"/>
              </a:rPr>
              <a:t>Pre-registration</a:t>
            </a:r>
          </a:p>
          <a:p>
            <a:pPr algn="l">
              <a:spcAft>
                <a:spcPts val="0"/>
              </a:spcAft>
            </a:pPr>
            <a:r>
              <a:rPr sz="1050" b="0" i="0">
                <a:solidFill>
                  <a:srgbClr val="455566"/>
                </a:solidFill>
                <a:latin typeface="Calibri"/>
              </a:rPr>
              <a:t>Stage, faults, thresholds, tests and falsification criteria are written and frozen before execution. Deviations are reported as deviations.</a:t>
            </a:r>
          </a:p>
        </p:txBody>
      </p:sp>
      <p:sp>
        <p:nvSpPr>
          <p:cNvPr id="14" name="Rectangle 13"/>
          <p:cNvSpPr/>
          <p:nvPr/>
        </p:nvSpPr>
        <p:spPr>
          <a:xfrm>
            <a:off x="6172200" y="3794760"/>
            <a:ext cx="5349240" cy="1755648"/>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91656" y="3995928"/>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150" b="1" i="0">
                <a:solidFill>
                  <a:srgbClr val="FFFFFF"/>
                </a:solidFill>
                <a:latin typeface="Calibri"/>
              </a:rPr>
              <a:t>4</a:t>
            </a:r>
          </a:p>
        </p:txBody>
      </p:sp>
      <p:sp>
        <p:nvSpPr>
          <p:cNvPr id="16" name="TextBox 15"/>
          <p:cNvSpPr txBox="1"/>
          <p:nvPr/>
        </p:nvSpPr>
        <p:spPr>
          <a:xfrm>
            <a:off x="6830568" y="3977640"/>
            <a:ext cx="4480560" cy="1463040"/>
          </a:xfrm>
          <a:prstGeom prst="rect">
            <a:avLst/>
          </a:prstGeom>
          <a:noFill/>
        </p:spPr>
        <p:txBody>
          <a:bodyPr wrap="square" anchor="t" lIns="0" rIns="0" tIns="0" bIns="0">
            <a:spAutoFit/>
          </a:bodyPr>
          <a:lstStyle/>
          <a:p>
            <a:pPr algn="l">
              <a:spcAft>
                <a:spcPts val="600"/>
              </a:spcAft>
            </a:pPr>
            <a:r>
              <a:rPr sz="1300" b="1" i="0">
                <a:solidFill>
                  <a:srgbClr val="065A82"/>
                </a:solidFill>
                <a:latin typeface="Cambria"/>
              </a:rPr>
              <a:t>The run is the unit</a:t>
            </a:r>
          </a:p>
          <a:p>
            <a:pPr algn="l">
              <a:spcAft>
                <a:spcPts val="0"/>
              </a:spcAft>
            </a:pPr>
            <a:r>
              <a:rPr sz="1050" b="0" i="0">
                <a:solidFill>
                  <a:srgbClr val="455566"/>
                </a:solidFill>
                <a:latin typeface="Calibri"/>
              </a:rPr>
              <a:t>Ticks inside a run are autocorrelated and are never treated as independent samples. Changing tick→run overturned two of our own verdicts.</a:t>
            </a:r>
          </a:p>
        </p:txBody>
      </p:sp>
      <p:sp>
        <p:nvSpPr>
          <p:cNvPr id="17" name="TextBox 16"/>
          <p:cNvSpPr txBox="1"/>
          <p:nvPr/>
        </p:nvSpPr>
        <p:spPr>
          <a:xfrm>
            <a:off x="640080" y="6364224"/>
            <a:ext cx="10881360" cy="274320"/>
          </a:xfrm>
          <a:prstGeom prst="rect">
            <a:avLst/>
          </a:prstGeom>
          <a:noFill/>
        </p:spPr>
        <p:txBody>
          <a:bodyPr wrap="square" anchor="t" lIns="0" rIns="0" tIns="0" bIns="0">
            <a:spAutoFit/>
          </a:bodyPr>
          <a:lstStyle/>
          <a:p>
            <a:pPr algn="l">
              <a:spcAft>
                <a:spcPts val="0"/>
              </a:spcAft>
            </a:pPr>
            <a:r>
              <a:rPr sz="850" b="0" i="1">
                <a:solidFill>
                  <a:srgbClr val="8A99A8"/>
                </a:solidFill>
                <a:latin typeface="Calibri"/>
              </a:rPr>
              <a:t>Metric appropriateness is audited per fault type: dispersion faults use a rolling-standard-deviation statistic, dropout uses stream health, bias and drift use the raw channel.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10881360" cy="237744"/>
          </a:xfrm>
          <a:prstGeom prst="rect">
            <a:avLst/>
          </a:prstGeom>
          <a:noFill/>
        </p:spPr>
        <p:txBody>
          <a:bodyPr wrap="square" anchor="t" lIns="0" rIns="0" tIns="0" bIns="0">
            <a:spAutoFit/>
          </a:bodyPr>
          <a:lstStyle/>
          <a:p>
            <a:pPr algn="l">
              <a:spcAft>
                <a:spcPts val="0"/>
              </a:spcAft>
            </a:pPr>
            <a:r>
              <a:rPr sz="1000" b="1" i="0">
                <a:solidFill>
                  <a:srgbClr val="1C7293"/>
                </a:solidFill>
                <a:latin typeface="Calibri"/>
              </a:rPr>
              <a:t>ARCHITECTURE</a:t>
            </a:r>
          </a:p>
        </p:txBody>
      </p:sp>
      <p:sp>
        <p:nvSpPr>
          <p:cNvPr id="3" name="TextBox 2"/>
          <p:cNvSpPr txBox="1"/>
          <p:nvPr/>
        </p:nvSpPr>
        <p:spPr>
          <a:xfrm>
            <a:off x="640080" y="603504"/>
            <a:ext cx="10881360" cy="566928"/>
          </a:xfrm>
          <a:prstGeom prst="rect">
            <a:avLst/>
          </a:prstGeom>
          <a:noFill/>
        </p:spPr>
        <p:txBody>
          <a:bodyPr wrap="square" anchor="t" lIns="0" rIns="0" tIns="0" bIns="0">
            <a:spAutoFit/>
          </a:bodyPr>
          <a:lstStyle/>
          <a:p>
            <a:pPr algn="l">
              <a:spcAft>
                <a:spcPts val="0"/>
              </a:spcAft>
            </a:pPr>
            <a:r>
              <a:rPr sz="3200" b="1" i="0">
                <a:solidFill>
                  <a:srgbClr val="1A2233"/>
                </a:solidFill>
                <a:latin typeface="Cambria"/>
              </a:rPr>
              <a:t>The measurement surface</a:t>
            </a:r>
          </a:p>
        </p:txBody>
      </p:sp>
      <p:sp>
        <p:nvSpPr>
          <p:cNvPr id="4" name="TextBox 3"/>
          <p:cNvSpPr txBox="1"/>
          <p:nvPr/>
        </p:nvSpPr>
        <p:spPr>
          <a:xfrm>
            <a:off x="640080" y="1371600"/>
            <a:ext cx="10881360" cy="274320"/>
          </a:xfrm>
          <a:prstGeom prst="rect">
            <a:avLst/>
          </a:prstGeom>
          <a:noFill/>
        </p:spPr>
        <p:txBody>
          <a:bodyPr wrap="square" anchor="t" lIns="0" rIns="0" tIns="0" bIns="0">
            <a:spAutoFit/>
          </a:bodyPr>
          <a:lstStyle/>
          <a:p>
            <a:pPr algn="l">
              <a:spcAft>
                <a:spcPts val="0"/>
              </a:spcAft>
            </a:pPr>
            <a:r>
              <a:rPr sz="1150" b="0" i="0">
                <a:solidFill>
                  <a:srgbClr val="455566"/>
                </a:solidFill>
                <a:latin typeface="Calibri"/>
              </a:rPr>
              <a:t>Verified in a live run, not read from documentation: 9 / 9 layers domain-mapped, 3 / 3 Core-B gates return a verdict on every one of 300 ticks.</a:t>
            </a:r>
          </a:p>
        </p:txBody>
      </p:sp>
      <p:sp>
        <p:nvSpPr>
          <p:cNvPr id="5" name="Rounded Rectangle 4"/>
          <p:cNvSpPr/>
          <p:nvPr/>
        </p:nvSpPr>
        <p:spPr>
          <a:xfrm>
            <a:off x="640080" y="1901952"/>
            <a:ext cx="1033271" cy="841248"/>
          </a:xfrm>
          <a:prstGeom prst="round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100"/>
              </a:spcAft>
            </a:pPr>
            <a:r>
              <a:rPr sz="1400" b="1" i="0">
                <a:solidFill>
                  <a:srgbClr val="FFFFFF"/>
                </a:solidFill>
                <a:latin typeface="Cambria"/>
              </a:rPr>
              <a:t>L1</a:t>
            </a:r>
          </a:p>
          <a:p>
            <a:pPr algn="ctr">
              <a:spcAft>
                <a:spcPts val="0"/>
              </a:spcAft>
            </a:pPr>
            <a:r>
              <a:rPr sz="850" b="0" i="0">
                <a:solidFill>
                  <a:srgbClr val="DDE8F0"/>
                </a:solidFill>
                <a:latin typeface="Calibri"/>
              </a:rPr>
              <a:t>sensing</a:t>
            </a:r>
          </a:p>
        </p:txBody>
      </p:sp>
      <p:sp>
        <p:nvSpPr>
          <p:cNvPr id="6" name="Rounded Rectangle 5"/>
          <p:cNvSpPr/>
          <p:nvPr/>
        </p:nvSpPr>
        <p:spPr>
          <a:xfrm>
            <a:off x="1753818" y="1901952"/>
            <a:ext cx="1033271" cy="841248"/>
          </a:xfrm>
          <a:prstGeom prst="round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100"/>
              </a:spcAft>
            </a:pPr>
            <a:r>
              <a:rPr sz="1400" b="1" i="0">
                <a:solidFill>
                  <a:srgbClr val="FFFFFF"/>
                </a:solidFill>
                <a:latin typeface="Cambria"/>
              </a:rPr>
              <a:t>L2a</a:t>
            </a:r>
          </a:p>
          <a:p>
            <a:pPr algn="ctr">
              <a:spcAft>
                <a:spcPts val="0"/>
              </a:spcAft>
            </a:pPr>
            <a:r>
              <a:rPr sz="850" b="0" i="0">
                <a:solidFill>
                  <a:srgbClr val="DDE8F0"/>
                </a:solidFill>
                <a:latin typeface="Calibri"/>
              </a:rPr>
              <a:t>innovation</a:t>
            </a:r>
          </a:p>
        </p:txBody>
      </p:sp>
      <p:sp>
        <p:nvSpPr>
          <p:cNvPr id="7" name="Rounded Rectangle 6"/>
          <p:cNvSpPr/>
          <p:nvPr/>
        </p:nvSpPr>
        <p:spPr>
          <a:xfrm>
            <a:off x="2867556" y="1901952"/>
            <a:ext cx="1033271" cy="841248"/>
          </a:xfrm>
          <a:prstGeom prst="round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100"/>
              </a:spcAft>
            </a:pPr>
            <a:r>
              <a:rPr sz="1400" b="1" i="0">
                <a:solidFill>
                  <a:srgbClr val="FFFFFF"/>
                </a:solidFill>
                <a:latin typeface="Cambria"/>
              </a:rPr>
              <a:t>L2b</a:t>
            </a:r>
          </a:p>
          <a:p>
            <a:pPr algn="ctr">
              <a:spcAft>
                <a:spcPts val="0"/>
              </a:spcAft>
            </a:pPr>
            <a:r>
              <a:rPr sz="850" b="0" i="0">
                <a:solidFill>
                  <a:srgbClr val="DDE8F0"/>
                </a:solidFill>
                <a:latin typeface="Calibri"/>
              </a:rPr>
              <a:t>estimate</a:t>
            </a:r>
          </a:p>
        </p:txBody>
      </p:sp>
      <p:sp>
        <p:nvSpPr>
          <p:cNvPr id="8" name="Rounded Rectangle 7"/>
          <p:cNvSpPr/>
          <p:nvPr/>
        </p:nvSpPr>
        <p:spPr>
          <a:xfrm>
            <a:off x="3981294" y="1901952"/>
            <a:ext cx="1033271" cy="841248"/>
          </a:xfrm>
          <a:prstGeom prst="round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100"/>
              </a:spcAft>
            </a:pPr>
            <a:r>
              <a:rPr sz="1400" b="1" i="0">
                <a:solidFill>
                  <a:srgbClr val="FFFFFF"/>
                </a:solidFill>
                <a:latin typeface="Cambria"/>
              </a:rPr>
              <a:t>L3</a:t>
            </a:r>
          </a:p>
          <a:p>
            <a:pPr algn="ctr">
              <a:spcAft>
                <a:spcPts val="0"/>
              </a:spcAft>
            </a:pPr>
            <a:r>
              <a:rPr sz="850" b="0" i="0">
                <a:solidFill>
                  <a:srgbClr val="DDE8F0"/>
                </a:solidFill>
                <a:latin typeface="Calibri"/>
              </a:rPr>
              <a:t>trust</a:t>
            </a:r>
          </a:p>
        </p:txBody>
      </p:sp>
      <p:sp>
        <p:nvSpPr>
          <p:cNvPr id="9" name="Rounded Rectangle 8"/>
          <p:cNvSpPr/>
          <p:nvPr/>
        </p:nvSpPr>
        <p:spPr>
          <a:xfrm>
            <a:off x="5095032" y="1901952"/>
            <a:ext cx="1033271" cy="841248"/>
          </a:xfrm>
          <a:prstGeom prst="round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100"/>
              </a:spcAft>
            </a:pPr>
            <a:r>
              <a:rPr sz="1400" b="1" i="0">
                <a:solidFill>
                  <a:srgbClr val="FFFFFF"/>
                </a:solidFill>
                <a:latin typeface="Cambria"/>
              </a:rPr>
              <a:t>L4</a:t>
            </a:r>
          </a:p>
          <a:p>
            <a:pPr algn="ctr">
              <a:spcAft>
                <a:spcPts val="0"/>
              </a:spcAft>
            </a:pPr>
            <a:r>
              <a:rPr sz="850" b="0" i="0">
                <a:solidFill>
                  <a:srgbClr val="DDE8F0"/>
                </a:solidFill>
                <a:latin typeface="Calibri"/>
              </a:rPr>
              <a:t>proposer</a:t>
            </a:r>
          </a:p>
        </p:txBody>
      </p:sp>
      <p:sp>
        <p:nvSpPr>
          <p:cNvPr id="10" name="Rounded Rectangle 9"/>
          <p:cNvSpPr/>
          <p:nvPr/>
        </p:nvSpPr>
        <p:spPr>
          <a:xfrm>
            <a:off x="6208770" y="1901952"/>
            <a:ext cx="1033271" cy="8412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100"/>
              </a:spcAft>
            </a:pPr>
            <a:r>
              <a:rPr sz="1400" b="1" i="0">
                <a:solidFill>
                  <a:srgbClr val="FFFFFF"/>
                </a:solidFill>
                <a:latin typeface="Cambria"/>
              </a:rPr>
              <a:t>L5</a:t>
            </a:r>
          </a:p>
          <a:p>
            <a:pPr algn="ctr">
              <a:spcAft>
                <a:spcPts val="0"/>
              </a:spcAft>
            </a:pPr>
            <a:r>
              <a:rPr sz="850" b="0" i="0">
                <a:solidFill>
                  <a:srgbClr val="DDE8F0"/>
                </a:solidFill>
                <a:latin typeface="Calibri"/>
              </a:rPr>
              <a:t>twin</a:t>
            </a:r>
          </a:p>
        </p:txBody>
      </p:sp>
      <p:sp>
        <p:nvSpPr>
          <p:cNvPr id="11" name="Rounded Rectangle 10"/>
          <p:cNvSpPr/>
          <p:nvPr/>
        </p:nvSpPr>
        <p:spPr>
          <a:xfrm>
            <a:off x="7322508" y="1901952"/>
            <a:ext cx="1033271" cy="841248"/>
          </a:xfrm>
          <a:prstGeom prst="roundRect">
            <a:avLst/>
          </a:prstGeom>
          <a:solidFill>
            <a:srgbClr val="A97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100"/>
              </a:spcAft>
            </a:pPr>
            <a:r>
              <a:rPr sz="1400" b="1" i="0">
                <a:solidFill>
                  <a:srgbClr val="FFFFFF"/>
                </a:solidFill>
                <a:latin typeface="Cambria"/>
              </a:rPr>
              <a:t>L6</a:t>
            </a:r>
          </a:p>
          <a:p>
            <a:pPr algn="ctr">
              <a:spcAft>
                <a:spcPts val="0"/>
              </a:spcAft>
            </a:pPr>
            <a:r>
              <a:rPr sz="850" b="0" i="0">
                <a:solidFill>
                  <a:srgbClr val="DDE8F0"/>
                </a:solidFill>
                <a:latin typeface="Calibri"/>
              </a:rPr>
              <a:t>conformal</a:t>
            </a:r>
          </a:p>
        </p:txBody>
      </p:sp>
      <p:sp>
        <p:nvSpPr>
          <p:cNvPr id="12" name="Rounded Rectangle 11"/>
          <p:cNvSpPr/>
          <p:nvPr/>
        </p:nvSpPr>
        <p:spPr>
          <a:xfrm>
            <a:off x="8436246" y="1901952"/>
            <a:ext cx="1033271" cy="8412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100"/>
              </a:spcAft>
            </a:pPr>
            <a:r>
              <a:rPr sz="1400" b="1" i="0">
                <a:solidFill>
                  <a:srgbClr val="FFFFFF"/>
                </a:solidFill>
                <a:latin typeface="Cambria"/>
              </a:rPr>
              <a:t>L7</a:t>
            </a:r>
          </a:p>
          <a:p>
            <a:pPr algn="ctr">
              <a:spcAft>
                <a:spcPts val="0"/>
              </a:spcAft>
            </a:pPr>
            <a:r>
              <a:rPr sz="850" b="0" i="0">
                <a:solidFill>
                  <a:srgbClr val="DDE8F0"/>
                </a:solidFill>
                <a:latin typeface="Calibri"/>
              </a:rPr>
              <a:t>shield</a:t>
            </a:r>
          </a:p>
        </p:txBody>
      </p:sp>
      <p:sp>
        <p:nvSpPr>
          <p:cNvPr id="13" name="Rounded Rectangle 12"/>
          <p:cNvSpPr/>
          <p:nvPr/>
        </p:nvSpPr>
        <p:spPr>
          <a:xfrm>
            <a:off x="9549984" y="1901952"/>
            <a:ext cx="1033271" cy="8412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100"/>
              </a:spcAft>
            </a:pPr>
            <a:r>
              <a:rPr sz="1400" b="1" i="0">
                <a:solidFill>
                  <a:srgbClr val="FFFFFF"/>
                </a:solidFill>
                <a:latin typeface="Cambria"/>
              </a:rPr>
              <a:t>L8</a:t>
            </a:r>
          </a:p>
          <a:p>
            <a:pPr algn="ctr">
              <a:spcAft>
                <a:spcPts val="0"/>
              </a:spcAft>
            </a:pPr>
            <a:r>
              <a:rPr sz="850" b="0" i="0">
                <a:solidFill>
                  <a:srgbClr val="DDE8F0"/>
                </a:solidFill>
                <a:latin typeface="Calibri"/>
              </a:rPr>
              <a:t>fail-safe</a:t>
            </a:r>
          </a:p>
        </p:txBody>
      </p:sp>
      <p:sp>
        <p:nvSpPr>
          <p:cNvPr id="14" name="Rounded Rectangle 13"/>
          <p:cNvSpPr/>
          <p:nvPr/>
        </p:nvSpPr>
        <p:spPr>
          <a:xfrm>
            <a:off x="10663722" y="1901952"/>
            <a:ext cx="1033271" cy="841248"/>
          </a:xfrm>
          <a:prstGeom prst="round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100"/>
              </a:spcAft>
            </a:pPr>
            <a:r>
              <a:rPr sz="1400" b="1" i="0">
                <a:solidFill>
                  <a:srgbClr val="FFFFFF"/>
                </a:solidFill>
                <a:latin typeface="Cambria"/>
              </a:rPr>
              <a:t>L9</a:t>
            </a:r>
          </a:p>
          <a:p>
            <a:pPr algn="ctr">
              <a:spcAft>
                <a:spcPts val="0"/>
              </a:spcAft>
            </a:pPr>
            <a:r>
              <a:rPr sz="850" b="0" i="0">
                <a:solidFill>
                  <a:srgbClr val="DDE8F0"/>
                </a:solidFill>
                <a:latin typeface="Calibri"/>
              </a:rPr>
              <a:t>arbitration</a:t>
            </a:r>
          </a:p>
        </p:txBody>
      </p:sp>
      <p:sp>
        <p:nvSpPr>
          <p:cNvPr id="15" name="Rectangle 14"/>
          <p:cNvSpPr/>
          <p:nvPr/>
        </p:nvSpPr>
        <p:spPr>
          <a:xfrm>
            <a:off x="640080" y="2834640"/>
            <a:ext cx="4315968" cy="274320"/>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871216"/>
            <a:ext cx="4315968" cy="228600"/>
          </a:xfrm>
          <a:prstGeom prst="rect">
            <a:avLst/>
          </a:prstGeom>
          <a:noFill/>
        </p:spPr>
        <p:txBody>
          <a:bodyPr wrap="square" anchor="t" lIns="0" rIns="0" tIns="0" bIns="0">
            <a:spAutoFit/>
          </a:bodyPr>
          <a:lstStyle/>
          <a:p>
            <a:pPr algn="ctr">
              <a:spcAft>
                <a:spcPts val="0"/>
              </a:spcAft>
            </a:pPr>
            <a:r>
              <a:rPr sz="950" b="0" i="0">
                <a:solidFill>
                  <a:srgbClr val="455566"/>
                </a:solidFill>
                <a:latin typeface="Calibri"/>
              </a:rPr>
              <a:t>SHARED   L1–L3</a:t>
            </a:r>
          </a:p>
        </p:txBody>
      </p:sp>
      <p:sp>
        <p:nvSpPr>
          <p:cNvPr id="17" name="Rectangle 16"/>
          <p:cNvSpPr/>
          <p:nvPr/>
        </p:nvSpPr>
        <p:spPr>
          <a:xfrm>
            <a:off x="5029200" y="2834640"/>
            <a:ext cx="1033271" cy="274320"/>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0" y="2871216"/>
            <a:ext cx="1033271" cy="228600"/>
          </a:xfrm>
          <a:prstGeom prst="rect">
            <a:avLst/>
          </a:prstGeom>
          <a:noFill/>
        </p:spPr>
        <p:txBody>
          <a:bodyPr wrap="square" anchor="t" lIns="0" rIns="0" tIns="0" bIns="0">
            <a:spAutoFit/>
          </a:bodyPr>
          <a:lstStyle/>
          <a:p>
            <a:pPr algn="ctr">
              <a:spcAft>
                <a:spcPts val="0"/>
              </a:spcAft>
            </a:pPr>
            <a:r>
              <a:rPr sz="950" b="0" i="0">
                <a:solidFill>
                  <a:srgbClr val="455566"/>
                </a:solidFill>
                <a:latin typeface="Calibri"/>
              </a:rPr>
              <a:t>CORE-A</a:t>
            </a:r>
          </a:p>
        </p:txBody>
      </p:sp>
      <p:sp>
        <p:nvSpPr>
          <p:cNvPr id="19" name="Rectangle 18"/>
          <p:cNvSpPr/>
          <p:nvPr/>
        </p:nvSpPr>
        <p:spPr>
          <a:xfrm>
            <a:off x="6135624" y="2834640"/>
            <a:ext cx="4279392" cy="274320"/>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35624" y="2871216"/>
            <a:ext cx="4279392" cy="228600"/>
          </a:xfrm>
          <a:prstGeom prst="rect">
            <a:avLst/>
          </a:prstGeom>
          <a:noFill/>
        </p:spPr>
        <p:txBody>
          <a:bodyPr wrap="square" anchor="t" lIns="0" rIns="0" tIns="0" bIns="0">
            <a:spAutoFit/>
          </a:bodyPr>
          <a:lstStyle/>
          <a:p>
            <a:pPr algn="ctr">
              <a:spcAft>
                <a:spcPts val="0"/>
              </a:spcAft>
            </a:pPr>
            <a:r>
              <a:rPr sz="950" b="0" i="0">
                <a:solidFill>
                  <a:srgbClr val="455566"/>
                </a:solidFill>
                <a:latin typeface="Calibri"/>
              </a:rPr>
              <a:t>CORE-B   3 gates, every tick</a:t>
            </a:r>
          </a:p>
        </p:txBody>
      </p:sp>
      <p:graphicFrame>
        <p:nvGraphicFramePr>
          <p:cNvPr id="21" name="Table 20"/>
          <p:cNvGraphicFramePr>
            <a:graphicFrameLocks noGrp="1"/>
          </p:cNvGraphicFramePr>
          <p:nvPr/>
        </p:nvGraphicFramePr>
        <p:xfrm>
          <a:off x="640080" y="3364992"/>
          <a:ext cx="10881360" cy="1773936"/>
        </p:xfrm>
        <a:graphic>
          <a:graphicData uri="http://schemas.openxmlformats.org/drawingml/2006/table">
            <a:tbl>
              <a:tblPr firstRow="1" bandRow="1">
                <a:tableStyleId>{5C22544A-7EE6-4342-B048-85BDC9FD1C3A}</a:tableStyleId>
              </a:tblPr>
              <a:tblGrid>
                <a:gridCol w="1280160"/>
                <a:gridCol w="4907280"/>
                <a:gridCol w="4693920"/>
              </a:tblGrid>
              <a:tr h="310896">
                <a:tc>
                  <a:txBody>
                    <a:bodyPr wrap="square"/>
                    <a:lstStyle/>
                    <a:p>
                      <a:pPr>
                        <a:spcAft>
                          <a:spcPts val="0"/>
                        </a:spcAft>
                      </a:pPr>
                      <a:r>
                        <a:rPr sz="1000" b="1">
                          <a:solidFill>
                            <a:srgbClr val="FFFFFF"/>
                          </a:solidFill>
                          <a:latin typeface="Calibri"/>
                        </a:rPr>
                        <a:t>Stage</a:t>
                      </a:r>
                    </a:p>
                  </a:txBody>
                  <a:tcPr marL="73152" marR="73152" marT="18288" marB="18288" anchor="ctr">
                    <a:solidFill>
                      <a:srgbClr val="065A82"/>
                    </a:solidFill>
                  </a:tcPr>
                </a:tc>
                <a:tc>
                  <a:txBody>
                    <a:bodyPr wrap="square"/>
                    <a:lstStyle/>
                    <a:p>
                      <a:pPr>
                        <a:spcAft>
                          <a:spcPts val="0"/>
                        </a:spcAft>
                      </a:pPr>
                      <a:r>
                        <a:rPr sz="1000" b="1">
                          <a:solidFill>
                            <a:srgbClr val="FFFFFF"/>
                          </a:solidFill>
                          <a:latin typeface="Calibri"/>
                        </a:rPr>
                        <a:t>Statistic measured</a:t>
                      </a:r>
                    </a:p>
                  </a:txBody>
                  <a:tcPr marL="73152" marR="73152" marT="18288" marB="18288" anchor="ctr">
                    <a:solidFill>
                      <a:srgbClr val="065A82"/>
                    </a:solidFill>
                  </a:tcPr>
                </a:tc>
                <a:tc>
                  <a:txBody>
                    <a:bodyPr wrap="square"/>
                    <a:lstStyle/>
                    <a:p>
                      <a:pPr>
                        <a:spcAft>
                          <a:spcPts val="0"/>
                        </a:spcAft>
                      </a:pPr>
                      <a:r>
                        <a:rPr sz="1000" b="1">
                          <a:solidFill>
                            <a:srgbClr val="FFFFFF"/>
                          </a:solidFill>
                          <a:latin typeface="Calibri"/>
                        </a:rPr>
                        <a:t>What it tells us</a:t>
                      </a:r>
                    </a:p>
                  </a:txBody>
                  <a:tcPr marL="73152" marR="73152" marT="18288" marB="18288" anchor="ctr">
                    <a:solidFill>
                      <a:srgbClr val="065A82"/>
                    </a:solidFill>
                  </a:tcPr>
                </a:tc>
              </a:tr>
              <a:tr h="292608">
                <a:tc>
                  <a:txBody>
                    <a:bodyPr wrap="square"/>
                    <a:lstStyle/>
                    <a:p>
                      <a:pPr>
                        <a:spcAft>
                          <a:spcPts val="0"/>
                        </a:spcAft>
                      </a:pPr>
                      <a:r>
                        <a:rPr sz="1050" b="0">
                          <a:solidFill>
                            <a:srgbClr val="1A2233"/>
                          </a:solidFill>
                          <a:latin typeface="Calibri"/>
                        </a:rPr>
                        <a:t>L1</a:t>
                      </a:r>
                    </a:p>
                  </a:txBody>
                  <a:tcPr marL="73152" marR="73152" marT="18288" marB="18288" anchor="ctr">
                    <a:solidFill>
                      <a:srgbClr val="FFFFFF"/>
                    </a:solidFill>
                  </a:tcPr>
                </a:tc>
                <a:tc>
                  <a:txBody>
                    <a:bodyPr wrap="square"/>
                    <a:lstStyle/>
                    <a:p>
                      <a:pPr>
                        <a:spcAft>
                          <a:spcPts val="0"/>
                        </a:spcAft>
                      </a:pPr>
                      <a:r>
                        <a:rPr sz="1050" b="0">
                          <a:solidFill>
                            <a:srgbClr val="1A2233"/>
                          </a:solidFill>
                          <a:latin typeface="Calibri"/>
                        </a:rPr>
                        <a:t>raw channel value / dispersion / stream health</a:t>
                      </a:r>
                    </a:p>
                  </a:txBody>
                  <a:tcPr marL="73152" marR="73152" marT="18288" marB="18288" anchor="ctr">
                    <a:solidFill>
                      <a:srgbClr val="FFFFFF"/>
                    </a:solidFill>
                  </a:tcPr>
                </a:tc>
                <a:tc>
                  <a:txBody>
                    <a:bodyPr wrap="square"/>
                    <a:lstStyle/>
                    <a:p>
                      <a:pPr>
                        <a:spcAft>
                          <a:spcPts val="0"/>
                        </a:spcAft>
                      </a:pPr>
                      <a:r>
                        <a:rPr sz="1050" b="0">
                          <a:solidFill>
                            <a:srgbClr val="1A2233"/>
                          </a:solidFill>
                          <a:latin typeface="Calibri"/>
                        </a:rPr>
                        <a:t>sensor-level detectability</a:t>
                      </a:r>
                    </a:p>
                  </a:txBody>
                  <a:tcPr marL="73152" marR="73152" marT="18288" marB="18288" anchor="ctr">
                    <a:solidFill>
                      <a:srgbClr val="FFFFFF"/>
                    </a:solidFill>
                  </a:tcPr>
                </a:tc>
              </a:tr>
              <a:tr h="292608">
                <a:tc>
                  <a:txBody>
                    <a:bodyPr wrap="square"/>
                    <a:lstStyle/>
                    <a:p>
                      <a:pPr>
                        <a:spcAft>
                          <a:spcPts val="0"/>
                        </a:spcAft>
                      </a:pPr>
                      <a:r>
                        <a:rPr sz="1050" b="0">
                          <a:solidFill>
                            <a:srgbClr val="1A2233"/>
                          </a:solidFill>
                          <a:latin typeface="Calibri"/>
                        </a:rPr>
                        <a:t>L2a</a:t>
                      </a:r>
                    </a:p>
                  </a:txBody>
                  <a:tcPr marL="73152" marR="73152" marT="18288" marB="18288" anchor="ctr">
                    <a:solidFill>
                      <a:srgbClr val="EFF4F8"/>
                    </a:solidFill>
                  </a:tcPr>
                </a:tc>
                <a:tc>
                  <a:txBody>
                    <a:bodyPr wrap="square"/>
                    <a:lstStyle/>
                    <a:p>
                      <a:pPr>
                        <a:spcAft>
                          <a:spcPts val="0"/>
                        </a:spcAft>
                      </a:pPr>
                      <a:r>
                        <a:rPr sz="1050" b="0">
                          <a:solidFill>
                            <a:srgbClr val="1A2233"/>
                          </a:solidFill>
                          <a:latin typeface="Calibri"/>
                        </a:rPr>
                        <a:t>UKF innovation (Mahalanobis distance)</a:t>
                      </a:r>
                    </a:p>
                  </a:txBody>
                  <a:tcPr marL="73152" marR="73152" marT="18288" marB="18288" anchor="ctr">
                    <a:solidFill>
                      <a:srgbClr val="EFF4F8"/>
                    </a:solidFill>
                  </a:tcPr>
                </a:tc>
                <a:tc>
                  <a:txBody>
                    <a:bodyPr wrap="square"/>
                    <a:lstStyle/>
                    <a:p>
                      <a:pPr>
                        <a:spcAft>
                          <a:spcPts val="0"/>
                        </a:spcAft>
                      </a:pPr>
                      <a:r>
                        <a:rPr sz="1050" b="0">
                          <a:solidFill>
                            <a:srgbClr val="1A2233"/>
                          </a:solidFill>
                          <a:latin typeface="Calibri"/>
                        </a:rPr>
                        <a:t>estimator-level observability</a:t>
                      </a:r>
                    </a:p>
                  </a:txBody>
                  <a:tcPr marL="73152" marR="73152" marT="18288" marB="18288" anchor="ctr">
                    <a:solidFill>
                      <a:srgbClr val="EFF4F8"/>
                    </a:solidFill>
                  </a:tcPr>
                </a:tc>
              </a:tr>
              <a:tr h="292608">
                <a:tc>
                  <a:txBody>
                    <a:bodyPr wrap="square"/>
                    <a:lstStyle/>
                    <a:p>
                      <a:pPr>
                        <a:spcAft>
                          <a:spcPts val="0"/>
                        </a:spcAft>
                      </a:pPr>
                      <a:r>
                        <a:rPr sz="1050" b="0">
                          <a:solidFill>
                            <a:srgbClr val="1A2233"/>
                          </a:solidFill>
                          <a:latin typeface="Calibri"/>
                        </a:rPr>
                        <a:t>L2b / L3</a:t>
                      </a:r>
                    </a:p>
                  </a:txBody>
                  <a:tcPr marL="73152" marR="73152" marT="18288" marB="18288" anchor="ctr">
                    <a:solidFill>
                      <a:srgbClr val="FFFFFF"/>
                    </a:solidFill>
                  </a:tcPr>
                </a:tc>
                <a:tc>
                  <a:txBody>
                    <a:bodyPr wrap="square"/>
                    <a:lstStyle/>
                    <a:p>
                      <a:pPr>
                        <a:spcAft>
                          <a:spcPts val="0"/>
                        </a:spcAft>
                      </a:pPr>
                      <a:r>
                        <a:rPr sz="1050" b="0">
                          <a:solidFill>
                            <a:srgbClr val="1A2233"/>
                          </a:solidFill>
                          <a:latin typeface="Calibri"/>
                        </a:rPr>
                        <a:t>estimated lateral position; trust index</a:t>
                      </a:r>
                    </a:p>
                  </a:txBody>
                  <a:tcPr marL="73152" marR="73152" marT="18288" marB="18288" anchor="ctr">
                    <a:solidFill>
                      <a:srgbClr val="FFFFFF"/>
                    </a:solidFill>
                  </a:tcPr>
                </a:tc>
                <a:tc>
                  <a:txBody>
                    <a:bodyPr wrap="square"/>
                    <a:lstStyle/>
                    <a:p>
                      <a:pPr>
                        <a:spcAft>
                          <a:spcPts val="0"/>
                        </a:spcAft>
                      </a:pPr>
                      <a:r>
                        <a:rPr sz="1050" b="0">
                          <a:solidFill>
                            <a:srgbClr val="1A2233"/>
                          </a:solidFill>
                          <a:latin typeface="Calibri"/>
                        </a:rPr>
                        <a:t>post-estimation state and trust</a:t>
                      </a:r>
                    </a:p>
                  </a:txBody>
                  <a:tcPr marL="73152" marR="73152" marT="18288" marB="18288" anchor="ctr">
                    <a:solidFill>
                      <a:srgbClr val="FFFFFF"/>
                    </a:solidFill>
                  </a:tcPr>
                </a:tc>
              </a:tr>
              <a:tr h="292608">
                <a:tc>
                  <a:txBody>
                    <a:bodyPr wrap="square"/>
                    <a:lstStyle/>
                    <a:p>
                      <a:pPr>
                        <a:spcAft>
                          <a:spcPts val="0"/>
                        </a:spcAft>
                      </a:pPr>
                      <a:r>
                        <a:rPr sz="1050" b="0">
                          <a:solidFill>
                            <a:srgbClr val="1A2233"/>
                          </a:solidFill>
                          <a:latin typeface="Calibri"/>
                        </a:rPr>
                        <a:t>L6</a:t>
                      </a:r>
                    </a:p>
                  </a:txBody>
                  <a:tcPr marL="73152" marR="73152" marT="18288" marB="18288" anchor="ctr">
                    <a:solidFill>
                      <a:srgbClr val="EFF4F8"/>
                    </a:solidFill>
                  </a:tcPr>
                </a:tc>
                <a:tc>
                  <a:txBody>
                    <a:bodyPr wrap="square"/>
                    <a:lstStyle/>
                    <a:p>
                      <a:pPr>
                        <a:spcAft>
                          <a:spcPts val="0"/>
                        </a:spcAft>
                      </a:pPr>
                      <a:r>
                        <a:rPr sz="1050" b="0">
                          <a:solidFill>
                            <a:srgbClr val="1A2233"/>
                          </a:solidFill>
                          <a:latin typeface="Calibri"/>
                        </a:rPr>
                        <a:t>conformal non-conformity score</a:t>
                      </a:r>
                    </a:p>
                  </a:txBody>
                  <a:tcPr marL="73152" marR="73152" marT="18288" marB="18288" anchor="ctr">
                    <a:solidFill>
                      <a:srgbClr val="EFF4F8"/>
                    </a:solidFill>
                  </a:tcPr>
                </a:tc>
                <a:tc>
                  <a:txBody>
                    <a:bodyPr wrap="square"/>
                    <a:lstStyle/>
                    <a:p>
                      <a:pPr>
                        <a:spcAft>
                          <a:spcPts val="0"/>
                        </a:spcAft>
                      </a:pPr>
                      <a:r>
                        <a:rPr sz="1050" b="0">
                          <a:solidFill>
                            <a:srgbClr val="1A2233"/>
                          </a:solidFill>
                          <a:latin typeface="Calibri"/>
                        </a:rPr>
                        <a:t>statistical gate evidence — and its threshold</a:t>
                      </a:r>
                    </a:p>
                  </a:txBody>
                  <a:tcPr marL="73152" marR="73152" marT="18288" marB="18288" anchor="ctr">
                    <a:solidFill>
                      <a:srgbClr val="EFF4F8"/>
                    </a:solidFill>
                  </a:tcPr>
                </a:tc>
              </a:tr>
              <a:tr h="292608">
                <a:tc>
                  <a:txBody>
                    <a:bodyPr wrap="square"/>
                    <a:lstStyle/>
                    <a:p>
                      <a:pPr>
                        <a:spcAft>
                          <a:spcPts val="0"/>
                        </a:spcAft>
                      </a:pPr>
                      <a:r>
                        <a:rPr sz="1050" b="0">
                          <a:solidFill>
                            <a:srgbClr val="1A2233"/>
                          </a:solidFill>
                          <a:latin typeface="Calibri"/>
                        </a:rPr>
                        <a:t>L7 / L8</a:t>
                      </a:r>
                    </a:p>
                  </a:txBody>
                  <a:tcPr marL="73152" marR="73152" marT="18288" marB="18288" anchor="ctr">
                    <a:solidFill>
                      <a:srgbClr val="FFFFFF"/>
                    </a:solidFill>
                  </a:tcPr>
                </a:tc>
                <a:tc>
                  <a:txBody>
                    <a:bodyPr wrap="square"/>
                    <a:lstStyle/>
                    <a:p>
                      <a:pPr>
                        <a:spcAft>
                          <a:spcPts val="0"/>
                        </a:spcAft>
                      </a:pPr>
                      <a:r>
                        <a:rPr sz="1050" b="0">
                          <a:solidFill>
                            <a:srgbClr val="1A2233"/>
                          </a:solidFill>
                          <a:latin typeface="Calibri"/>
                        </a:rPr>
                        <a:t>veto flag; fail-safe posture</a:t>
                      </a:r>
                    </a:p>
                  </a:txBody>
                  <a:tcPr marL="73152" marR="73152" marT="18288" marB="18288" anchor="ctr">
                    <a:solidFill>
                      <a:srgbClr val="FFFFFF"/>
                    </a:solidFill>
                  </a:tcPr>
                </a:tc>
                <a:tc>
                  <a:txBody>
                    <a:bodyPr wrap="square"/>
                    <a:lstStyle/>
                    <a:p>
                      <a:pPr>
                        <a:spcAft>
                          <a:spcPts val="0"/>
                        </a:spcAft>
                      </a:pPr>
                      <a:r>
                        <a:rPr sz="1050" b="0">
                          <a:solidFill>
                            <a:srgbClr val="1A2233"/>
                          </a:solidFill>
                          <a:latin typeface="Calibri"/>
                        </a:rPr>
                        <a:t>operational gate outcome</a:t>
                      </a:r>
                    </a:p>
                  </a:txBody>
                  <a:tcPr marL="73152" marR="73152" marT="18288" marB="18288" anchor="ctr">
                    <a:solidFill>
                      <a:srgbClr val="FFFFFF"/>
                    </a:solidFill>
                  </a:tcPr>
                </a:tc>
              </a:tr>
            </a:tbl>
          </a:graphicData>
        </a:graphic>
      </p:graphicFrame>
      <p:sp>
        <p:nvSpPr>
          <p:cNvPr id="22" name="TextBox 21"/>
          <p:cNvSpPr txBox="1"/>
          <p:nvPr/>
        </p:nvSpPr>
        <p:spPr>
          <a:xfrm>
            <a:off x="640080" y="6364224"/>
            <a:ext cx="10881360" cy="274320"/>
          </a:xfrm>
          <a:prstGeom prst="rect">
            <a:avLst/>
          </a:prstGeom>
          <a:noFill/>
        </p:spPr>
        <p:txBody>
          <a:bodyPr wrap="square" anchor="t" lIns="0" rIns="0" tIns="0" bIns="0">
            <a:spAutoFit/>
          </a:bodyPr>
          <a:lstStyle/>
          <a:p>
            <a:pPr algn="l">
              <a:spcAft>
                <a:spcPts val="0"/>
              </a:spcAft>
            </a:pPr>
            <a:r>
              <a:rPr sz="850" b="0" i="1">
                <a:solidFill>
                  <a:srgbClr val="8A99A8"/>
                </a:solidFill>
                <a:latin typeface="Calibri"/>
              </a:rPr>
              <a:t>The one-way Core-A → Core-B trust boundary is enforced by architectural invariants: Core-A may write a proposal into Core-B and may not read any Core-B artefact.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10881360" cy="237744"/>
          </a:xfrm>
          <a:prstGeom prst="rect">
            <a:avLst/>
          </a:prstGeom>
          <a:noFill/>
        </p:spPr>
        <p:txBody>
          <a:bodyPr wrap="square" anchor="t" lIns="0" rIns="0" tIns="0" bIns="0">
            <a:spAutoFit/>
          </a:bodyPr>
          <a:lstStyle/>
          <a:p>
            <a:pPr algn="l">
              <a:spcAft>
                <a:spcPts val="0"/>
              </a:spcAft>
            </a:pPr>
            <a:r>
              <a:rPr sz="1000" b="1" i="0">
                <a:solidFill>
                  <a:srgbClr val="1C7293"/>
                </a:solidFill>
                <a:latin typeface="Calibri"/>
              </a:rPr>
              <a:t>NOVELTY</a:t>
            </a:r>
          </a:p>
        </p:txBody>
      </p:sp>
      <p:sp>
        <p:nvSpPr>
          <p:cNvPr id="3" name="TextBox 2"/>
          <p:cNvSpPr txBox="1"/>
          <p:nvPr/>
        </p:nvSpPr>
        <p:spPr>
          <a:xfrm>
            <a:off x="640080" y="603504"/>
            <a:ext cx="10881360" cy="566928"/>
          </a:xfrm>
          <a:prstGeom prst="rect">
            <a:avLst/>
          </a:prstGeom>
          <a:noFill/>
        </p:spPr>
        <p:txBody>
          <a:bodyPr wrap="square" anchor="t" lIns="0" rIns="0" tIns="0" bIns="0">
            <a:spAutoFit/>
          </a:bodyPr>
          <a:lstStyle/>
          <a:p>
            <a:pPr algn="l">
              <a:spcAft>
                <a:spcPts val="0"/>
              </a:spcAft>
            </a:pPr>
            <a:r>
              <a:rPr sz="3200" b="1" i="0">
                <a:solidFill>
                  <a:srgbClr val="1A2233"/>
                </a:solidFill>
                <a:latin typeface="Cambria"/>
              </a:rPr>
              <a:t>What is actually new</a:t>
            </a:r>
          </a:p>
        </p:txBody>
      </p:sp>
      <p:sp>
        <p:nvSpPr>
          <p:cNvPr id="4" name="TextBox 3"/>
          <p:cNvSpPr txBox="1"/>
          <p:nvPr/>
        </p:nvSpPr>
        <p:spPr>
          <a:xfrm>
            <a:off x="640080" y="1371600"/>
            <a:ext cx="10881360" cy="274320"/>
          </a:xfrm>
          <a:prstGeom prst="rect">
            <a:avLst/>
          </a:prstGeom>
          <a:noFill/>
        </p:spPr>
        <p:txBody>
          <a:bodyPr wrap="square" anchor="t" lIns="0" rIns="0" tIns="0" bIns="0">
            <a:spAutoFit/>
          </a:bodyPr>
          <a:lstStyle/>
          <a:p>
            <a:pPr algn="l">
              <a:spcAft>
                <a:spcPts val="0"/>
              </a:spcAft>
            </a:pPr>
            <a:r>
              <a:rPr sz="1150" b="0" i="0">
                <a:solidFill>
                  <a:srgbClr val="455566"/>
                </a:solidFill>
                <a:latin typeface="Calibri"/>
              </a:rPr>
              <a:t>No single ingredient is novel. The proposed contribution is the combination — and its status is tracked honestly, item by item.</a:t>
            </a:r>
          </a:p>
        </p:txBody>
      </p:sp>
      <p:sp>
        <p:nvSpPr>
          <p:cNvPr id="5" name="Rectangle 4"/>
          <p:cNvSpPr/>
          <p:nvPr/>
        </p:nvSpPr>
        <p:spPr>
          <a:xfrm>
            <a:off x="640080" y="1828800"/>
            <a:ext cx="10881360" cy="512064"/>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1929384"/>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150" b="1" i="0">
                <a:solidFill>
                  <a:srgbClr val="FFFFFF"/>
                </a:solidFill>
                <a:latin typeface="Calibri"/>
              </a:rPr>
              <a:t>1</a:t>
            </a:r>
          </a:p>
        </p:txBody>
      </p:sp>
      <p:sp>
        <p:nvSpPr>
          <p:cNvPr id="7" name="TextBox 6"/>
          <p:cNvSpPr txBox="1"/>
          <p:nvPr/>
        </p:nvSpPr>
        <p:spPr>
          <a:xfrm>
            <a:off x="1298448" y="1984248"/>
            <a:ext cx="8138160" cy="274320"/>
          </a:xfrm>
          <a:prstGeom prst="rect">
            <a:avLst/>
          </a:prstGeom>
          <a:noFill/>
        </p:spPr>
        <p:txBody>
          <a:bodyPr wrap="square" anchor="t" lIns="0" rIns="0" tIns="0" bIns="0">
            <a:spAutoFit/>
          </a:bodyPr>
          <a:lstStyle/>
          <a:p>
            <a:pPr algn="l">
              <a:spcAft>
                <a:spcPts val="0"/>
              </a:spcAft>
            </a:pPr>
            <a:r>
              <a:rPr sz="1150" b="0" i="0">
                <a:solidFill>
                  <a:srgbClr val="1A2233"/>
                </a:solidFill>
                <a:latin typeface="Calibri"/>
              </a:rPr>
              <a:t>Stage-wise fault discriminability across a governance pipeline</a:t>
            </a:r>
          </a:p>
        </p:txBody>
      </p:sp>
      <p:sp>
        <p:nvSpPr>
          <p:cNvPr id="8" name="Rounded Rectangle 7"/>
          <p:cNvSpPr/>
          <p:nvPr/>
        </p:nvSpPr>
        <p:spPr>
          <a:xfrm>
            <a:off x="9692640" y="1970532"/>
            <a:ext cx="1031443" cy="228600"/>
          </a:xfrm>
          <a:prstGeom prst="roundRect">
            <a:avLst/>
          </a:prstGeom>
          <a:solidFill>
            <a:srgbClr val="1E6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ESTABLISHED</a:t>
            </a:r>
          </a:p>
        </p:txBody>
      </p:sp>
      <p:sp>
        <p:nvSpPr>
          <p:cNvPr id="9" name="Rectangle 8"/>
          <p:cNvSpPr/>
          <p:nvPr/>
        </p:nvSpPr>
        <p:spPr>
          <a:xfrm>
            <a:off x="640080" y="2395728"/>
            <a:ext cx="10881360" cy="512064"/>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86384" y="2496312"/>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150" b="1" i="0">
                <a:solidFill>
                  <a:srgbClr val="FFFFFF"/>
                </a:solidFill>
                <a:latin typeface="Calibri"/>
              </a:rPr>
              <a:t>2</a:t>
            </a:r>
          </a:p>
        </p:txBody>
      </p:sp>
      <p:sp>
        <p:nvSpPr>
          <p:cNvPr id="11" name="TextBox 10"/>
          <p:cNvSpPr txBox="1"/>
          <p:nvPr/>
        </p:nvSpPr>
        <p:spPr>
          <a:xfrm>
            <a:off x="1298448" y="2551176"/>
            <a:ext cx="8138160" cy="274320"/>
          </a:xfrm>
          <a:prstGeom prst="rect">
            <a:avLst/>
          </a:prstGeom>
          <a:noFill/>
        </p:spPr>
        <p:txBody>
          <a:bodyPr wrap="square" anchor="t" lIns="0" rIns="0" tIns="0" bIns="0">
            <a:spAutoFit/>
          </a:bodyPr>
          <a:lstStyle/>
          <a:p>
            <a:pPr algn="l">
              <a:spcAft>
                <a:spcPts val="0"/>
              </a:spcAft>
            </a:pPr>
            <a:r>
              <a:rPr sz="1150" b="0" i="0">
                <a:solidFill>
                  <a:srgbClr val="1A2233"/>
                </a:solidFill>
                <a:latin typeface="Calibri"/>
              </a:rPr>
              <a:t>Fault-specific observability profiles — four distinct behaviours measured</a:t>
            </a:r>
          </a:p>
        </p:txBody>
      </p:sp>
      <p:sp>
        <p:nvSpPr>
          <p:cNvPr id="12" name="Rounded Rectangle 11"/>
          <p:cNvSpPr/>
          <p:nvPr/>
        </p:nvSpPr>
        <p:spPr>
          <a:xfrm>
            <a:off x="9692640" y="2537460"/>
            <a:ext cx="1031443" cy="228600"/>
          </a:xfrm>
          <a:prstGeom prst="roundRect">
            <a:avLst/>
          </a:prstGeom>
          <a:solidFill>
            <a:srgbClr val="1E6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ESTABLISHED</a:t>
            </a:r>
          </a:p>
        </p:txBody>
      </p:sp>
      <p:sp>
        <p:nvSpPr>
          <p:cNvPr id="13" name="Rectangle 12"/>
          <p:cNvSpPr/>
          <p:nvPr/>
        </p:nvSpPr>
        <p:spPr>
          <a:xfrm>
            <a:off x="640080" y="2962656"/>
            <a:ext cx="10881360" cy="512064"/>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86384" y="3063240"/>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150" b="1" i="0">
                <a:solidFill>
                  <a:srgbClr val="FFFFFF"/>
                </a:solidFill>
                <a:latin typeface="Calibri"/>
              </a:rPr>
              <a:t>3</a:t>
            </a:r>
          </a:p>
        </p:txBody>
      </p:sp>
      <p:sp>
        <p:nvSpPr>
          <p:cNvPr id="15" name="TextBox 14"/>
          <p:cNvSpPr txBox="1"/>
          <p:nvPr/>
        </p:nvSpPr>
        <p:spPr>
          <a:xfrm>
            <a:off x="1298448" y="3118104"/>
            <a:ext cx="8138160" cy="274320"/>
          </a:xfrm>
          <a:prstGeom prst="rect">
            <a:avLst/>
          </a:prstGeom>
          <a:noFill/>
        </p:spPr>
        <p:txBody>
          <a:bodyPr wrap="square" anchor="t" lIns="0" rIns="0" tIns="0" bIns="0">
            <a:spAutoFit/>
          </a:bodyPr>
          <a:lstStyle/>
          <a:p>
            <a:pPr algn="l">
              <a:spcAft>
                <a:spcPts val="0"/>
              </a:spcAft>
            </a:pPr>
            <a:r>
              <a:rPr sz="1150" b="0" i="0">
                <a:solidFill>
                  <a:srgbClr val="1A2233"/>
                </a:solidFill>
                <a:latin typeface="Calibri"/>
              </a:rPr>
              <a:t>A candidate absorption point A(f), reported only where well-posed</a:t>
            </a:r>
          </a:p>
        </p:txBody>
      </p:sp>
      <p:sp>
        <p:nvSpPr>
          <p:cNvPr id="16" name="Rounded Rectangle 15"/>
          <p:cNvSpPr/>
          <p:nvPr/>
        </p:nvSpPr>
        <p:spPr>
          <a:xfrm>
            <a:off x="9692640" y="3104388"/>
            <a:ext cx="709574" cy="228600"/>
          </a:xfrm>
          <a:prstGeom prst="roundRect">
            <a:avLst/>
          </a:prstGeom>
          <a:solidFill>
            <a:srgbClr val="A976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PARTIAL</a:t>
            </a:r>
          </a:p>
        </p:txBody>
      </p:sp>
      <p:sp>
        <p:nvSpPr>
          <p:cNvPr id="17" name="Rectangle 16"/>
          <p:cNvSpPr/>
          <p:nvPr/>
        </p:nvSpPr>
        <p:spPr>
          <a:xfrm>
            <a:off x="640080" y="3529584"/>
            <a:ext cx="10881360" cy="512064"/>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86384" y="3630168"/>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150" b="1" i="0">
                <a:solidFill>
                  <a:srgbClr val="FFFFFF"/>
                </a:solidFill>
                <a:latin typeface="Calibri"/>
              </a:rPr>
              <a:t>4</a:t>
            </a:r>
          </a:p>
        </p:txBody>
      </p:sp>
      <p:sp>
        <p:nvSpPr>
          <p:cNvPr id="19" name="TextBox 18"/>
          <p:cNvSpPr txBox="1"/>
          <p:nvPr/>
        </p:nvSpPr>
        <p:spPr>
          <a:xfrm>
            <a:off x="1298448" y="3685032"/>
            <a:ext cx="8138160" cy="274320"/>
          </a:xfrm>
          <a:prstGeom prst="rect">
            <a:avLst/>
          </a:prstGeom>
          <a:noFill/>
        </p:spPr>
        <p:txBody>
          <a:bodyPr wrap="square" anchor="t" lIns="0" rIns="0" tIns="0" bIns="0">
            <a:spAutoFit/>
          </a:bodyPr>
          <a:lstStyle/>
          <a:p>
            <a:pPr algn="l">
              <a:spcAft>
                <a:spcPts val="0"/>
              </a:spcAft>
            </a:pPr>
            <a:r>
              <a:rPr sz="1150" b="0" i="0">
                <a:solidFill>
                  <a:srgbClr val="1A2233"/>
                </a:solidFill>
                <a:latin typeface="Calibri"/>
              </a:rPr>
              <a:t>Separating statistical discriminability from operational gate detection</a:t>
            </a:r>
          </a:p>
        </p:txBody>
      </p:sp>
      <p:sp>
        <p:nvSpPr>
          <p:cNvPr id="20" name="Rounded Rectangle 19"/>
          <p:cNvSpPr/>
          <p:nvPr/>
        </p:nvSpPr>
        <p:spPr>
          <a:xfrm>
            <a:off x="9692640" y="3671316"/>
            <a:ext cx="1031443" cy="228600"/>
          </a:xfrm>
          <a:prstGeom prst="roundRect">
            <a:avLst/>
          </a:prstGeom>
          <a:solidFill>
            <a:srgbClr val="1E6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ESTABLISHED</a:t>
            </a:r>
          </a:p>
        </p:txBody>
      </p:sp>
      <p:sp>
        <p:nvSpPr>
          <p:cNvPr id="21" name="Rectangle 20"/>
          <p:cNvSpPr/>
          <p:nvPr/>
        </p:nvSpPr>
        <p:spPr>
          <a:xfrm>
            <a:off x="640080" y="4096512"/>
            <a:ext cx="10881360" cy="512064"/>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86384" y="4197096"/>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150" b="1" i="0">
                <a:solidFill>
                  <a:srgbClr val="FFFFFF"/>
                </a:solidFill>
                <a:latin typeface="Calibri"/>
              </a:rPr>
              <a:t>5</a:t>
            </a:r>
          </a:p>
        </p:txBody>
      </p:sp>
      <p:sp>
        <p:nvSpPr>
          <p:cNvPr id="23" name="TextBox 22"/>
          <p:cNvSpPr txBox="1"/>
          <p:nvPr/>
        </p:nvSpPr>
        <p:spPr>
          <a:xfrm>
            <a:off x="1298448" y="4251960"/>
            <a:ext cx="8138160" cy="274320"/>
          </a:xfrm>
          <a:prstGeom prst="rect">
            <a:avLst/>
          </a:prstGeom>
          <a:noFill/>
        </p:spPr>
        <p:txBody>
          <a:bodyPr wrap="square" anchor="t" lIns="0" rIns="0" tIns="0" bIns="0">
            <a:spAutoFit/>
          </a:bodyPr>
          <a:lstStyle/>
          <a:p>
            <a:pPr algn="l">
              <a:spcAft>
                <a:spcPts val="0"/>
              </a:spcAft>
            </a:pPr>
            <a:r>
              <a:rPr sz="1150" b="0" i="0">
                <a:solidFill>
                  <a:srgbClr val="1A2233"/>
                </a:solidFill>
                <a:latin typeface="Calibri"/>
              </a:rPr>
              <a:t>Diagnosing why a conformal monitor fails, at the level of its score process</a:t>
            </a:r>
          </a:p>
        </p:txBody>
      </p:sp>
      <p:sp>
        <p:nvSpPr>
          <p:cNvPr id="24" name="Rounded Rectangle 23"/>
          <p:cNvSpPr/>
          <p:nvPr/>
        </p:nvSpPr>
        <p:spPr>
          <a:xfrm>
            <a:off x="9692640" y="4238244"/>
            <a:ext cx="1031443" cy="228600"/>
          </a:xfrm>
          <a:prstGeom prst="roundRect">
            <a:avLst/>
          </a:prstGeom>
          <a:solidFill>
            <a:srgbClr val="1E6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ESTABLISHED</a:t>
            </a:r>
          </a:p>
        </p:txBody>
      </p:sp>
      <p:sp>
        <p:nvSpPr>
          <p:cNvPr id="25" name="Rectangle 24"/>
          <p:cNvSpPr/>
          <p:nvPr/>
        </p:nvSpPr>
        <p:spPr>
          <a:xfrm>
            <a:off x="640080" y="4663440"/>
            <a:ext cx="10881360" cy="512064"/>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86384" y="4764024"/>
            <a:ext cx="310896" cy="310896"/>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150" b="1" i="0">
                <a:solidFill>
                  <a:srgbClr val="FFFFFF"/>
                </a:solidFill>
                <a:latin typeface="Calibri"/>
              </a:rPr>
              <a:t>6</a:t>
            </a:r>
          </a:p>
        </p:txBody>
      </p:sp>
      <p:sp>
        <p:nvSpPr>
          <p:cNvPr id="27" name="TextBox 26"/>
          <p:cNvSpPr txBox="1"/>
          <p:nvPr/>
        </p:nvSpPr>
        <p:spPr>
          <a:xfrm>
            <a:off x="1298448" y="4818888"/>
            <a:ext cx="8138160" cy="274320"/>
          </a:xfrm>
          <a:prstGeom prst="rect">
            <a:avLst/>
          </a:prstGeom>
          <a:noFill/>
        </p:spPr>
        <p:txBody>
          <a:bodyPr wrap="square" anchor="t" lIns="0" rIns="0" tIns="0" bIns="0">
            <a:spAutoFit/>
          </a:bodyPr>
          <a:lstStyle/>
          <a:p>
            <a:pPr algn="l">
              <a:spcAft>
                <a:spcPts val="0"/>
              </a:spcAft>
            </a:pPr>
            <a:r>
              <a:rPr sz="1150" b="0" i="0">
                <a:solidFill>
                  <a:srgbClr val="1A2233"/>
                </a:solidFill>
                <a:latin typeface="Calibri"/>
              </a:rPr>
              <a:t>Using measured observability to choose monitor placement (H7 / E19)</a:t>
            </a:r>
          </a:p>
        </p:txBody>
      </p:sp>
      <p:sp>
        <p:nvSpPr>
          <p:cNvPr id="28" name="Rounded Rectangle 27"/>
          <p:cNvSpPr/>
          <p:nvPr/>
        </p:nvSpPr>
        <p:spPr>
          <a:xfrm>
            <a:off x="9692640" y="4805172"/>
            <a:ext cx="709574" cy="228600"/>
          </a:xfrm>
          <a:prstGeom prst="roundRect">
            <a:avLst/>
          </a:prstGeom>
          <a:solidFill>
            <a:srgbClr val="A333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BLOCKED</a:t>
            </a:r>
          </a:p>
        </p:txBody>
      </p:sp>
      <p:sp>
        <p:nvSpPr>
          <p:cNvPr id="29" name="Rectangle 28"/>
          <p:cNvSpPr/>
          <p:nvPr/>
        </p:nvSpPr>
        <p:spPr>
          <a:xfrm>
            <a:off x="640080" y="5230368"/>
            <a:ext cx="10881360" cy="512064"/>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86384" y="5330952"/>
            <a:ext cx="310896" cy="310896"/>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150" b="1" i="0">
                <a:solidFill>
                  <a:srgbClr val="FFFFFF"/>
                </a:solidFill>
                <a:latin typeface="Calibri"/>
              </a:rPr>
              <a:t>7</a:t>
            </a:r>
          </a:p>
        </p:txBody>
      </p:sp>
      <p:sp>
        <p:nvSpPr>
          <p:cNvPr id="31" name="TextBox 30"/>
          <p:cNvSpPr txBox="1"/>
          <p:nvPr/>
        </p:nvSpPr>
        <p:spPr>
          <a:xfrm>
            <a:off x="1298448" y="5385816"/>
            <a:ext cx="8138160" cy="274320"/>
          </a:xfrm>
          <a:prstGeom prst="rect">
            <a:avLst/>
          </a:prstGeom>
          <a:noFill/>
        </p:spPr>
        <p:txBody>
          <a:bodyPr wrap="square" anchor="t" lIns="0" rIns="0" tIns="0" bIns="0">
            <a:spAutoFit/>
          </a:bodyPr>
          <a:lstStyle/>
          <a:p>
            <a:pPr algn="l">
              <a:spcAft>
                <a:spcPts val="0"/>
              </a:spcAft>
            </a:pPr>
            <a:r>
              <a:rPr sz="1150" b="0" i="0">
                <a:solidFill>
                  <a:srgbClr val="1A2233"/>
                </a:solidFill>
                <a:latin typeface="Calibri"/>
              </a:rPr>
              <a:t>Natural vs adversarial sensor manipulation (E20)</a:t>
            </a:r>
          </a:p>
        </p:txBody>
      </p:sp>
      <p:sp>
        <p:nvSpPr>
          <p:cNvPr id="32" name="Rounded Rectangle 31"/>
          <p:cNvSpPr/>
          <p:nvPr/>
        </p:nvSpPr>
        <p:spPr>
          <a:xfrm>
            <a:off x="9692640" y="5372100"/>
            <a:ext cx="950975" cy="228600"/>
          </a:xfrm>
          <a:prstGeom prst="round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NOT TESTED</a:t>
            </a:r>
          </a:p>
        </p:txBody>
      </p:sp>
      <p:sp>
        <p:nvSpPr>
          <p:cNvPr id="33" name="Rectangle 32"/>
          <p:cNvSpPr/>
          <p:nvPr/>
        </p:nvSpPr>
        <p:spPr>
          <a:xfrm>
            <a:off x="640080" y="5870448"/>
            <a:ext cx="10881360" cy="566928"/>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6016752"/>
            <a:ext cx="10479024" cy="292608"/>
          </a:xfrm>
          <a:prstGeom prst="rect">
            <a:avLst/>
          </a:prstGeom>
          <a:noFill/>
        </p:spPr>
        <p:txBody>
          <a:bodyPr wrap="square" anchor="t" lIns="0" rIns="0" tIns="0" bIns="0">
            <a:spAutoFit/>
          </a:bodyPr>
          <a:lstStyle/>
          <a:p>
            <a:pPr algn="l">
              <a:spcAft>
                <a:spcPts val="700"/>
              </a:spcAft>
            </a:pPr>
            <a:r>
              <a:rPr sz="100" b="1" i="0">
                <a:solidFill>
                  <a:srgbClr val="6B7280"/>
                </a:solidFill>
                <a:latin typeface="Cambria"/>
              </a:rPr>
              <a:t/>
            </a:r>
          </a:p>
          <a:p>
            <a:pPr algn="l">
              <a:spcAft>
                <a:spcPts val="500"/>
              </a:spcAft>
            </a:pPr>
            <a:r>
              <a:rPr sz="1050" b="1" i="0">
                <a:solidFill>
                  <a:srgbClr val="1A2233"/>
                </a:solidFill>
                <a:latin typeface="Calibri"/>
              </a:rPr>
              <a:t>Novelty remains a research hypothesis until confirmed against a final systematic literature review and completed experiments. No priority claim is made.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10881360" cy="237744"/>
          </a:xfrm>
          <a:prstGeom prst="rect">
            <a:avLst/>
          </a:prstGeom>
          <a:noFill/>
        </p:spPr>
        <p:txBody>
          <a:bodyPr wrap="square" anchor="t" lIns="0" rIns="0" tIns="0" bIns="0">
            <a:spAutoFit/>
          </a:bodyPr>
          <a:lstStyle/>
          <a:p>
            <a:pPr algn="l">
              <a:spcAft>
                <a:spcPts val="0"/>
              </a:spcAft>
            </a:pPr>
            <a:r>
              <a:rPr sz="1000" b="1" i="0">
                <a:solidFill>
                  <a:srgbClr val="1C7293"/>
                </a:solidFill>
                <a:latin typeface="Calibri"/>
              </a:rPr>
              <a:t>COMPARATIVE ANALYSIS</a:t>
            </a:r>
          </a:p>
        </p:txBody>
      </p:sp>
      <p:sp>
        <p:nvSpPr>
          <p:cNvPr id="3" name="TextBox 2"/>
          <p:cNvSpPr txBox="1"/>
          <p:nvPr/>
        </p:nvSpPr>
        <p:spPr>
          <a:xfrm>
            <a:off x="640080" y="603504"/>
            <a:ext cx="10881360" cy="566928"/>
          </a:xfrm>
          <a:prstGeom prst="rect">
            <a:avLst/>
          </a:prstGeom>
          <a:noFill/>
        </p:spPr>
        <p:txBody>
          <a:bodyPr wrap="square" anchor="t" lIns="0" rIns="0" tIns="0" bIns="0">
            <a:spAutoFit/>
          </a:bodyPr>
          <a:lstStyle/>
          <a:p>
            <a:pPr algn="l">
              <a:spcAft>
                <a:spcPts val="0"/>
              </a:spcAft>
            </a:pPr>
            <a:r>
              <a:rPr sz="3200" b="1" i="0">
                <a:solidFill>
                  <a:srgbClr val="1A2233"/>
                </a:solidFill>
                <a:latin typeface="Cambria"/>
              </a:rPr>
              <a:t>How this differs from existing practice</a:t>
            </a:r>
          </a:p>
        </p:txBody>
      </p:sp>
      <p:graphicFrame>
        <p:nvGraphicFramePr>
          <p:cNvPr id="4" name="Table 3"/>
          <p:cNvGraphicFramePr>
            <a:graphicFrameLocks noGrp="1"/>
          </p:cNvGraphicFramePr>
          <p:nvPr/>
        </p:nvGraphicFramePr>
        <p:xfrm>
          <a:off x="640080" y="1417320"/>
          <a:ext cx="10881360" cy="3712464"/>
        </p:xfrm>
        <a:graphic>
          <a:graphicData uri="http://schemas.openxmlformats.org/drawingml/2006/table">
            <a:tbl>
              <a:tblPr firstRow="1" bandRow="1">
                <a:tableStyleId>{5C22544A-7EE6-4342-B048-85BDC9FD1C3A}</a:tableStyleId>
              </a:tblPr>
              <a:tblGrid>
                <a:gridCol w="1828800"/>
                <a:gridCol w="2926080"/>
                <a:gridCol w="2926080"/>
                <a:gridCol w="3200400"/>
              </a:tblGrid>
              <a:tr h="310896">
                <a:tc>
                  <a:txBody>
                    <a:bodyPr wrap="square"/>
                    <a:lstStyle/>
                    <a:p>
                      <a:pPr>
                        <a:spcAft>
                          <a:spcPts val="0"/>
                        </a:spcAft>
                      </a:pPr>
                      <a:r>
                        <a:rPr sz="950" b="1">
                          <a:solidFill>
                            <a:srgbClr val="FFFFFF"/>
                          </a:solidFill>
                          <a:latin typeface="Calibri"/>
                        </a:rPr>
                        <a:t>Dimension</a:t>
                      </a:r>
                    </a:p>
                  </a:txBody>
                  <a:tcPr marL="73152" marR="73152" marT="18288" marB="18288" anchor="ctr">
                    <a:solidFill>
                      <a:srgbClr val="065A82"/>
                    </a:solidFill>
                  </a:tcPr>
                </a:tc>
                <a:tc>
                  <a:txBody>
                    <a:bodyPr wrap="square"/>
                    <a:lstStyle/>
                    <a:p>
                      <a:pPr>
                        <a:spcAft>
                          <a:spcPts val="0"/>
                        </a:spcAft>
                      </a:pPr>
                      <a:r>
                        <a:rPr sz="950" b="1">
                          <a:solidFill>
                            <a:srgbClr val="FFFFFF"/>
                          </a:solidFill>
                          <a:latin typeface="Calibri"/>
                        </a:rPr>
                        <a:t>Conventional FDI / residual monitoring</a:t>
                      </a:r>
                    </a:p>
                  </a:txBody>
                  <a:tcPr marL="73152" marR="73152" marT="18288" marB="18288" anchor="ctr">
                    <a:solidFill>
                      <a:srgbClr val="065A82"/>
                    </a:solidFill>
                  </a:tcPr>
                </a:tc>
                <a:tc>
                  <a:txBody>
                    <a:bodyPr wrap="square"/>
                    <a:lstStyle/>
                    <a:p>
                      <a:pPr>
                        <a:spcAft>
                          <a:spcPts val="0"/>
                        </a:spcAft>
                      </a:pPr>
                      <a:r>
                        <a:rPr sz="950" b="1">
                          <a:solidFill>
                            <a:srgbClr val="FFFFFF"/>
                          </a:solidFill>
                          <a:latin typeface="Calibri"/>
                        </a:rPr>
                        <a:t>Conformal &amp; runtime verification</a:t>
                      </a:r>
                    </a:p>
                  </a:txBody>
                  <a:tcPr marL="73152" marR="73152" marT="18288" marB="18288" anchor="ctr">
                    <a:solidFill>
                      <a:srgbClr val="065A82"/>
                    </a:solidFill>
                  </a:tcPr>
                </a:tc>
                <a:tc>
                  <a:txBody>
                    <a:bodyPr wrap="square"/>
                    <a:lstStyle/>
                    <a:p>
                      <a:pPr>
                        <a:spcAft>
                          <a:spcPts val="0"/>
                        </a:spcAft>
                      </a:pPr>
                      <a:r>
                        <a:rPr sz="950" b="1">
                          <a:solidFill>
                            <a:srgbClr val="FFFFFF"/>
                          </a:solidFill>
                          <a:latin typeface="Calibri"/>
                        </a:rPr>
                        <a:t>ASTRA's position</a:t>
                      </a:r>
                    </a:p>
                  </a:txBody>
                  <a:tcPr marL="73152" marR="73152" marT="18288" marB="18288" anchor="ctr">
                    <a:solidFill>
                      <a:srgbClr val="065A82"/>
                    </a:solidFill>
                  </a:tcPr>
                </a:tc>
              </a:tr>
              <a:tr h="566928">
                <a:tc>
                  <a:txBody>
                    <a:bodyPr wrap="square"/>
                    <a:lstStyle/>
                    <a:p>
                      <a:pPr>
                        <a:spcAft>
                          <a:spcPts val="0"/>
                        </a:spcAft>
                      </a:pPr>
                      <a:r>
                        <a:rPr sz="1000" b="0">
                          <a:solidFill>
                            <a:srgbClr val="1A2233"/>
                          </a:solidFill>
                          <a:latin typeface="Calibri"/>
                        </a:rPr>
                        <a:t>Question asked</a:t>
                      </a:r>
                    </a:p>
                  </a:txBody>
                  <a:tcPr marL="73152" marR="73152" marT="18288" marB="18288" anchor="ctr">
                    <a:solidFill>
                      <a:srgbClr val="FFFFFF"/>
                    </a:solidFill>
                  </a:tcPr>
                </a:tc>
                <a:tc>
                  <a:txBody>
                    <a:bodyPr wrap="square"/>
                    <a:lstStyle/>
                    <a:p>
                      <a:pPr>
                        <a:spcAft>
                          <a:spcPts val="0"/>
                        </a:spcAft>
                      </a:pPr>
                      <a:r>
                        <a:rPr sz="1000" b="0">
                          <a:solidFill>
                            <a:srgbClr val="1A2233"/>
                          </a:solidFill>
                          <a:latin typeface="Calibri"/>
                        </a:rPr>
                        <a:t>Is a fault present now?</a:t>
                      </a:r>
                    </a:p>
                  </a:txBody>
                  <a:tcPr marL="73152" marR="73152" marT="18288" marB="18288" anchor="ctr">
                    <a:solidFill>
                      <a:srgbClr val="FFFFFF"/>
                    </a:solidFill>
                  </a:tcPr>
                </a:tc>
                <a:tc>
                  <a:txBody>
                    <a:bodyPr wrap="square"/>
                    <a:lstStyle/>
                    <a:p>
                      <a:pPr>
                        <a:spcAft>
                          <a:spcPts val="0"/>
                        </a:spcAft>
                      </a:pPr>
                      <a:r>
                        <a:rPr sz="1000" b="0">
                          <a:solidFill>
                            <a:srgbClr val="1A2233"/>
                          </a:solidFill>
                          <a:latin typeface="Calibri"/>
                        </a:rPr>
                        <a:t>Is this observation conformal to calibration?</a:t>
                      </a:r>
                    </a:p>
                  </a:txBody>
                  <a:tcPr marL="73152" marR="73152" marT="18288" marB="18288" anchor="ctr">
                    <a:solidFill>
                      <a:srgbClr val="FFFFFF"/>
                    </a:solidFill>
                  </a:tcPr>
                </a:tc>
                <a:tc>
                  <a:txBody>
                    <a:bodyPr wrap="square"/>
                    <a:lstStyle/>
                    <a:p>
                      <a:pPr>
                        <a:spcAft>
                          <a:spcPts val="0"/>
                        </a:spcAft>
                      </a:pPr>
                      <a:r>
                        <a:rPr sz="1000" b="0">
                          <a:solidFill>
                            <a:srgbClr val="1A2233"/>
                          </a:solidFill>
                          <a:latin typeface="Calibri"/>
                        </a:rPr>
                        <a:t>Where does the evidence stop being usable?</a:t>
                      </a:r>
                    </a:p>
                  </a:txBody>
                  <a:tcPr marL="73152" marR="73152" marT="18288" marB="18288" anchor="ctr">
                    <a:solidFill>
                      <a:srgbClr val="FFFFFF"/>
                    </a:solidFill>
                  </a:tcPr>
                </a:tc>
              </a:tr>
              <a:tr h="566928">
                <a:tc>
                  <a:txBody>
                    <a:bodyPr wrap="square"/>
                    <a:lstStyle/>
                    <a:p>
                      <a:pPr>
                        <a:spcAft>
                          <a:spcPts val="0"/>
                        </a:spcAft>
                      </a:pPr>
                      <a:r>
                        <a:rPr sz="1000" b="0">
                          <a:solidFill>
                            <a:srgbClr val="1A2233"/>
                          </a:solidFill>
                          <a:latin typeface="Calibri"/>
                        </a:rPr>
                        <a:t>Output</a:t>
                      </a:r>
                    </a:p>
                  </a:txBody>
                  <a:tcPr marL="73152" marR="73152" marT="18288" marB="18288" anchor="ctr">
                    <a:solidFill>
                      <a:srgbClr val="EFF4F8"/>
                    </a:solidFill>
                  </a:tcPr>
                </a:tc>
                <a:tc>
                  <a:txBody>
                    <a:bodyPr wrap="square"/>
                    <a:lstStyle/>
                    <a:p>
                      <a:pPr>
                        <a:spcAft>
                          <a:spcPts val="0"/>
                        </a:spcAft>
                      </a:pPr>
                      <a:r>
                        <a:rPr sz="1000" b="0">
                          <a:solidFill>
                            <a:srgbClr val="1A2233"/>
                          </a:solidFill>
                          <a:latin typeface="Calibri"/>
                        </a:rPr>
                        <a:t>binary flag per detector</a:t>
                      </a:r>
                    </a:p>
                  </a:txBody>
                  <a:tcPr marL="73152" marR="73152" marT="18288" marB="18288" anchor="ctr">
                    <a:solidFill>
                      <a:srgbClr val="EFF4F8"/>
                    </a:solidFill>
                  </a:tcPr>
                </a:tc>
                <a:tc>
                  <a:txBody>
                    <a:bodyPr wrap="square"/>
                    <a:lstStyle/>
                    <a:p>
                      <a:pPr>
                        <a:spcAft>
                          <a:spcPts val="0"/>
                        </a:spcAft>
                      </a:pPr>
                      <a:r>
                        <a:rPr sz="1000" b="0">
                          <a:solidFill>
                            <a:srgbClr val="1A2233"/>
                          </a:solidFill>
                          <a:latin typeface="Calibri"/>
                        </a:rPr>
                        <a:t>prediction set or alarm</a:t>
                      </a:r>
                    </a:p>
                  </a:txBody>
                  <a:tcPr marL="73152" marR="73152" marT="18288" marB="18288" anchor="ctr">
                    <a:solidFill>
                      <a:srgbClr val="EFF4F8"/>
                    </a:solidFill>
                  </a:tcPr>
                </a:tc>
                <a:tc>
                  <a:txBody>
                    <a:bodyPr wrap="square"/>
                    <a:lstStyle/>
                    <a:p>
                      <a:pPr>
                        <a:spcAft>
                          <a:spcPts val="0"/>
                        </a:spcAft>
                      </a:pPr>
                      <a:r>
                        <a:rPr sz="1000" b="0">
                          <a:solidFill>
                            <a:srgbClr val="1A2233"/>
                          </a:solidFill>
                          <a:latin typeface="Calibri"/>
                        </a:rPr>
                        <a:t>a per-stage evidence profile D_f</a:t>
                      </a:r>
                    </a:p>
                  </a:txBody>
                  <a:tcPr marL="73152" marR="73152" marT="18288" marB="18288" anchor="ctr">
                    <a:solidFill>
                      <a:srgbClr val="EFF4F8"/>
                    </a:solidFill>
                  </a:tcPr>
                </a:tc>
              </a:tr>
              <a:tr h="566928">
                <a:tc>
                  <a:txBody>
                    <a:bodyPr wrap="square"/>
                    <a:lstStyle/>
                    <a:p>
                      <a:pPr>
                        <a:spcAft>
                          <a:spcPts val="0"/>
                        </a:spcAft>
                      </a:pPr>
                      <a:r>
                        <a:rPr sz="1000" b="0">
                          <a:solidFill>
                            <a:srgbClr val="1A2233"/>
                          </a:solidFill>
                          <a:latin typeface="Calibri"/>
                        </a:rPr>
                        <a:t>Placement of monitors</a:t>
                      </a:r>
                    </a:p>
                  </a:txBody>
                  <a:tcPr marL="73152" marR="73152" marT="18288" marB="18288" anchor="ctr">
                    <a:solidFill>
                      <a:srgbClr val="FFFFFF"/>
                    </a:solidFill>
                  </a:tcPr>
                </a:tc>
                <a:tc>
                  <a:txBody>
                    <a:bodyPr wrap="square"/>
                    <a:lstStyle/>
                    <a:p>
                      <a:pPr>
                        <a:spcAft>
                          <a:spcPts val="0"/>
                        </a:spcAft>
                      </a:pPr>
                      <a:r>
                        <a:rPr sz="1000" b="0">
                          <a:solidFill>
                            <a:srgbClr val="1A2233"/>
                          </a:solidFill>
                          <a:latin typeface="Calibri"/>
                        </a:rPr>
                        <a:t>engineering convention or intuition</a:t>
                      </a:r>
                    </a:p>
                  </a:txBody>
                  <a:tcPr marL="73152" marR="73152" marT="18288" marB="18288" anchor="ctr">
                    <a:solidFill>
                      <a:srgbClr val="FFFFFF"/>
                    </a:solidFill>
                  </a:tcPr>
                </a:tc>
                <a:tc>
                  <a:txBody>
                    <a:bodyPr wrap="square"/>
                    <a:lstStyle/>
                    <a:p>
                      <a:pPr>
                        <a:spcAft>
                          <a:spcPts val="0"/>
                        </a:spcAft>
                      </a:pPr>
                      <a:r>
                        <a:rPr sz="1000" b="0">
                          <a:solidFill>
                            <a:srgbClr val="1A2233"/>
                          </a:solidFill>
                          <a:latin typeface="Calibri"/>
                        </a:rPr>
                        <a:t>wherever the score is defined</a:t>
                      </a:r>
                    </a:p>
                  </a:txBody>
                  <a:tcPr marL="73152" marR="73152" marT="18288" marB="18288" anchor="ctr">
                    <a:solidFill>
                      <a:srgbClr val="FFFFFF"/>
                    </a:solidFill>
                  </a:tcPr>
                </a:tc>
                <a:tc>
                  <a:txBody>
                    <a:bodyPr wrap="square"/>
                    <a:lstStyle/>
                    <a:p>
                      <a:pPr>
                        <a:spcAft>
                          <a:spcPts val="0"/>
                        </a:spcAft>
                      </a:pPr>
                      <a:r>
                        <a:rPr sz="1000" b="0">
                          <a:solidFill>
                            <a:srgbClr val="1A2233"/>
                          </a:solidFill>
                          <a:latin typeface="Calibri"/>
                        </a:rPr>
                        <a:t>proposed to follow measured observability</a:t>
                      </a:r>
                    </a:p>
                  </a:txBody>
                  <a:tcPr marL="73152" marR="73152" marT="18288" marB="18288" anchor="ctr">
                    <a:solidFill>
                      <a:srgbClr val="FFFFFF"/>
                    </a:solidFill>
                  </a:tcPr>
                </a:tc>
              </a:tr>
              <a:tr h="566928">
                <a:tc>
                  <a:txBody>
                    <a:bodyPr wrap="square"/>
                    <a:lstStyle/>
                    <a:p>
                      <a:pPr>
                        <a:spcAft>
                          <a:spcPts val="0"/>
                        </a:spcAft>
                      </a:pPr>
                      <a:r>
                        <a:rPr sz="1000" b="0">
                          <a:solidFill>
                            <a:srgbClr val="1A2233"/>
                          </a:solidFill>
                          <a:latin typeface="Calibri"/>
                        </a:rPr>
                        <a:t>Treatment of the estimator</a:t>
                      </a:r>
                    </a:p>
                  </a:txBody>
                  <a:tcPr marL="73152" marR="73152" marT="18288" marB="18288" anchor="ctr">
                    <a:solidFill>
                      <a:srgbClr val="EFF4F8"/>
                    </a:solidFill>
                  </a:tcPr>
                </a:tc>
                <a:tc>
                  <a:txBody>
                    <a:bodyPr wrap="square"/>
                    <a:lstStyle/>
                    <a:p>
                      <a:pPr>
                        <a:spcAft>
                          <a:spcPts val="0"/>
                        </a:spcAft>
                      </a:pPr>
                      <a:r>
                        <a:rPr sz="1000" b="0">
                          <a:solidFill>
                            <a:srgbClr val="1A2233"/>
                          </a:solidFill>
                          <a:latin typeface="Calibri"/>
                        </a:rPr>
                        <a:t>residuals treated as the signal</a:t>
                      </a:r>
                    </a:p>
                  </a:txBody>
                  <a:tcPr marL="73152" marR="73152" marT="18288" marB="18288" anchor="ctr">
                    <a:solidFill>
                      <a:srgbClr val="EFF4F8"/>
                    </a:solidFill>
                  </a:tcPr>
                </a:tc>
                <a:tc>
                  <a:txBody>
                    <a:bodyPr wrap="square"/>
                    <a:lstStyle/>
                    <a:p>
                      <a:pPr>
                        <a:spcAft>
                          <a:spcPts val="0"/>
                        </a:spcAft>
                      </a:pPr>
                      <a:r>
                        <a:rPr sz="1000" b="0">
                          <a:solidFill>
                            <a:srgbClr val="1A2233"/>
                          </a:solidFill>
                          <a:latin typeface="Calibri"/>
                        </a:rPr>
                        <a:t>estimator usually outside scope</a:t>
                      </a:r>
                    </a:p>
                  </a:txBody>
                  <a:tcPr marL="73152" marR="73152" marT="18288" marB="18288" anchor="ctr">
                    <a:solidFill>
                      <a:srgbClr val="EFF4F8"/>
                    </a:solidFill>
                  </a:tcPr>
                </a:tc>
                <a:tc>
                  <a:txBody>
                    <a:bodyPr wrap="square"/>
                    <a:lstStyle/>
                    <a:p>
                      <a:pPr>
                        <a:spcAft>
                          <a:spcPts val="0"/>
                        </a:spcAft>
                      </a:pPr>
                      <a:r>
                        <a:rPr sz="1000" b="0">
                          <a:solidFill>
                            <a:srgbClr val="1A2233"/>
                          </a:solidFill>
                          <a:latin typeface="Calibri"/>
                        </a:rPr>
                        <a:t>estimator treated as a transformation that can remove evidence</a:t>
                      </a:r>
                    </a:p>
                  </a:txBody>
                  <a:tcPr marL="73152" marR="73152" marT="18288" marB="18288" anchor="ctr">
                    <a:solidFill>
                      <a:srgbClr val="EFF4F8"/>
                    </a:solidFill>
                  </a:tcPr>
                </a:tc>
              </a:tr>
              <a:tr h="566928">
                <a:tc>
                  <a:txBody>
                    <a:bodyPr wrap="square"/>
                    <a:lstStyle/>
                    <a:p>
                      <a:pPr>
                        <a:spcAft>
                          <a:spcPts val="0"/>
                        </a:spcAft>
                      </a:pPr>
                      <a:r>
                        <a:rPr sz="1000" b="0">
                          <a:solidFill>
                            <a:srgbClr val="1A2233"/>
                          </a:solidFill>
                          <a:latin typeface="Calibri"/>
                        </a:rPr>
                        <a:t>Failure reporting</a:t>
                      </a:r>
                    </a:p>
                  </a:txBody>
                  <a:tcPr marL="73152" marR="73152" marT="18288" marB="18288" anchor="ctr">
                    <a:solidFill>
                      <a:srgbClr val="FFFFFF"/>
                    </a:solidFill>
                  </a:tcPr>
                </a:tc>
                <a:tc>
                  <a:txBody>
                    <a:bodyPr wrap="square"/>
                    <a:lstStyle/>
                    <a:p>
                      <a:pPr>
                        <a:spcAft>
                          <a:spcPts val="0"/>
                        </a:spcAft>
                      </a:pPr>
                      <a:r>
                        <a:rPr sz="1000" b="0">
                          <a:solidFill>
                            <a:srgbClr val="1A2233"/>
                          </a:solidFill>
                          <a:latin typeface="Calibri"/>
                        </a:rPr>
                        <a:t>missed detection / false alarm rates</a:t>
                      </a:r>
                    </a:p>
                  </a:txBody>
                  <a:tcPr marL="73152" marR="73152" marT="18288" marB="18288" anchor="ctr">
                    <a:solidFill>
                      <a:srgbClr val="FFFFFF"/>
                    </a:solidFill>
                  </a:tcPr>
                </a:tc>
                <a:tc>
                  <a:txBody>
                    <a:bodyPr wrap="square"/>
                    <a:lstStyle/>
                    <a:p>
                      <a:pPr>
                        <a:spcAft>
                          <a:spcPts val="0"/>
                        </a:spcAft>
                      </a:pPr>
                      <a:r>
                        <a:rPr sz="1000" b="0">
                          <a:solidFill>
                            <a:srgbClr val="1A2233"/>
                          </a:solidFill>
                          <a:latin typeface="Calibri"/>
                        </a:rPr>
                        <a:t>coverage guarantee</a:t>
                      </a:r>
                    </a:p>
                  </a:txBody>
                  <a:tcPr marL="73152" marR="73152" marT="18288" marB="18288" anchor="ctr">
                    <a:solidFill>
                      <a:srgbClr val="FFFFFF"/>
                    </a:solidFill>
                  </a:tcPr>
                </a:tc>
                <a:tc>
                  <a:txBody>
                    <a:bodyPr wrap="square"/>
                    <a:lstStyle/>
                    <a:p>
                      <a:pPr>
                        <a:spcAft>
                          <a:spcPts val="0"/>
                        </a:spcAft>
                      </a:pPr>
                      <a:r>
                        <a:rPr sz="1000" b="0">
                          <a:solidFill>
                            <a:srgbClr val="1A2233"/>
                          </a:solidFill>
                          <a:latin typeface="Calibri"/>
                        </a:rPr>
                        <a:t>adds: does the gate have the dynamic range to fire at all?</a:t>
                      </a:r>
                    </a:p>
                  </a:txBody>
                  <a:tcPr marL="73152" marR="73152" marT="18288" marB="18288" anchor="ctr">
                    <a:solidFill>
                      <a:srgbClr val="FFFFFF"/>
                    </a:solidFill>
                  </a:tcPr>
                </a:tc>
              </a:tr>
              <a:tr h="566928">
                <a:tc>
                  <a:txBody>
                    <a:bodyPr wrap="square"/>
                    <a:lstStyle/>
                    <a:p>
                      <a:pPr>
                        <a:spcAft>
                          <a:spcPts val="0"/>
                        </a:spcAft>
                      </a:pPr>
                      <a:r>
                        <a:rPr sz="1000" b="0">
                          <a:solidFill>
                            <a:srgbClr val="1A2233"/>
                          </a:solidFill>
                          <a:latin typeface="Calibri"/>
                        </a:rPr>
                        <a:t>What we add</a:t>
                      </a:r>
                    </a:p>
                  </a:txBody>
                  <a:tcPr marL="73152" marR="73152" marT="18288" marB="18288" anchor="ctr">
                    <a:solidFill>
                      <a:srgbClr val="EFF4F8"/>
                    </a:solidFill>
                  </a:tcPr>
                </a:tc>
                <a:tc>
                  <a:txBody>
                    <a:bodyPr wrap="square"/>
                    <a:lstStyle/>
                    <a:p>
                      <a:pPr>
                        <a:spcAft>
                          <a:spcPts val="0"/>
                        </a:spcAft>
                      </a:pPr>
                      <a:r>
                        <a:rPr sz="1000" b="0">
                          <a:solidFill>
                            <a:srgbClr val="1A2233"/>
                          </a:solidFill>
                          <a:latin typeface="Calibri"/>
                        </a:rPr>
                        <a:t>—</a:t>
                      </a:r>
                    </a:p>
                  </a:txBody>
                  <a:tcPr marL="73152" marR="73152" marT="18288" marB="18288" anchor="ctr">
                    <a:solidFill>
                      <a:srgbClr val="EFF4F8"/>
                    </a:solidFill>
                  </a:tcPr>
                </a:tc>
                <a:tc>
                  <a:txBody>
                    <a:bodyPr wrap="square"/>
                    <a:lstStyle/>
                    <a:p>
                      <a:pPr>
                        <a:spcAft>
                          <a:spcPts val="0"/>
                        </a:spcAft>
                      </a:pPr>
                      <a:r>
                        <a:rPr sz="1000" b="0">
                          <a:solidFill>
                            <a:srgbClr val="1A2233"/>
                          </a:solidFill>
                          <a:latin typeface="Calibri"/>
                        </a:rPr>
                        <a:t>—</a:t>
                      </a:r>
                    </a:p>
                  </a:txBody>
                  <a:tcPr marL="73152" marR="73152" marT="18288" marB="18288" anchor="ctr">
                    <a:solidFill>
                      <a:srgbClr val="EFF4F8"/>
                    </a:solidFill>
                  </a:tcPr>
                </a:tc>
                <a:tc>
                  <a:txBody>
                    <a:bodyPr wrap="square"/>
                    <a:lstStyle/>
                    <a:p>
                      <a:pPr>
                        <a:spcAft>
                          <a:spcPts val="0"/>
                        </a:spcAft>
                      </a:pPr>
                      <a:r>
                        <a:rPr sz="1000" b="0">
                          <a:solidFill>
                            <a:srgbClr val="1A2233"/>
                          </a:solidFill>
                          <a:latin typeface="Calibri"/>
                        </a:rPr>
                        <a:t>a measured separation of discriminability, calibration validity and operational stability</a:t>
                      </a:r>
                    </a:p>
                  </a:txBody>
                  <a:tcPr marL="73152" marR="73152" marT="18288" marB="18288" anchor="ctr">
                    <a:solidFill>
                      <a:srgbClr val="EFF4F8"/>
                    </a:solidFill>
                  </a:tcPr>
                </a:tc>
              </a:tr>
            </a:tbl>
          </a:graphicData>
        </a:graphic>
      </p:graphicFrame>
      <p:sp>
        <p:nvSpPr>
          <p:cNvPr id="5" name="Rectangle 4"/>
          <p:cNvSpPr/>
          <p:nvPr/>
        </p:nvSpPr>
        <p:spPr>
          <a:xfrm>
            <a:off x="640080" y="5559552"/>
            <a:ext cx="10881360" cy="713232"/>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5705856"/>
            <a:ext cx="10479024" cy="438912"/>
          </a:xfrm>
          <a:prstGeom prst="rect">
            <a:avLst/>
          </a:prstGeom>
          <a:noFill/>
        </p:spPr>
        <p:txBody>
          <a:bodyPr wrap="square" anchor="t" lIns="0" rIns="0" tIns="0" bIns="0">
            <a:spAutoFit/>
          </a:bodyPr>
          <a:lstStyle/>
          <a:p>
            <a:pPr algn="l">
              <a:spcAft>
                <a:spcPts val="700"/>
              </a:spcAft>
            </a:pPr>
            <a:r>
              <a:rPr sz="1150" b="1" i="0">
                <a:solidFill>
                  <a:srgbClr val="065A82"/>
                </a:solidFill>
                <a:latin typeface="Cambria"/>
              </a:rPr>
              <a:t>The distinction the project has actually demonstrated</a:t>
            </a:r>
          </a:p>
          <a:p>
            <a:pPr algn="l">
              <a:spcAft>
                <a:spcPts val="500"/>
              </a:spcAft>
            </a:pPr>
            <a:r>
              <a:rPr sz="1050" b="1" i="0">
                <a:solidFill>
                  <a:srgbClr val="1A2233"/>
                </a:solidFill>
                <a:latin typeface="Calibri"/>
              </a:rPr>
              <a:t>Statistical discriminability, calibration validity, and operational stability are three different properties. This system has the first without the third — measured, not argued.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10881360" cy="237744"/>
          </a:xfrm>
          <a:prstGeom prst="rect">
            <a:avLst/>
          </a:prstGeom>
          <a:noFill/>
        </p:spPr>
        <p:txBody>
          <a:bodyPr wrap="square" anchor="t" lIns="0" rIns="0" tIns="0" bIns="0">
            <a:spAutoFit/>
          </a:bodyPr>
          <a:lstStyle/>
          <a:p>
            <a:pPr algn="l">
              <a:spcAft>
                <a:spcPts val="0"/>
              </a:spcAft>
            </a:pPr>
            <a:r>
              <a:rPr sz="1000" b="1" i="0">
                <a:solidFill>
                  <a:srgbClr val="1C7293"/>
                </a:solidFill>
                <a:latin typeface="Calibri"/>
              </a:rPr>
              <a:t>PROGRESS</a:t>
            </a:r>
          </a:p>
        </p:txBody>
      </p:sp>
      <p:sp>
        <p:nvSpPr>
          <p:cNvPr id="3" name="TextBox 2"/>
          <p:cNvSpPr txBox="1"/>
          <p:nvPr/>
        </p:nvSpPr>
        <p:spPr>
          <a:xfrm>
            <a:off x="640080" y="603504"/>
            <a:ext cx="10881360" cy="566928"/>
          </a:xfrm>
          <a:prstGeom prst="rect">
            <a:avLst/>
          </a:prstGeom>
          <a:noFill/>
        </p:spPr>
        <p:txBody>
          <a:bodyPr wrap="square" anchor="t" lIns="0" rIns="0" tIns="0" bIns="0">
            <a:spAutoFit/>
          </a:bodyPr>
          <a:lstStyle/>
          <a:p>
            <a:pPr algn="l">
              <a:spcAft>
                <a:spcPts val="0"/>
              </a:spcAft>
            </a:pPr>
            <a:r>
              <a:rPr sz="3200" b="1" i="0">
                <a:solidFill>
                  <a:srgbClr val="1A2233"/>
                </a:solidFill>
                <a:latin typeface="Cambria"/>
              </a:rPr>
              <a:t>Implementation roadmap and where we stand</a:t>
            </a:r>
          </a:p>
        </p:txBody>
      </p:sp>
      <p:sp>
        <p:nvSpPr>
          <p:cNvPr id="4" name="TextBox 3"/>
          <p:cNvSpPr txBox="1"/>
          <p:nvPr/>
        </p:nvSpPr>
        <p:spPr>
          <a:xfrm>
            <a:off x="640080" y="1508760"/>
            <a:ext cx="1051560" cy="256032"/>
          </a:xfrm>
          <a:prstGeom prst="rect">
            <a:avLst/>
          </a:prstGeom>
          <a:noFill/>
        </p:spPr>
        <p:txBody>
          <a:bodyPr wrap="square" anchor="t" lIns="0" rIns="0" tIns="0" bIns="0">
            <a:spAutoFit/>
          </a:bodyPr>
          <a:lstStyle/>
          <a:p>
            <a:pPr algn="l">
              <a:spcAft>
                <a:spcPts val="0"/>
              </a:spcAft>
            </a:pPr>
            <a:r>
              <a:rPr sz="1100" b="1" i="0">
                <a:solidFill>
                  <a:srgbClr val="1A2233"/>
                </a:solidFill>
                <a:latin typeface="Cambria"/>
              </a:rPr>
              <a:t>E17</a:t>
            </a:r>
          </a:p>
        </p:txBody>
      </p:sp>
      <p:sp>
        <p:nvSpPr>
          <p:cNvPr id="5" name="TextBox 4"/>
          <p:cNvSpPr txBox="1"/>
          <p:nvPr/>
        </p:nvSpPr>
        <p:spPr>
          <a:xfrm>
            <a:off x="1691640" y="1517904"/>
            <a:ext cx="1554480" cy="256032"/>
          </a:xfrm>
          <a:prstGeom prst="rect">
            <a:avLst/>
          </a:prstGeom>
          <a:noFill/>
        </p:spPr>
        <p:txBody>
          <a:bodyPr wrap="square" anchor="t" lIns="0" rIns="0" tIns="0" bIns="0">
            <a:spAutoFit/>
          </a:bodyPr>
          <a:lstStyle/>
          <a:p>
            <a:pPr algn="l">
              <a:spcAft>
                <a:spcPts val="0"/>
              </a:spcAft>
            </a:pPr>
            <a:r>
              <a:rPr sz="1000" b="0" i="0">
                <a:solidFill>
                  <a:srgbClr val="455566"/>
                </a:solidFill>
                <a:latin typeface="Calibri"/>
              </a:rPr>
              <a:t>Fault observability</a:t>
            </a:r>
          </a:p>
        </p:txBody>
      </p:sp>
      <p:sp>
        <p:nvSpPr>
          <p:cNvPr id="6" name="Rectangle 5"/>
          <p:cNvSpPr/>
          <p:nvPr/>
        </p:nvSpPr>
        <p:spPr>
          <a:xfrm>
            <a:off x="3291840" y="1499616"/>
            <a:ext cx="5303520" cy="219456"/>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91840" y="1499616"/>
            <a:ext cx="5303520" cy="219456"/>
          </a:xfrm>
          <a:prstGeom prst="rect">
            <a:avLst/>
          </a:prstGeom>
          <a:solidFill>
            <a:srgbClr val="1E6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796528" y="1499616"/>
            <a:ext cx="790041" cy="228600"/>
          </a:xfrm>
          <a:prstGeom prst="roundRect">
            <a:avLst/>
          </a:prstGeom>
          <a:solidFill>
            <a:srgbClr val="1E6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COMPLETE</a:t>
            </a:r>
          </a:p>
        </p:txBody>
      </p:sp>
      <p:sp>
        <p:nvSpPr>
          <p:cNvPr id="9" name="TextBox 8"/>
          <p:cNvSpPr txBox="1"/>
          <p:nvPr/>
        </p:nvSpPr>
        <p:spPr>
          <a:xfrm>
            <a:off x="640080" y="1819656"/>
            <a:ext cx="1051560" cy="256032"/>
          </a:xfrm>
          <a:prstGeom prst="rect">
            <a:avLst/>
          </a:prstGeom>
          <a:noFill/>
        </p:spPr>
        <p:txBody>
          <a:bodyPr wrap="square" anchor="t" lIns="0" rIns="0" tIns="0" bIns="0">
            <a:spAutoFit/>
          </a:bodyPr>
          <a:lstStyle/>
          <a:p>
            <a:pPr algn="l">
              <a:spcAft>
                <a:spcPts val="0"/>
              </a:spcAft>
            </a:pPr>
            <a:r>
              <a:rPr sz="1100" b="1" i="0">
                <a:solidFill>
                  <a:srgbClr val="1A2233"/>
                </a:solidFill>
                <a:latin typeface="Cambria"/>
              </a:rPr>
              <a:t>E17-P</a:t>
            </a:r>
          </a:p>
        </p:txBody>
      </p:sp>
      <p:sp>
        <p:nvSpPr>
          <p:cNvPr id="10" name="TextBox 9"/>
          <p:cNvSpPr txBox="1"/>
          <p:nvPr/>
        </p:nvSpPr>
        <p:spPr>
          <a:xfrm>
            <a:off x="1691640" y="1828800"/>
            <a:ext cx="1554480" cy="256032"/>
          </a:xfrm>
          <a:prstGeom prst="rect">
            <a:avLst/>
          </a:prstGeom>
          <a:noFill/>
        </p:spPr>
        <p:txBody>
          <a:bodyPr wrap="square" anchor="t" lIns="0" rIns="0" tIns="0" bIns="0">
            <a:spAutoFit/>
          </a:bodyPr>
          <a:lstStyle/>
          <a:p>
            <a:pPr algn="l">
              <a:spcAft>
                <a:spcPts val="0"/>
              </a:spcAft>
            </a:pPr>
            <a:r>
              <a:rPr sz="1000" b="0" i="0">
                <a:solidFill>
                  <a:srgbClr val="455566"/>
                </a:solidFill>
                <a:latin typeface="Calibri"/>
              </a:rPr>
              <a:t>Corrected position injection</a:t>
            </a:r>
          </a:p>
        </p:txBody>
      </p:sp>
      <p:sp>
        <p:nvSpPr>
          <p:cNvPr id="11" name="Rectangle 10"/>
          <p:cNvSpPr/>
          <p:nvPr/>
        </p:nvSpPr>
        <p:spPr>
          <a:xfrm>
            <a:off x="3291840" y="1810512"/>
            <a:ext cx="5303520" cy="219456"/>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91840" y="1810512"/>
            <a:ext cx="5303520" cy="219456"/>
          </a:xfrm>
          <a:prstGeom prst="rect">
            <a:avLst/>
          </a:prstGeom>
          <a:solidFill>
            <a:srgbClr val="1E6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796528" y="1810512"/>
            <a:ext cx="790041" cy="228600"/>
          </a:xfrm>
          <a:prstGeom prst="roundRect">
            <a:avLst/>
          </a:prstGeom>
          <a:solidFill>
            <a:srgbClr val="1E6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COMPLETE</a:t>
            </a:r>
          </a:p>
        </p:txBody>
      </p:sp>
      <p:sp>
        <p:nvSpPr>
          <p:cNvPr id="14" name="TextBox 13"/>
          <p:cNvSpPr txBox="1"/>
          <p:nvPr/>
        </p:nvSpPr>
        <p:spPr>
          <a:xfrm>
            <a:off x="640080" y="2130552"/>
            <a:ext cx="1051560" cy="256032"/>
          </a:xfrm>
          <a:prstGeom prst="rect">
            <a:avLst/>
          </a:prstGeom>
          <a:noFill/>
        </p:spPr>
        <p:txBody>
          <a:bodyPr wrap="square" anchor="t" lIns="0" rIns="0" tIns="0" bIns="0">
            <a:spAutoFit/>
          </a:bodyPr>
          <a:lstStyle/>
          <a:p>
            <a:pPr algn="l">
              <a:spcAft>
                <a:spcPts val="0"/>
              </a:spcAft>
            </a:pPr>
            <a:r>
              <a:rPr sz="1100" b="1" i="0">
                <a:solidFill>
                  <a:srgbClr val="1A2233"/>
                </a:solidFill>
                <a:latin typeface="Cambria"/>
              </a:rPr>
              <a:t>E18</a:t>
            </a:r>
          </a:p>
        </p:txBody>
      </p:sp>
      <p:sp>
        <p:nvSpPr>
          <p:cNvPr id="15" name="TextBox 14"/>
          <p:cNvSpPr txBox="1"/>
          <p:nvPr/>
        </p:nvSpPr>
        <p:spPr>
          <a:xfrm>
            <a:off x="1691640" y="2139696"/>
            <a:ext cx="1554480" cy="256032"/>
          </a:xfrm>
          <a:prstGeom prst="rect">
            <a:avLst/>
          </a:prstGeom>
          <a:noFill/>
        </p:spPr>
        <p:txBody>
          <a:bodyPr wrap="square" anchor="t" lIns="0" rIns="0" tIns="0" bIns="0">
            <a:spAutoFit/>
          </a:bodyPr>
          <a:lstStyle/>
          <a:p>
            <a:pPr algn="l">
              <a:spcAft>
                <a:spcPts val="0"/>
              </a:spcAft>
            </a:pPr>
            <a:r>
              <a:rPr sz="1000" b="0" i="0">
                <a:solidFill>
                  <a:srgbClr val="455566"/>
                </a:solidFill>
                <a:latin typeface="Calibri"/>
              </a:rPr>
              <a:t>OD-8 calibration</a:t>
            </a:r>
          </a:p>
        </p:txBody>
      </p:sp>
      <p:sp>
        <p:nvSpPr>
          <p:cNvPr id="16" name="Rectangle 15"/>
          <p:cNvSpPr/>
          <p:nvPr/>
        </p:nvSpPr>
        <p:spPr>
          <a:xfrm>
            <a:off x="3291840" y="2121408"/>
            <a:ext cx="5303520" cy="219456"/>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91840" y="2121408"/>
            <a:ext cx="5303520" cy="219456"/>
          </a:xfrm>
          <a:prstGeom prst="rect">
            <a:avLst/>
          </a:prstGeom>
          <a:solidFill>
            <a:srgbClr val="1E6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796528" y="2121408"/>
            <a:ext cx="790041" cy="228600"/>
          </a:xfrm>
          <a:prstGeom prst="roundRect">
            <a:avLst/>
          </a:prstGeom>
          <a:solidFill>
            <a:srgbClr val="1E6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COMPLETE</a:t>
            </a:r>
          </a:p>
        </p:txBody>
      </p:sp>
      <p:sp>
        <p:nvSpPr>
          <p:cNvPr id="19" name="TextBox 18"/>
          <p:cNvSpPr txBox="1"/>
          <p:nvPr/>
        </p:nvSpPr>
        <p:spPr>
          <a:xfrm>
            <a:off x="640080" y="2441448"/>
            <a:ext cx="1051560" cy="256032"/>
          </a:xfrm>
          <a:prstGeom prst="rect">
            <a:avLst/>
          </a:prstGeom>
          <a:noFill/>
        </p:spPr>
        <p:txBody>
          <a:bodyPr wrap="square" anchor="t" lIns="0" rIns="0" tIns="0" bIns="0">
            <a:spAutoFit/>
          </a:bodyPr>
          <a:lstStyle/>
          <a:p>
            <a:pPr algn="l">
              <a:spcAft>
                <a:spcPts val="0"/>
              </a:spcAft>
            </a:pPr>
            <a:r>
              <a:rPr sz="1100" b="1" i="0">
                <a:solidFill>
                  <a:srgbClr val="1A2233"/>
                </a:solidFill>
                <a:latin typeface="Cambria"/>
              </a:rPr>
              <a:t>E18-R1</a:t>
            </a:r>
          </a:p>
        </p:txBody>
      </p:sp>
      <p:sp>
        <p:nvSpPr>
          <p:cNvPr id="20" name="TextBox 19"/>
          <p:cNvSpPr txBox="1"/>
          <p:nvPr/>
        </p:nvSpPr>
        <p:spPr>
          <a:xfrm>
            <a:off x="1691640" y="2450592"/>
            <a:ext cx="1554480" cy="256032"/>
          </a:xfrm>
          <a:prstGeom prst="rect">
            <a:avLst/>
          </a:prstGeom>
          <a:noFill/>
        </p:spPr>
        <p:txBody>
          <a:bodyPr wrap="square" anchor="t" lIns="0" rIns="0" tIns="0" bIns="0">
            <a:spAutoFit/>
          </a:bodyPr>
          <a:lstStyle/>
          <a:p>
            <a:pPr algn="l">
              <a:spcAft>
                <a:spcPts val="0"/>
              </a:spcAft>
            </a:pPr>
            <a:r>
              <a:rPr sz="1000" b="0" i="0">
                <a:solidFill>
                  <a:srgbClr val="455566"/>
                </a:solidFill>
                <a:latin typeface="Calibri"/>
              </a:rPr>
              <a:t>Run-local calibration</a:t>
            </a:r>
          </a:p>
        </p:txBody>
      </p:sp>
      <p:sp>
        <p:nvSpPr>
          <p:cNvPr id="21" name="Rectangle 20"/>
          <p:cNvSpPr/>
          <p:nvPr/>
        </p:nvSpPr>
        <p:spPr>
          <a:xfrm>
            <a:off x="3291840" y="2432304"/>
            <a:ext cx="5303520" cy="219456"/>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91840" y="2432304"/>
            <a:ext cx="5303520" cy="219456"/>
          </a:xfrm>
          <a:prstGeom prst="rect">
            <a:avLst/>
          </a:prstGeom>
          <a:solidFill>
            <a:srgbClr val="1E6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796528" y="2432304"/>
            <a:ext cx="790041" cy="228600"/>
          </a:xfrm>
          <a:prstGeom prst="roundRect">
            <a:avLst/>
          </a:prstGeom>
          <a:solidFill>
            <a:srgbClr val="1E6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COMPLETE</a:t>
            </a:r>
          </a:p>
        </p:txBody>
      </p:sp>
      <p:sp>
        <p:nvSpPr>
          <p:cNvPr id="24" name="TextBox 23"/>
          <p:cNvSpPr txBox="1"/>
          <p:nvPr/>
        </p:nvSpPr>
        <p:spPr>
          <a:xfrm>
            <a:off x="640080" y="2752344"/>
            <a:ext cx="1051560" cy="256032"/>
          </a:xfrm>
          <a:prstGeom prst="rect">
            <a:avLst/>
          </a:prstGeom>
          <a:noFill/>
        </p:spPr>
        <p:txBody>
          <a:bodyPr wrap="square" anchor="t" lIns="0" rIns="0" tIns="0" bIns="0">
            <a:spAutoFit/>
          </a:bodyPr>
          <a:lstStyle/>
          <a:p>
            <a:pPr algn="l">
              <a:spcAft>
                <a:spcPts val="0"/>
              </a:spcAft>
            </a:pPr>
            <a:r>
              <a:rPr sz="1100" b="1" i="0">
                <a:solidFill>
                  <a:srgbClr val="1A2233"/>
                </a:solidFill>
                <a:latin typeface="Cambria"/>
              </a:rPr>
              <a:t>E18-R2</a:t>
            </a:r>
          </a:p>
        </p:txBody>
      </p:sp>
      <p:sp>
        <p:nvSpPr>
          <p:cNvPr id="25" name="TextBox 24"/>
          <p:cNvSpPr txBox="1"/>
          <p:nvPr/>
        </p:nvSpPr>
        <p:spPr>
          <a:xfrm>
            <a:off x="1691640" y="2761488"/>
            <a:ext cx="1554480" cy="256032"/>
          </a:xfrm>
          <a:prstGeom prst="rect">
            <a:avLst/>
          </a:prstGeom>
          <a:noFill/>
        </p:spPr>
        <p:txBody>
          <a:bodyPr wrap="square" anchor="t" lIns="0" rIns="0" tIns="0" bIns="0">
            <a:spAutoFit/>
          </a:bodyPr>
          <a:lstStyle/>
          <a:p>
            <a:pPr algn="l">
              <a:spcAft>
                <a:spcPts val="0"/>
              </a:spcAft>
            </a:pPr>
            <a:r>
              <a:rPr sz="1000" b="0" i="0">
                <a:solidFill>
                  <a:srgbClr val="455566"/>
                </a:solidFill>
                <a:latin typeface="Calibri"/>
              </a:rPr>
              <a:t>Matched-window calibration</a:t>
            </a:r>
          </a:p>
        </p:txBody>
      </p:sp>
      <p:sp>
        <p:nvSpPr>
          <p:cNvPr id="26" name="Rectangle 25"/>
          <p:cNvSpPr/>
          <p:nvPr/>
        </p:nvSpPr>
        <p:spPr>
          <a:xfrm>
            <a:off x="3291840" y="2743200"/>
            <a:ext cx="5303520" cy="219456"/>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91840" y="2743200"/>
            <a:ext cx="5303520" cy="219456"/>
          </a:xfrm>
          <a:prstGeom prst="rect">
            <a:avLst/>
          </a:prstGeom>
          <a:solidFill>
            <a:srgbClr val="1E6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796528" y="2743200"/>
            <a:ext cx="790041" cy="228600"/>
          </a:xfrm>
          <a:prstGeom prst="roundRect">
            <a:avLst/>
          </a:prstGeom>
          <a:solidFill>
            <a:srgbClr val="1E6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COMPLETE</a:t>
            </a:r>
          </a:p>
        </p:txBody>
      </p:sp>
      <p:sp>
        <p:nvSpPr>
          <p:cNvPr id="29" name="TextBox 28"/>
          <p:cNvSpPr txBox="1"/>
          <p:nvPr/>
        </p:nvSpPr>
        <p:spPr>
          <a:xfrm>
            <a:off x="640080" y="3063240"/>
            <a:ext cx="1051560" cy="256032"/>
          </a:xfrm>
          <a:prstGeom prst="rect">
            <a:avLst/>
          </a:prstGeom>
          <a:noFill/>
        </p:spPr>
        <p:txBody>
          <a:bodyPr wrap="square" anchor="t" lIns="0" rIns="0" tIns="0" bIns="0">
            <a:spAutoFit/>
          </a:bodyPr>
          <a:lstStyle/>
          <a:p>
            <a:pPr algn="l">
              <a:spcAft>
                <a:spcPts val="0"/>
              </a:spcAft>
            </a:pPr>
            <a:r>
              <a:rPr sz="1100" b="1" i="0">
                <a:solidFill>
                  <a:srgbClr val="1A2233"/>
                </a:solidFill>
                <a:latin typeface="Cambria"/>
              </a:rPr>
              <a:t>E18-R3</a:t>
            </a:r>
          </a:p>
        </p:txBody>
      </p:sp>
      <p:sp>
        <p:nvSpPr>
          <p:cNvPr id="30" name="TextBox 29"/>
          <p:cNvSpPr txBox="1"/>
          <p:nvPr/>
        </p:nvSpPr>
        <p:spPr>
          <a:xfrm>
            <a:off x="1691640" y="3072384"/>
            <a:ext cx="1554480" cy="256032"/>
          </a:xfrm>
          <a:prstGeom prst="rect">
            <a:avLst/>
          </a:prstGeom>
          <a:noFill/>
        </p:spPr>
        <p:txBody>
          <a:bodyPr wrap="square" anchor="t" lIns="0" rIns="0" tIns="0" bIns="0">
            <a:spAutoFit/>
          </a:bodyPr>
          <a:lstStyle/>
          <a:p>
            <a:pPr algn="l">
              <a:spcAft>
                <a:spcPts val="0"/>
              </a:spcAft>
            </a:pPr>
            <a:r>
              <a:rPr sz="1000" b="0" i="0">
                <a:solidFill>
                  <a:srgbClr val="455566"/>
                </a:solidFill>
                <a:latin typeface="Calibri"/>
              </a:rPr>
              <a:t>Longer evaluation windows</a:t>
            </a:r>
          </a:p>
        </p:txBody>
      </p:sp>
      <p:sp>
        <p:nvSpPr>
          <p:cNvPr id="31" name="Rectangle 30"/>
          <p:cNvSpPr/>
          <p:nvPr/>
        </p:nvSpPr>
        <p:spPr>
          <a:xfrm>
            <a:off x="3291840" y="3054096"/>
            <a:ext cx="5303520" cy="219456"/>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796528" y="3054096"/>
            <a:ext cx="468172" cy="22860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NEXT</a:t>
            </a:r>
          </a:p>
        </p:txBody>
      </p:sp>
      <p:sp>
        <p:nvSpPr>
          <p:cNvPr id="33" name="TextBox 32"/>
          <p:cNvSpPr txBox="1"/>
          <p:nvPr/>
        </p:nvSpPr>
        <p:spPr>
          <a:xfrm>
            <a:off x="640080" y="3374136"/>
            <a:ext cx="1051560" cy="256032"/>
          </a:xfrm>
          <a:prstGeom prst="rect">
            <a:avLst/>
          </a:prstGeom>
          <a:noFill/>
        </p:spPr>
        <p:txBody>
          <a:bodyPr wrap="square" anchor="t" lIns="0" rIns="0" tIns="0" bIns="0">
            <a:spAutoFit/>
          </a:bodyPr>
          <a:lstStyle/>
          <a:p>
            <a:pPr algn="l">
              <a:spcAft>
                <a:spcPts val="0"/>
              </a:spcAft>
            </a:pPr>
            <a:r>
              <a:rPr sz="1100" b="1" i="0">
                <a:solidFill>
                  <a:srgbClr val="1A2233"/>
                </a:solidFill>
                <a:latin typeface="Cambria"/>
              </a:rPr>
              <a:t>E19</a:t>
            </a:r>
          </a:p>
        </p:txBody>
      </p:sp>
      <p:sp>
        <p:nvSpPr>
          <p:cNvPr id="34" name="TextBox 33"/>
          <p:cNvSpPr txBox="1"/>
          <p:nvPr/>
        </p:nvSpPr>
        <p:spPr>
          <a:xfrm>
            <a:off x="1691640" y="3383280"/>
            <a:ext cx="1554480" cy="256032"/>
          </a:xfrm>
          <a:prstGeom prst="rect">
            <a:avLst/>
          </a:prstGeom>
          <a:noFill/>
        </p:spPr>
        <p:txBody>
          <a:bodyPr wrap="square" anchor="t" lIns="0" rIns="0" tIns="0" bIns="0">
            <a:spAutoFit/>
          </a:bodyPr>
          <a:lstStyle/>
          <a:p>
            <a:pPr algn="l">
              <a:spcAft>
                <a:spcPts val="0"/>
              </a:spcAft>
            </a:pPr>
            <a:r>
              <a:rPr sz="1000" b="0" i="0">
                <a:solidFill>
                  <a:srgbClr val="455566"/>
                </a:solidFill>
                <a:latin typeface="Calibri"/>
              </a:rPr>
              <a:t>H7 monitor placement</a:t>
            </a:r>
          </a:p>
        </p:txBody>
      </p:sp>
      <p:sp>
        <p:nvSpPr>
          <p:cNvPr id="35" name="Rectangle 34"/>
          <p:cNvSpPr/>
          <p:nvPr/>
        </p:nvSpPr>
        <p:spPr>
          <a:xfrm>
            <a:off x="3291840" y="3364992"/>
            <a:ext cx="5303520" cy="219456"/>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796528" y="3364992"/>
            <a:ext cx="709574" cy="228600"/>
          </a:xfrm>
          <a:prstGeom prst="roundRect">
            <a:avLst/>
          </a:prstGeom>
          <a:solidFill>
            <a:srgbClr val="A333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BLOCKED</a:t>
            </a:r>
          </a:p>
        </p:txBody>
      </p:sp>
      <p:sp>
        <p:nvSpPr>
          <p:cNvPr id="37" name="TextBox 36"/>
          <p:cNvSpPr txBox="1"/>
          <p:nvPr/>
        </p:nvSpPr>
        <p:spPr>
          <a:xfrm>
            <a:off x="640080" y="3685032"/>
            <a:ext cx="1051560" cy="256032"/>
          </a:xfrm>
          <a:prstGeom prst="rect">
            <a:avLst/>
          </a:prstGeom>
          <a:noFill/>
        </p:spPr>
        <p:txBody>
          <a:bodyPr wrap="square" anchor="t" lIns="0" rIns="0" tIns="0" bIns="0">
            <a:spAutoFit/>
          </a:bodyPr>
          <a:lstStyle/>
          <a:p>
            <a:pPr algn="l">
              <a:spcAft>
                <a:spcPts val="0"/>
              </a:spcAft>
            </a:pPr>
            <a:r>
              <a:rPr sz="1100" b="1" i="0">
                <a:solidFill>
                  <a:srgbClr val="1A2233"/>
                </a:solidFill>
                <a:latin typeface="Cambria"/>
              </a:rPr>
              <a:t>comma2k19</a:t>
            </a:r>
          </a:p>
        </p:txBody>
      </p:sp>
      <p:sp>
        <p:nvSpPr>
          <p:cNvPr id="38" name="TextBox 37"/>
          <p:cNvSpPr txBox="1"/>
          <p:nvPr/>
        </p:nvSpPr>
        <p:spPr>
          <a:xfrm>
            <a:off x="1691640" y="3694176"/>
            <a:ext cx="1554480" cy="256032"/>
          </a:xfrm>
          <a:prstGeom prst="rect">
            <a:avLst/>
          </a:prstGeom>
          <a:noFill/>
        </p:spPr>
        <p:txBody>
          <a:bodyPr wrap="square" anchor="t" lIns="0" rIns="0" tIns="0" bIns="0">
            <a:spAutoFit/>
          </a:bodyPr>
          <a:lstStyle/>
          <a:p>
            <a:pPr algn="l">
              <a:spcAft>
                <a:spcPts val="0"/>
              </a:spcAft>
            </a:pPr>
            <a:r>
              <a:rPr sz="1000" b="0" i="0">
                <a:solidFill>
                  <a:srgbClr val="455566"/>
                </a:solidFill>
                <a:latin typeface="Calibri"/>
              </a:rPr>
              <a:t>Real-world data validation</a:t>
            </a:r>
          </a:p>
        </p:txBody>
      </p:sp>
      <p:sp>
        <p:nvSpPr>
          <p:cNvPr id="39" name="Rectangle 38"/>
          <p:cNvSpPr/>
          <p:nvPr/>
        </p:nvSpPr>
        <p:spPr>
          <a:xfrm>
            <a:off x="3291840" y="3675888"/>
            <a:ext cx="5303520" cy="219456"/>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796528" y="3675888"/>
            <a:ext cx="1031443" cy="228600"/>
          </a:xfrm>
          <a:prstGeom prst="round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NOT STARTED</a:t>
            </a:r>
          </a:p>
        </p:txBody>
      </p:sp>
      <p:sp>
        <p:nvSpPr>
          <p:cNvPr id="41" name="TextBox 40"/>
          <p:cNvSpPr txBox="1"/>
          <p:nvPr/>
        </p:nvSpPr>
        <p:spPr>
          <a:xfrm>
            <a:off x="640080" y="3995928"/>
            <a:ext cx="1051560" cy="256032"/>
          </a:xfrm>
          <a:prstGeom prst="rect">
            <a:avLst/>
          </a:prstGeom>
          <a:noFill/>
        </p:spPr>
        <p:txBody>
          <a:bodyPr wrap="square" anchor="t" lIns="0" rIns="0" tIns="0" bIns="0">
            <a:spAutoFit/>
          </a:bodyPr>
          <a:lstStyle/>
          <a:p>
            <a:pPr algn="l">
              <a:spcAft>
                <a:spcPts val="0"/>
              </a:spcAft>
            </a:pPr>
            <a:r>
              <a:rPr sz="1100" b="1" i="0">
                <a:solidFill>
                  <a:srgbClr val="1A2233"/>
                </a:solidFill>
                <a:latin typeface="Cambria"/>
              </a:rPr>
              <a:t>highD</a:t>
            </a:r>
          </a:p>
        </p:txBody>
      </p:sp>
      <p:sp>
        <p:nvSpPr>
          <p:cNvPr id="42" name="TextBox 41"/>
          <p:cNvSpPr txBox="1"/>
          <p:nvPr/>
        </p:nvSpPr>
        <p:spPr>
          <a:xfrm>
            <a:off x="1691640" y="4005072"/>
            <a:ext cx="1554480" cy="256032"/>
          </a:xfrm>
          <a:prstGeom prst="rect">
            <a:avLst/>
          </a:prstGeom>
          <a:noFill/>
        </p:spPr>
        <p:txBody>
          <a:bodyPr wrap="square" anchor="t" lIns="0" rIns="0" tIns="0" bIns="0">
            <a:spAutoFit/>
          </a:bodyPr>
          <a:lstStyle/>
          <a:p>
            <a:pPr algn="l">
              <a:spcAft>
                <a:spcPts val="0"/>
              </a:spcAft>
            </a:pPr>
            <a:r>
              <a:rPr sz="1000" b="0" i="0">
                <a:solidFill>
                  <a:srgbClr val="455566"/>
                </a:solidFill>
                <a:latin typeface="Calibri"/>
              </a:rPr>
              <a:t>Traffic-regime validation</a:t>
            </a:r>
          </a:p>
        </p:txBody>
      </p:sp>
      <p:sp>
        <p:nvSpPr>
          <p:cNvPr id="43" name="Rectangle 42"/>
          <p:cNvSpPr/>
          <p:nvPr/>
        </p:nvSpPr>
        <p:spPr>
          <a:xfrm>
            <a:off x="3291840" y="3986784"/>
            <a:ext cx="5303520" cy="219456"/>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8796528" y="3986784"/>
            <a:ext cx="1031443" cy="228600"/>
          </a:xfrm>
          <a:prstGeom prst="round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NOT STARTED</a:t>
            </a:r>
          </a:p>
        </p:txBody>
      </p:sp>
      <p:sp>
        <p:nvSpPr>
          <p:cNvPr id="45" name="TextBox 44"/>
          <p:cNvSpPr txBox="1"/>
          <p:nvPr/>
        </p:nvSpPr>
        <p:spPr>
          <a:xfrm>
            <a:off x="640080" y="4306824"/>
            <a:ext cx="1051560" cy="256032"/>
          </a:xfrm>
          <a:prstGeom prst="rect">
            <a:avLst/>
          </a:prstGeom>
          <a:noFill/>
        </p:spPr>
        <p:txBody>
          <a:bodyPr wrap="square" anchor="t" lIns="0" rIns="0" tIns="0" bIns="0">
            <a:spAutoFit/>
          </a:bodyPr>
          <a:lstStyle/>
          <a:p>
            <a:pPr algn="l">
              <a:spcAft>
                <a:spcPts val="0"/>
              </a:spcAft>
            </a:pPr>
            <a:r>
              <a:rPr sz="1100" b="1" i="0">
                <a:solidFill>
                  <a:srgbClr val="1A2233"/>
                </a:solidFill>
                <a:latin typeface="Cambria"/>
              </a:rPr>
              <a:t>E20</a:t>
            </a:r>
          </a:p>
        </p:txBody>
      </p:sp>
      <p:sp>
        <p:nvSpPr>
          <p:cNvPr id="46" name="TextBox 45"/>
          <p:cNvSpPr txBox="1"/>
          <p:nvPr/>
        </p:nvSpPr>
        <p:spPr>
          <a:xfrm>
            <a:off x="1691640" y="4315968"/>
            <a:ext cx="1554480" cy="256032"/>
          </a:xfrm>
          <a:prstGeom prst="rect">
            <a:avLst/>
          </a:prstGeom>
          <a:noFill/>
        </p:spPr>
        <p:txBody>
          <a:bodyPr wrap="square" anchor="t" lIns="0" rIns="0" tIns="0" bIns="0">
            <a:spAutoFit/>
          </a:bodyPr>
          <a:lstStyle/>
          <a:p>
            <a:pPr algn="l">
              <a:spcAft>
                <a:spcPts val="0"/>
              </a:spcAft>
            </a:pPr>
            <a:r>
              <a:rPr sz="1000" b="0" i="0">
                <a:solidFill>
                  <a:srgbClr val="455566"/>
                </a:solidFill>
                <a:latin typeface="Calibri"/>
              </a:rPr>
              <a:t>Adversarial / lying sensor</a:t>
            </a:r>
          </a:p>
        </p:txBody>
      </p:sp>
      <p:sp>
        <p:nvSpPr>
          <p:cNvPr id="47" name="Rectangle 46"/>
          <p:cNvSpPr/>
          <p:nvPr/>
        </p:nvSpPr>
        <p:spPr>
          <a:xfrm>
            <a:off x="3291840" y="4297680"/>
            <a:ext cx="5303520" cy="219456"/>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8796528" y="4297680"/>
            <a:ext cx="1031443" cy="228600"/>
          </a:xfrm>
          <a:prstGeom prst="round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NOT STARTED</a:t>
            </a:r>
          </a:p>
        </p:txBody>
      </p:sp>
      <p:sp>
        <p:nvSpPr>
          <p:cNvPr id="49" name="TextBox 48"/>
          <p:cNvSpPr txBox="1"/>
          <p:nvPr/>
        </p:nvSpPr>
        <p:spPr>
          <a:xfrm>
            <a:off x="640080" y="4617720"/>
            <a:ext cx="1051560" cy="256032"/>
          </a:xfrm>
          <a:prstGeom prst="rect">
            <a:avLst/>
          </a:prstGeom>
          <a:noFill/>
        </p:spPr>
        <p:txBody>
          <a:bodyPr wrap="square" anchor="t" lIns="0" rIns="0" tIns="0" bIns="0">
            <a:spAutoFit/>
          </a:bodyPr>
          <a:lstStyle/>
          <a:p>
            <a:pPr algn="l">
              <a:spcAft>
                <a:spcPts val="0"/>
              </a:spcAft>
            </a:pPr>
            <a:r>
              <a:rPr sz="1100" b="1" i="0">
                <a:solidFill>
                  <a:srgbClr val="1A2233"/>
                </a:solidFill>
                <a:latin typeface="Cambria"/>
              </a:rPr>
              <a:t>CARLA</a:t>
            </a:r>
          </a:p>
        </p:txBody>
      </p:sp>
      <p:sp>
        <p:nvSpPr>
          <p:cNvPr id="50" name="TextBox 49"/>
          <p:cNvSpPr txBox="1"/>
          <p:nvPr/>
        </p:nvSpPr>
        <p:spPr>
          <a:xfrm>
            <a:off x="1691640" y="4626864"/>
            <a:ext cx="1554480" cy="256032"/>
          </a:xfrm>
          <a:prstGeom prst="rect">
            <a:avLst/>
          </a:prstGeom>
          <a:noFill/>
        </p:spPr>
        <p:txBody>
          <a:bodyPr wrap="square" anchor="t" lIns="0" rIns="0" tIns="0" bIns="0">
            <a:spAutoFit/>
          </a:bodyPr>
          <a:lstStyle/>
          <a:p>
            <a:pPr algn="l">
              <a:spcAft>
                <a:spcPts val="0"/>
              </a:spcAft>
            </a:pPr>
            <a:r>
              <a:rPr sz="1000" b="0" i="0">
                <a:solidFill>
                  <a:srgbClr val="455566"/>
                </a:solidFill>
                <a:latin typeface="Calibri"/>
              </a:rPr>
              <a:t>Closed-loop validation</a:t>
            </a:r>
          </a:p>
        </p:txBody>
      </p:sp>
      <p:sp>
        <p:nvSpPr>
          <p:cNvPr id="51" name="Rectangle 50"/>
          <p:cNvSpPr/>
          <p:nvPr/>
        </p:nvSpPr>
        <p:spPr>
          <a:xfrm>
            <a:off x="3291840" y="4608576"/>
            <a:ext cx="5303520" cy="219456"/>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8796528" y="4608576"/>
            <a:ext cx="1031443" cy="228600"/>
          </a:xfrm>
          <a:prstGeom prst="round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NOT STARTED</a:t>
            </a:r>
          </a:p>
        </p:txBody>
      </p:sp>
      <p:sp>
        <p:nvSpPr>
          <p:cNvPr id="53" name="Rectangle 52"/>
          <p:cNvSpPr/>
          <p:nvPr/>
        </p:nvSpPr>
        <p:spPr>
          <a:xfrm>
            <a:off x="3218688" y="3063240"/>
            <a:ext cx="45720" cy="384048"/>
          </a:xfrm>
          <a:prstGeom prst="rect">
            <a:avLst/>
          </a:prstGeom>
          <a:solidFill>
            <a:srgbClr val="A33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346704" y="3127248"/>
            <a:ext cx="2743200" cy="274320"/>
          </a:xfrm>
          <a:prstGeom prst="rect">
            <a:avLst/>
          </a:prstGeom>
          <a:noFill/>
        </p:spPr>
        <p:txBody>
          <a:bodyPr wrap="square" anchor="t" lIns="0" rIns="0" tIns="0" bIns="0">
            <a:spAutoFit/>
          </a:bodyPr>
          <a:lstStyle/>
          <a:p>
            <a:pPr algn="l">
              <a:spcAft>
                <a:spcPts val="0"/>
              </a:spcAft>
            </a:pPr>
            <a:r>
              <a:rPr sz="1100" b="1" i="0">
                <a:solidFill>
                  <a:srgbClr val="A33328"/>
                </a:solidFill>
                <a:latin typeface="Calibri"/>
              </a:rPr>
              <a:t>◀  we are here</a:t>
            </a:r>
          </a:p>
        </p:txBody>
      </p:sp>
      <p:sp>
        <p:nvSpPr>
          <p:cNvPr id="55" name="Rectangle 54"/>
          <p:cNvSpPr/>
          <p:nvPr/>
        </p:nvSpPr>
        <p:spPr>
          <a:xfrm>
            <a:off x="640080" y="5212080"/>
            <a:ext cx="5349240" cy="1060704"/>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1248" y="5358384"/>
            <a:ext cx="4946904" cy="786384"/>
          </a:xfrm>
          <a:prstGeom prst="rect">
            <a:avLst/>
          </a:prstGeom>
          <a:noFill/>
        </p:spPr>
        <p:txBody>
          <a:bodyPr wrap="square" anchor="t" lIns="0" rIns="0" tIns="0" bIns="0">
            <a:spAutoFit/>
          </a:bodyPr>
          <a:lstStyle/>
          <a:p>
            <a:pPr algn="l">
              <a:spcAft>
                <a:spcPts val="700"/>
              </a:spcAft>
            </a:pPr>
            <a:r>
              <a:rPr sz="1150" b="1" i="0">
                <a:solidFill>
                  <a:srgbClr val="1E6B52"/>
                </a:solidFill>
                <a:latin typeface="Cambria"/>
              </a:rPr>
              <a:t>Completed</a:t>
            </a:r>
          </a:p>
          <a:p>
            <a:pPr algn="l">
              <a:spcAft>
                <a:spcPts val="500"/>
              </a:spcAft>
            </a:pPr>
            <a:r>
              <a:rPr sz="1050" b="0" i="0">
                <a:solidFill>
                  <a:srgbClr val="455566"/>
                </a:solidFill>
                <a:latin typeface="Calibri"/>
              </a:rPr>
              <a:t>5 of 11 stages. All internal validation. 4,290 closed-loop runs, 0 execution failures.</a:t>
            </a:r>
          </a:p>
        </p:txBody>
      </p:sp>
      <p:sp>
        <p:nvSpPr>
          <p:cNvPr id="57" name="Rectangle 56"/>
          <p:cNvSpPr/>
          <p:nvPr/>
        </p:nvSpPr>
        <p:spPr>
          <a:xfrm>
            <a:off x="6172200" y="5212080"/>
            <a:ext cx="5349240" cy="1060704"/>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373368" y="5358384"/>
            <a:ext cx="4946904" cy="786384"/>
          </a:xfrm>
          <a:prstGeom prst="rect">
            <a:avLst/>
          </a:prstGeom>
          <a:noFill/>
        </p:spPr>
        <p:txBody>
          <a:bodyPr wrap="square" anchor="t" lIns="0" rIns="0" tIns="0" bIns="0">
            <a:spAutoFit/>
          </a:bodyPr>
          <a:lstStyle/>
          <a:p>
            <a:pPr algn="l">
              <a:spcAft>
                <a:spcPts val="700"/>
              </a:spcAft>
            </a:pPr>
            <a:r>
              <a:rPr sz="1150" b="1" i="0">
                <a:solidFill>
                  <a:srgbClr val="A33328"/>
                </a:solidFill>
                <a:latin typeface="Cambria"/>
              </a:rPr>
              <a:t>Blocking the rest</a:t>
            </a:r>
          </a:p>
          <a:p>
            <a:pPr algn="l">
              <a:spcAft>
                <a:spcPts val="500"/>
              </a:spcAft>
            </a:pPr>
            <a:r>
              <a:rPr sz="1050" b="0" i="0">
                <a:solidFill>
                  <a:srgbClr val="455566"/>
                </a:solidFill>
                <a:latin typeface="Calibri"/>
              </a:rPr>
              <a:t>E19 needs an operational monitor. E18-R2 established that no policy currently has one. E18-R3 is the gate.</a:t>
            </a:r>
          </a:p>
        </p:txBody>
      </p:sp>
      <p:sp>
        <p:nvSpPr>
          <p:cNvPr id="59" name="TextBox 58"/>
          <p:cNvSpPr txBox="1"/>
          <p:nvPr/>
        </p:nvSpPr>
        <p:spPr>
          <a:xfrm>
            <a:off x="640080" y="6364224"/>
            <a:ext cx="10881360" cy="274320"/>
          </a:xfrm>
          <a:prstGeom prst="rect">
            <a:avLst/>
          </a:prstGeom>
          <a:noFill/>
        </p:spPr>
        <p:txBody>
          <a:bodyPr wrap="square" anchor="t" lIns="0" rIns="0" tIns="0" bIns="0">
            <a:spAutoFit/>
          </a:bodyPr>
          <a:lstStyle/>
          <a:p>
            <a:pPr algn="l">
              <a:spcAft>
                <a:spcPts val="0"/>
              </a:spcAft>
            </a:pPr>
            <a:r>
              <a:rPr sz="850" b="0" i="1">
                <a:solidFill>
                  <a:srgbClr val="8A99A8"/>
                </a:solidFill>
                <a:latin typeface="Calibri"/>
              </a:rPr>
              <a:t>Stages are gated: a stage is not entered because it exists in the plan. External datasets come after the internal causal chain, not before.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10881360" cy="237744"/>
          </a:xfrm>
          <a:prstGeom prst="rect">
            <a:avLst/>
          </a:prstGeom>
          <a:noFill/>
        </p:spPr>
        <p:txBody>
          <a:bodyPr wrap="square" anchor="t" lIns="0" rIns="0" tIns="0" bIns="0">
            <a:spAutoFit/>
          </a:bodyPr>
          <a:lstStyle/>
          <a:p>
            <a:pPr algn="l">
              <a:spcAft>
                <a:spcPts val="0"/>
              </a:spcAft>
            </a:pPr>
            <a:r>
              <a:rPr sz="1000" b="1" i="0">
                <a:solidFill>
                  <a:srgbClr val="1C7293"/>
                </a:solidFill>
                <a:latin typeface="Calibri"/>
              </a:rPr>
              <a:t>CURRENT STATUS</a:t>
            </a:r>
          </a:p>
        </p:txBody>
      </p:sp>
      <p:sp>
        <p:nvSpPr>
          <p:cNvPr id="3" name="TextBox 2"/>
          <p:cNvSpPr txBox="1"/>
          <p:nvPr/>
        </p:nvSpPr>
        <p:spPr>
          <a:xfrm>
            <a:off x="640080" y="603504"/>
            <a:ext cx="10881360" cy="566928"/>
          </a:xfrm>
          <a:prstGeom prst="rect">
            <a:avLst/>
          </a:prstGeom>
          <a:noFill/>
        </p:spPr>
        <p:txBody>
          <a:bodyPr wrap="square" anchor="t" lIns="0" rIns="0" tIns="0" bIns="0">
            <a:spAutoFit/>
          </a:bodyPr>
          <a:lstStyle/>
          <a:p>
            <a:pPr algn="l">
              <a:spcAft>
                <a:spcPts val="0"/>
              </a:spcAft>
            </a:pPr>
            <a:r>
              <a:rPr sz="3200" b="1" i="0">
                <a:solidFill>
                  <a:srgbClr val="1A2233"/>
                </a:solidFill>
                <a:latin typeface="Cambria"/>
              </a:rPr>
              <a:t>Experiment ledger</a:t>
            </a:r>
          </a:p>
        </p:txBody>
      </p:sp>
      <p:graphicFrame>
        <p:nvGraphicFramePr>
          <p:cNvPr id="4" name="Table 3"/>
          <p:cNvGraphicFramePr>
            <a:graphicFrameLocks noGrp="1"/>
          </p:cNvGraphicFramePr>
          <p:nvPr/>
        </p:nvGraphicFramePr>
        <p:xfrm>
          <a:off x="640080" y="1389888"/>
          <a:ext cx="10881357" cy="2962656"/>
        </p:xfrm>
        <a:graphic>
          <a:graphicData uri="http://schemas.openxmlformats.org/drawingml/2006/table">
            <a:tbl>
              <a:tblPr firstRow="1" bandRow="1">
                <a:tableStyleId>{5C22544A-7EE6-4342-B048-85BDC9FD1C3A}</a:tableStyleId>
              </a:tblPr>
              <a:tblGrid>
                <a:gridCol w="1337872"/>
                <a:gridCol w="2764935"/>
                <a:gridCol w="1783829"/>
                <a:gridCol w="1248680"/>
                <a:gridCol w="3746041"/>
              </a:tblGrid>
              <a:tr h="310896">
                <a:tc>
                  <a:txBody>
                    <a:bodyPr wrap="square"/>
                    <a:lstStyle/>
                    <a:p>
                      <a:pPr>
                        <a:spcAft>
                          <a:spcPts val="0"/>
                        </a:spcAft>
                      </a:pPr>
                      <a:r>
                        <a:rPr sz="950" b="1">
                          <a:solidFill>
                            <a:srgbClr val="FFFFFF"/>
                          </a:solidFill>
                          <a:latin typeface="Calibri"/>
                        </a:rPr>
                        <a:t>Experiment</a:t>
                      </a:r>
                    </a:p>
                  </a:txBody>
                  <a:tcPr marL="73152" marR="73152" marT="18288" marB="18288" anchor="ctr">
                    <a:solidFill>
                      <a:srgbClr val="065A82"/>
                    </a:solidFill>
                  </a:tcPr>
                </a:tc>
                <a:tc>
                  <a:txBody>
                    <a:bodyPr wrap="square"/>
                    <a:lstStyle/>
                    <a:p>
                      <a:pPr>
                        <a:spcAft>
                          <a:spcPts val="0"/>
                        </a:spcAft>
                      </a:pPr>
                      <a:r>
                        <a:rPr sz="950" b="1">
                          <a:solidFill>
                            <a:srgbClr val="FFFFFF"/>
                          </a:solidFill>
                          <a:latin typeface="Calibri"/>
                        </a:rPr>
                        <a:t>Question</a:t>
                      </a:r>
                    </a:p>
                  </a:txBody>
                  <a:tcPr marL="73152" marR="73152" marT="18288" marB="18288" anchor="ctr">
                    <a:solidFill>
                      <a:srgbClr val="065A82"/>
                    </a:solidFill>
                  </a:tcPr>
                </a:tc>
                <a:tc>
                  <a:txBody>
                    <a:bodyPr wrap="square"/>
                    <a:lstStyle/>
                    <a:p>
                      <a:pPr>
                        <a:spcAft>
                          <a:spcPts val="0"/>
                        </a:spcAft>
                      </a:pPr>
                      <a:r>
                        <a:rPr sz="950" b="1">
                          <a:solidFill>
                            <a:srgbClr val="FFFFFF"/>
                          </a:solidFill>
                          <a:latin typeface="Calibri"/>
                        </a:rPr>
                        <a:t>Scale</a:t>
                      </a:r>
                    </a:p>
                  </a:txBody>
                  <a:tcPr marL="73152" marR="73152" marT="18288" marB="18288" anchor="ctr">
                    <a:solidFill>
                      <a:srgbClr val="065A82"/>
                    </a:solidFill>
                  </a:tcPr>
                </a:tc>
                <a:tc>
                  <a:txBody>
                    <a:bodyPr wrap="square"/>
                    <a:lstStyle/>
                    <a:p>
                      <a:pPr>
                        <a:spcAft>
                          <a:spcPts val="0"/>
                        </a:spcAft>
                      </a:pPr>
                      <a:r>
                        <a:rPr sz="950" b="1">
                          <a:solidFill>
                            <a:srgbClr val="FFFFFF"/>
                          </a:solidFill>
                          <a:latin typeface="Calibri"/>
                        </a:rPr>
                        <a:t>Verdict</a:t>
                      </a:r>
                    </a:p>
                  </a:txBody>
                  <a:tcPr marL="73152" marR="73152" marT="18288" marB="18288" anchor="ctr">
                    <a:solidFill>
                      <a:srgbClr val="065A82"/>
                    </a:solidFill>
                  </a:tcPr>
                </a:tc>
                <a:tc>
                  <a:txBody>
                    <a:bodyPr wrap="square"/>
                    <a:lstStyle/>
                    <a:p>
                      <a:pPr>
                        <a:spcAft>
                          <a:spcPts val="0"/>
                        </a:spcAft>
                      </a:pPr>
                      <a:r>
                        <a:rPr sz="950" b="1">
                          <a:solidFill>
                            <a:srgbClr val="FFFFFF"/>
                          </a:solidFill>
                          <a:latin typeface="Calibri"/>
                        </a:rPr>
                        <a:t>Outcome</a:t>
                      </a:r>
                    </a:p>
                  </a:txBody>
                  <a:tcPr marL="73152" marR="73152" marT="18288" marB="18288" anchor="ctr">
                    <a:solidFill>
                      <a:srgbClr val="065A82"/>
                    </a:solidFill>
                  </a:tcPr>
                </a:tc>
              </a:tr>
              <a:tr h="530352">
                <a:tc>
                  <a:txBody>
                    <a:bodyPr wrap="square"/>
                    <a:lstStyle/>
                    <a:p>
                      <a:pPr>
                        <a:spcAft>
                          <a:spcPts val="0"/>
                        </a:spcAft>
                      </a:pPr>
                      <a:r>
                        <a:rPr sz="1000" b="0">
                          <a:solidFill>
                            <a:srgbClr val="1A2233"/>
                          </a:solidFill>
                          <a:latin typeface="Calibri"/>
                        </a:rPr>
                        <a:t>E17</a:t>
                      </a:r>
                    </a:p>
                  </a:txBody>
                  <a:tcPr marL="73152" marR="73152" marT="18288" marB="18288" anchor="ctr">
                    <a:solidFill>
                      <a:srgbClr val="FFFFFF"/>
                    </a:solidFill>
                  </a:tcPr>
                </a:tc>
                <a:tc>
                  <a:txBody>
                    <a:bodyPr wrap="square"/>
                    <a:lstStyle/>
                    <a:p>
                      <a:pPr>
                        <a:spcAft>
                          <a:spcPts val="0"/>
                        </a:spcAft>
                      </a:pPr>
                      <a:r>
                        <a:rPr sz="1000" b="0">
                          <a:solidFill>
                            <a:srgbClr val="1A2233"/>
                          </a:solidFill>
                          <a:latin typeface="Calibri"/>
                        </a:rPr>
                        <a:t>Stage-wise fault observability</a:t>
                      </a:r>
                    </a:p>
                  </a:txBody>
                  <a:tcPr marL="73152" marR="73152" marT="18288" marB="18288" anchor="ctr">
                    <a:solidFill>
                      <a:srgbClr val="FFFFFF"/>
                    </a:solidFill>
                  </a:tcPr>
                </a:tc>
                <a:tc>
                  <a:txBody>
                    <a:bodyPr wrap="square"/>
                    <a:lstStyle/>
                    <a:p>
                      <a:pPr>
                        <a:spcAft>
                          <a:spcPts val="0"/>
                        </a:spcAft>
                      </a:pPr>
                      <a:r>
                        <a:rPr sz="1000" b="0">
                          <a:solidFill>
                            <a:srgbClr val="1A2233"/>
                          </a:solidFill>
                          <a:latin typeface="Calibri"/>
                        </a:rPr>
                        <a:t>90 profiles · 2,160 runs</a:t>
                      </a:r>
                    </a:p>
                  </a:txBody>
                  <a:tcPr marL="73152" marR="73152" marT="18288" marB="18288" anchor="ctr">
                    <a:solidFill>
                      <a:srgbClr val="FFFFFF"/>
                    </a:solidFill>
                  </a:tcPr>
                </a:tc>
                <a:tc>
                  <a:txBody>
                    <a:bodyPr wrap="square"/>
                    <a:lstStyle/>
                    <a:p>
                      <a:pPr>
                        <a:spcAft>
                          <a:spcPts val="0"/>
                        </a:spcAft>
                      </a:pPr>
                      <a:r>
                        <a:rPr sz="1000" b="1">
                          <a:solidFill>
                            <a:srgbClr val="1E6B52"/>
                          </a:solidFill>
                          <a:latin typeface="Calibri"/>
                        </a:rPr>
                        <a:t>COMPLETE</a:t>
                      </a:r>
                    </a:p>
                  </a:txBody>
                  <a:tcPr marL="73152" marR="73152" marT="18288" marB="18288" anchor="ctr">
                    <a:solidFill>
                      <a:srgbClr val="FFFFFF"/>
                    </a:solidFill>
                  </a:tcPr>
                </a:tc>
                <a:tc>
                  <a:txBody>
                    <a:bodyPr wrap="square"/>
                    <a:lstStyle/>
                    <a:p>
                      <a:pPr>
                        <a:spcAft>
                          <a:spcPts val="0"/>
                        </a:spcAft>
                      </a:pPr>
                      <a:r>
                        <a:rPr sz="1000" b="0">
                          <a:solidFill>
                            <a:srgbClr val="1A2233"/>
                          </a:solidFill>
                          <a:latin typeface="Calibri"/>
                        </a:rPr>
                        <a:t>Observability is heterogeneous; 1 of 6 faults well-posed</a:t>
                      </a:r>
                    </a:p>
                  </a:txBody>
                  <a:tcPr marL="73152" marR="73152" marT="18288" marB="18288" anchor="ctr">
                    <a:solidFill>
                      <a:srgbClr val="FFFFFF"/>
                    </a:solidFill>
                  </a:tcPr>
                </a:tc>
              </a:tr>
              <a:tr h="530352">
                <a:tc>
                  <a:txBody>
                    <a:bodyPr wrap="square"/>
                    <a:lstStyle/>
                    <a:p>
                      <a:pPr>
                        <a:spcAft>
                          <a:spcPts val="0"/>
                        </a:spcAft>
                      </a:pPr>
                      <a:r>
                        <a:rPr sz="1000" b="0">
                          <a:solidFill>
                            <a:srgbClr val="1A2233"/>
                          </a:solidFill>
                          <a:latin typeface="Calibri"/>
                        </a:rPr>
                        <a:t>E17-Position</a:t>
                      </a:r>
                    </a:p>
                  </a:txBody>
                  <a:tcPr marL="73152" marR="73152" marT="18288" marB="18288" anchor="ctr">
                    <a:solidFill>
                      <a:srgbClr val="EFF4F8"/>
                    </a:solidFill>
                  </a:tcPr>
                </a:tc>
                <a:tc>
                  <a:txBody>
                    <a:bodyPr wrap="square"/>
                    <a:lstStyle/>
                    <a:p>
                      <a:pPr>
                        <a:spcAft>
                          <a:spcPts val="0"/>
                        </a:spcAft>
                      </a:pPr>
                      <a:r>
                        <a:rPr sz="1000" b="0">
                          <a:solidFill>
                            <a:srgbClr val="1A2233"/>
                          </a:solidFill>
                          <a:latin typeface="Calibri"/>
                        </a:rPr>
                        <a:t>Does absorption survive correct injection?</a:t>
                      </a:r>
                    </a:p>
                  </a:txBody>
                  <a:tcPr marL="73152" marR="73152" marT="18288" marB="18288" anchor="ctr">
                    <a:solidFill>
                      <a:srgbClr val="EFF4F8"/>
                    </a:solidFill>
                  </a:tcPr>
                </a:tc>
                <a:tc>
                  <a:txBody>
                    <a:bodyPr wrap="square"/>
                    <a:lstStyle/>
                    <a:p>
                      <a:pPr>
                        <a:spcAft>
                          <a:spcPts val="0"/>
                        </a:spcAft>
                      </a:pPr>
                      <a:r>
                        <a:rPr sz="1000" b="0">
                          <a:solidFill>
                            <a:srgbClr val="1A2233"/>
                          </a:solidFill>
                          <a:latin typeface="Calibri"/>
                        </a:rPr>
                        <a:t>720 runs</a:t>
                      </a:r>
                    </a:p>
                  </a:txBody>
                  <a:tcPr marL="73152" marR="73152" marT="18288" marB="18288" anchor="ctr">
                    <a:solidFill>
                      <a:srgbClr val="EFF4F8"/>
                    </a:solidFill>
                  </a:tcPr>
                </a:tc>
                <a:tc>
                  <a:txBody>
                    <a:bodyPr wrap="square"/>
                    <a:lstStyle/>
                    <a:p>
                      <a:pPr>
                        <a:spcAft>
                          <a:spcPts val="0"/>
                        </a:spcAft>
                      </a:pPr>
                      <a:r>
                        <a:rPr sz="1000" b="1">
                          <a:solidFill>
                            <a:srgbClr val="A33328"/>
                          </a:solidFill>
                          <a:latin typeface="Calibri"/>
                        </a:rPr>
                        <a:t>WITHDRAWN</a:t>
                      </a:r>
                    </a:p>
                  </a:txBody>
                  <a:tcPr marL="73152" marR="73152" marT="18288" marB="18288" anchor="ctr">
                    <a:solidFill>
                      <a:srgbClr val="EFF4F8"/>
                    </a:solidFill>
                  </a:tcPr>
                </a:tc>
                <a:tc>
                  <a:txBody>
                    <a:bodyPr wrap="square"/>
                    <a:lstStyle/>
                    <a:p>
                      <a:pPr>
                        <a:spcAft>
                          <a:spcPts val="0"/>
                        </a:spcAft>
                      </a:pPr>
                      <a:r>
                        <a:rPr sz="1000" b="0">
                          <a:solidFill>
                            <a:srgbClr val="1A2233"/>
                          </a:solidFill>
                          <a:latin typeface="Calibri"/>
                        </a:rPr>
                        <a:t>Absorbed in 0 of 12 cells — original result was artefact</a:t>
                      </a:r>
                    </a:p>
                  </a:txBody>
                  <a:tcPr marL="73152" marR="73152" marT="18288" marB="18288" anchor="ctr">
                    <a:solidFill>
                      <a:srgbClr val="EFF4F8"/>
                    </a:solidFill>
                  </a:tcPr>
                </a:tc>
              </a:tr>
              <a:tr h="530352">
                <a:tc>
                  <a:txBody>
                    <a:bodyPr wrap="square"/>
                    <a:lstStyle/>
                    <a:p>
                      <a:pPr>
                        <a:spcAft>
                          <a:spcPts val="0"/>
                        </a:spcAft>
                      </a:pPr>
                      <a:r>
                        <a:rPr sz="1000" b="0">
                          <a:solidFill>
                            <a:srgbClr val="1A2233"/>
                          </a:solidFill>
                          <a:latin typeface="Calibri"/>
                        </a:rPr>
                        <a:t>E18</a:t>
                      </a:r>
                    </a:p>
                  </a:txBody>
                  <a:tcPr marL="73152" marR="73152" marT="18288" marB="18288" anchor="ctr">
                    <a:solidFill>
                      <a:srgbClr val="FFFFFF"/>
                    </a:solidFill>
                  </a:tcPr>
                </a:tc>
                <a:tc>
                  <a:txBody>
                    <a:bodyPr wrap="square"/>
                    <a:lstStyle/>
                    <a:p>
                      <a:pPr>
                        <a:spcAft>
                          <a:spcPts val="0"/>
                        </a:spcAft>
                      </a:pPr>
                      <a:r>
                        <a:rPr sz="1000" b="0">
                          <a:solidFill>
                            <a:srgbClr val="1A2233"/>
                          </a:solidFill>
                          <a:latin typeface="Calibri"/>
                        </a:rPr>
                        <a:t>Can OD-8 be validly calibrated?</a:t>
                      </a:r>
                    </a:p>
                  </a:txBody>
                  <a:tcPr marL="73152" marR="73152" marT="18288" marB="18288" anchor="ctr">
                    <a:solidFill>
                      <a:srgbClr val="FFFFFF"/>
                    </a:solidFill>
                  </a:tcPr>
                </a:tc>
                <a:tc>
                  <a:txBody>
                    <a:bodyPr wrap="square"/>
                    <a:lstStyle/>
                    <a:p>
                      <a:pPr>
                        <a:spcAft>
                          <a:spcPts val="0"/>
                        </a:spcAft>
                      </a:pPr>
                      <a:r>
                        <a:rPr sz="1000" b="0">
                          <a:solidFill>
                            <a:srgbClr val="1A2233"/>
                          </a:solidFill>
                          <a:latin typeface="Calibri"/>
                        </a:rPr>
                        <a:t>72,000 ticks · 1,260 runs</a:t>
                      </a:r>
                    </a:p>
                  </a:txBody>
                  <a:tcPr marL="73152" marR="73152" marT="18288" marB="18288" anchor="ctr">
                    <a:solidFill>
                      <a:srgbClr val="FFFFFF"/>
                    </a:solidFill>
                  </a:tcPr>
                </a:tc>
                <a:tc>
                  <a:txBody>
                    <a:bodyPr wrap="square"/>
                    <a:lstStyle/>
                    <a:p>
                      <a:pPr>
                        <a:spcAft>
                          <a:spcPts val="0"/>
                        </a:spcAft>
                      </a:pPr>
                      <a:r>
                        <a:rPr sz="1000" b="1">
                          <a:solidFill>
                            <a:srgbClr val="A9760B"/>
                          </a:solidFill>
                          <a:latin typeface="Calibri"/>
                        </a:rPr>
                        <a:t>PARTIAL</a:t>
                      </a:r>
                    </a:p>
                  </a:txBody>
                  <a:tcPr marL="73152" marR="73152" marT="18288" marB="18288" anchor="ctr">
                    <a:solidFill>
                      <a:srgbClr val="FFFFFF"/>
                    </a:solidFill>
                  </a:tcPr>
                </a:tc>
                <a:tc>
                  <a:txBody>
                    <a:bodyPr wrap="square"/>
                    <a:lstStyle/>
                    <a:p>
                      <a:pPr>
                        <a:spcAft>
                          <a:spcPts val="0"/>
                        </a:spcAft>
                      </a:pPr>
                      <a:r>
                        <a:rPr sz="1000" b="0">
                          <a:solidFill>
                            <a:srgbClr val="1A2233"/>
                          </a:solidFill>
                          <a:latin typeface="Calibri"/>
                        </a:rPr>
                        <a:t>D_s does not predict detection; window defect found</a:t>
                      </a:r>
                    </a:p>
                  </a:txBody>
                  <a:tcPr marL="73152" marR="73152" marT="18288" marB="18288" anchor="ctr">
                    <a:solidFill>
                      <a:srgbClr val="FFFFFF"/>
                    </a:solidFill>
                  </a:tcPr>
                </a:tc>
              </a:tr>
              <a:tr h="530352">
                <a:tc>
                  <a:txBody>
                    <a:bodyPr wrap="square"/>
                    <a:lstStyle/>
                    <a:p>
                      <a:pPr>
                        <a:spcAft>
                          <a:spcPts val="0"/>
                        </a:spcAft>
                      </a:pPr>
                      <a:r>
                        <a:rPr sz="1000" b="0">
                          <a:solidFill>
                            <a:srgbClr val="1A2233"/>
                          </a:solidFill>
                          <a:latin typeface="Calibri"/>
                        </a:rPr>
                        <a:t>E18-R1</a:t>
                      </a:r>
                    </a:p>
                  </a:txBody>
                  <a:tcPr marL="73152" marR="73152" marT="18288" marB="18288" anchor="ctr">
                    <a:solidFill>
                      <a:srgbClr val="EFF4F8"/>
                    </a:solidFill>
                  </a:tcPr>
                </a:tc>
                <a:tc>
                  <a:txBody>
                    <a:bodyPr wrap="square"/>
                    <a:lstStyle/>
                    <a:p>
                      <a:pPr>
                        <a:spcAft>
                          <a:spcPts val="0"/>
                        </a:spcAft>
                      </a:pPr>
                      <a:r>
                        <a:rPr sz="1000" b="0">
                          <a:solidFill>
                            <a:srgbClr val="1A2233"/>
                          </a:solidFill>
                          <a:latin typeface="Calibri"/>
                        </a:rPr>
                        <a:t>Does run-local calibration recover P3?</a:t>
                      </a:r>
                    </a:p>
                  </a:txBody>
                  <a:tcPr marL="73152" marR="73152" marT="18288" marB="18288" anchor="ctr">
                    <a:solidFill>
                      <a:srgbClr val="EFF4F8"/>
                    </a:solidFill>
                  </a:tcPr>
                </a:tc>
                <a:tc>
                  <a:txBody>
                    <a:bodyPr wrap="square"/>
                    <a:lstStyle/>
                    <a:p>
                      <a:pPr>
                        <a:spcAft>
                          <a:spcPts val="0"/>
                        </a:spcAft>
                      </a:pPr>
                      <a:r>
                        <a:rPr sz="1000" b="0">
                          <a:solidFill>
                            <a:srgbClr val="1A2233"/>
                          </a:solidFill>
                          <a:latin typeface="Calibri"/>
                        </a:rPr>
                        <a:t>60 runs</a:t>
                      </a:r>
                    </a:p>
                  </a:txBody>
                  <a:tcPr marL="73152" marR="73152" marT="18288" marB="18288" anchor="ctr">
                    <a:solidFill>
                      <a:srgbClr val="EFF4F8"/>
                    </a:solidFill>
                  </a:tcPr>
                </a:tc>
                <a:tc>
                  <a:txBody>
                    <a:bodyPr wrap="square"/>
                    <a:lstStyle/>
                    <a:p>
                      <a:pPr>
                        <a:spcAft>
                          <a:spcPts val="0"/>
                        </a:spcAft>
                      </a:pPr>
                      <a:r>
                        <a:rPr sz="1000" b="1">
                          <a:solidFill>
                            <a:srgbClr val="A33328"/>
                          </a:solidFill>
                          <a:latin typeface="Calibri"/>
                        </a:rPr>
                        <a:t>REJECTED</a:t>
                      </a:r>
                    </a:p>
                  </a:txBody>
                  <a:tcPr marL="73152" marR="73152" marT="18288" marB="18288" anchor="ctr">
                    <a:solidFill>
                      <a:srgbClr val="EFF4F8"/>
                    </a:solidFill>
                  </a:tcPr>
                </a:tc>
                <a:tc>
                  <a:txBody>
                    <a:bodyPr wrap="square"/>
                    <a:lstStyle/>
                    <a:p>
                      <a:pPr>
                        <a:spcAft>
                          <a:spcPts val="0"/>
                        </a:spcAft>
                      </a:pPr>
                      <a:r>
                        <a:rPr sz="1000" b="0">
                          <a:solidFill>
                            <a:srgbClr val="1A2233"/>
                          </a:solidFill>
                          <a:latin typeface="Calibri"/>
                        </a:rPr>
                        <a:t>P3 9/30; mechanism removed, estimator too noisy</a:t>
                      </a:r>
                    </a:p>
                  </a:txBody>
                  <a:tcPr marL="73152" marR="73152" marT="18288" marB="18288" anchor="ctr">
                    <a:solidFill>
                      <a:srgbClr val="EFF4F8"/>
                    </a:solidFill>
                  </a:tcPr>
                </a:tc>
              </a:tr>
              <a:tr h="530352">
                <a:tc>
                  <a:txBody>
                    <a:bodyPr wrap="square"/>
                    <a:lstStyle/>
                    <a:p>
                      <a:pPr>
                        <a:spcAft>
                          <a:spcPts val="0"/>
                        </a:spcAft>
                      </a:pPr>
                      <a:r>
                        <a:rPr sz="1000" b="0">
                          <a:solidFill>
                            <a:srgbClr val="1A2233"/>
                          </a:solidFill>
                          <a:latin typeface="Calibri"/>
                        </a:rPr>
                        <a:t>E18-R2</a:t>
                      </a:r>
                    </a:p>
                  </a:txBody>
                  <a:tcPr marL="73152" marR="73152" marT="18288" marB="18288" anchor="ctr">
                    <a:solidFill>
                      <a:srgbClr val="FFFFFF"/>
                    </a:solidFill>
                  </a:tcPr>
                </a:tc>
                <a:tc>
                  <a:txBody>
                    <a:bodyPr wrap="square"/>
                    <a:lstStyle/>
                    <a:p>
                      <a:pPr>
                        <a:spcAft>
                          <a:spcPts val="0"/>
                        </a:spcAft>
                      </a:pPr>
                      <a:r>
                        <a:rPr sz="1000" b="0">
                          <a:solidFill>
                            <a:srgbClr val="1A2233"/>
                          </a:solidFill>
                          <a:latin typeface="Calibri"/>
                        </a:rPr>
                        <a:t>Does matched-window calibration work?</a:t>
                      </a:r>
                    </a:p>
                  </a:txBody>
                  <a:tcPr marL="73152" marR="73152" marT="18288" marB="18288" anchor="ctr">
                    <a:solidFill>
                      <a:srgbClr val="FFFFFF"/>
                    </a:solidFill>
                  </a:tcPr>
                </a:tc>
                <a:tc>
                  <a:txBody>
                    <a:bodyPr wrap="square"/>
                    <a:lstStyle/>
                    <a:p>
                      <a:pPr>
                        <a:spcAft>
                          <a:spcPts val="0"/>
                        </a:spcAft>
                      </a:pPr>
                      <a:r>
                        <a:rPr sz="1000" b="0">
                          <a:solidFill>
                            <a:srgbClr val="1A2233"/>
                          </a:solidFill>
                          <a:latin typeface="Calibri"/>
                        </a:rPr>
                        <a:t>reused scores</a:t>
                      </a:r>
                    </a:p>
                  </a:txBody>
                  <a:tcPr marL="73152" marR="73152" marT="18288" marB="18288" anchor="ctr">
                    <a:solidFill>
                      <a:srgbClr val="FFFFFF"/>
                    </a:solidFill>
                  </a:tcPr>
                </a:tc>
                <a:tc>
                  <a:txBody>
                    <a:bodyPr wrap="square"/>
                    <a:lstStyle/>
                    <a:p>
                      <a:pPr>
                        <a:spcAft>
                          <a:spcPts val="0"/>
                        </a:spcAft>
                      </a:pPr>
                      <a:r>
                        <a:rPr sz="1000" b="1">
                          <a:solidFill>
                            <a:srgbClr val="A9760B"/>
                          </a:solidFill>
                          <a:latin typeface="Calibri"/>
                        </a:rPr>
                        <a:t>PARTIAL</a:t>
                      </a:r>
                    </a:p>
                  </a:txBody>
                  <a:tcPr marL="73152" marR="73152" marT="18288" marB="18288" anchor="ctr">
                    <a:solidFill>
                      <a:srgbClr val="FFFFFF"/>
                    </a:solidFill>
                  </a:tcPr>
                </a:tc>
                <a:tc>
                  <a:txBody>
                    <a:bodyPr wrap="square"/>
                    <a:lstStyle/>
                    <a:p>
                      <a:pPr>
                        <a:spcAft>
                          <a:spcPts val="0"/>
                        </a:spcAft>
                      </a:pPr>
                      <a:r>
                        <a:rPr sz="1000" b="0">
                          <a:solidFill>
                            <a:srgbClr val="1A2233"/>
                          </a:solidFill>
                          <a:latin typeface="Calibri"/>
                        </a:rPr>
                        <a:t>P1 13/30 — best of three schemes, still short</a:t>
                      </a:r>
                    </a:p>
                  </a:txBody>
                  <a:tcPr marL="73152" marR="73152" marT="18288" marB="18288" anchor="ctr">
                    <a:solidFill>
                      <a:srgbClr val="FFFFFF"/>
                    </a:solidFill>
                  </a:tcPr>
                </a:tc>
              </a:tr>
            </a:tbl>
          </a:graphicData>
        </a:graphic>
      </p:graphicFrame>
      <p:sp>
        <p:nvSpPr>
          <p:cNvPr id="5" name="TextBox 4"/>
          <p:cNvSpPr txBox="1"/>
          <p:nvPr/>
        </p:nvSpPr>
        <p:spPr>
          <a:xfrm>
            <a:off x="640080" y="4892040"/>
            <a:ext cx="2084831" cy="987552"/>
          </a:xfrm>
          <a:prstGeom prst="rect">
            <a:avLst/>
          </a:prstGeom>
          <a:noFill/>
        </p:spPr>
        <p:txBody>
          <a:bodyPr wrap="square" anchor="t" lIns="0" rIns="0" tIns="0" bIns="0">
            <a:spAutoFit/>
          </a:bodyPr>
          <a:lstStyle/>
          <a:p>
            <a:pPr algn="ctr">
              <a:spcAft>
                <a:spcPts val="100"/>
              </a:spcAft>
            </a:pPr>
            <a:r>
              <a:rPr sz="3000" b="1" i="0">
                <a:solidFill>
                  <a:srgbClr val="065A82"/>
                </a:solidFill>
                <a:latin typeface="Cambria"/>
              </a:rPr>
              <a:t>4,290</a:t>
            </a:r>
          </a:p>
          <a:p>
            <a:pPr algn="ctr">
              <a:spcAft>
                <a:spcPts val="0"/>
              </a:spcAft>
            </a:pPr>
            <a:r>
              <a:rPr sz="950" b="0" i="0">
                <a:solidFill>
                  <a:srgbClr val="455566"/>
                </a:solidFill>
                <a:latin typeface="Calibri"/>
              </a:rPr>
              <a:t>closed-loop runs</a:t>
            </a:r>
          </a:p>
        </p:txBody>
      </p:sp>
      <p:sp>
        <p:nvSpPr>
          <p:cNvPr id="6" name="TextBox 5"/>
          <p:cNvSpPr txBox="1"/>
          <p:nvPr/>
        </p:nvSpPr>
        <p:spPr>
          <a:xfrm>
            <a:off x="2852928" y="4892040"/>
            <a:ext cx="2084831" cy="987552"/>
          </a:xfrm>
          <a:prstGeom prst="rect">
            <a:avLst/>
          </a:prstGeom>
          <a:noFill/>
        </p:spPr>
        <p:txBody>
          <a:bodyPr wrap="square" anchor="t" lIns="0" rIns="0" tIns="0" bIns="0">
            <a:spAutoFit/>
          </a:bodyPr>
          <a:lstStyle/>
          <a:p>
            <a:pPr algn="ctr">
              <a:spcAft>
                <a:spcPts val="100"/>
              </a:spcAft>
            </a:pPr>
            <a:r>
              <a:rPr sz="3000" b="1" i="0">
                <a:solidFill>
                  <a:srgbClr val="1E6B52"/>
                </a:solidFill>
                <a:latin typeface="Cambria"/>
              </a:rPr>
              <a:t>0</a:t>
            </a:r>
          </a:p>
          <a:p>
            <a:pPr algn="ctr">
              <a:spcAft>
                <a:spcPts val="0"/>
              </a:spcAft>
            </a:pPr>
            <a:r>
              <a:rPr sz="950" b="0" i="0">
                <a:solidFill>
                  <a:srgbClr val="455566"/>
                </a:solidFill>
                <a:latin typeface="Calibri"/>
              </a:rPr>
              <a:t>execution failures</a:t>
            </a:r>
          </a:p>
        </p:txBody>
      </p:sp>
      <p:sp>
        <p:nvSpPr>
          <p:cNvPr id="7" name="TextBox 6"/>
          <p:cNvSpPr txBox="1"/>
          <p:nvPr/>
        </p:nvSpPr>
        <p:spPr>
          <a:xfrm>
            <a:off x="5065776" y="4892040"/>
            <a:ext cx="2084831" cy="987552"/>
          </a:xfrm>
          <a:prstGeom prst="rect">
            <a:avLst/>
          </a:prstGeom>
          <a:noFill/>
        </p:spPr>
        <p:txBody>
          <a:bodyPr wrap="square" anchor="t" lIns="0" rIns="0" tIns="0" bIns="0">
            <a:spAutoFit/>
          </a:bodyPr>
          <a:lstStyle/>
          <a:p>
            <a:pPr algn="ctr">
              <a:spcAft>
                <a:spcPts val="100"/>
              </a:spcAft>
            </a:pPr>
            <a:r>
              <a:rPr sz="3000" b="1" i="0">
                <a:solidFill>
                  <a:srgbClr val="A9760B"/>
                </a:solidFill>
                <a:latin typeface="Cambria"/>
              </a:rPr>
              <a:t>6</a:t>
            </a:r>
          </a:p>
          <a:p>
            <a:pPr algn="ctr">
              <a:spcAft>
                <a:spcPts val="0"/>
              </a:spcAft>
            </a:pPr>
            <a:r>
              <a:rPr sz="950" b="0" i="0">
                <a:solidFill>
                  <a:srgbClr val="455566"/>
                </a:solidFill>
                <a:latin typeface="Calibri"/>
              </a:rPr>
              <a:t>measurement defects found</a:t>
            </a:r>
          </a:p>
        </p:txBody>
      </p:sp>
      <p:sp>
        <p:nvSpPr>
          <p:cNvPr id="8" name="TextBox 7"/>
          <p:cNvSpPr txBox="1"/>
          <p:nvPr/>
        </p:nvSpPr>
        <p:spPr>
          <a:xfrm>
            <a:off x="7278624" y="4892040"/>
            <a:ext cx="2084831" cy="987552"/>
          </a:xfrm>
          <a:prstGeom prst="rect">
            <a:avLst/>
          </a:prstGeom>
          <a:noFill/>
        </p:spPr>
        <p:txBody>
          <a:bodyPr wrap="square" anchor="t" lIns="0" rIns="0" tIns="0" bIns="0">
            <a:spAutoFit/>
          </a:bodyPr>
          <a:lstStyle/>
          <a:p>
            <a:pPr algn="ctr">
              <a:spcAft>
                <a:spcPts val="100"/>
              </a:spcAft>
            </a:pPr>
            <a:r>
              <a:rPr sz="3000" b="1" i="0">
                <a:solidFill>
                  <a:srgbClr val="1E6B52"/>
                </a:solidFill>
                <a:latin typeface="Cambria"/>
              </a:rPr>
              <a:t>5</a:t>
            </a:r>
          </a:p>
          <a:p>
            <a:pPr algn="ctr">
              <a:spcAft>
                <a:spcPts val="0"/>
              </a:spcAft>
            </a:pPr>
            <a:r>
              <a:rPr sz="950" b="0" i="0">
                <a:solidFill>
                  <a:srgbClr val="455566"/>
                </a:solidFill>
                <a:latin typeface="Calibri"/>
              </a:rPr>
              <a:t>of those, self-caught</a:t>
            </a:r>
          </a:p>
        </p:txBody>
      </p:sp>
      <p:sp>
        <p:nvSpPr>
          <p:cNvPr id="9" name="TextBox 8"/>
          <p:cNvSpPr txBox="1"/>
          <p:nvPr/>
        </p:nvSpPr>
        <p:spPr>
          <a:xfrm>
            <a:off x="9491472" y="4892040"/>
            <a:ext cx="2084831" cy="987552"/>
          </a:xfrm>
          <a:prstGeom prst="rect">
            <a:avLst/>
          </a:prstGeom>
          <a:noFill/>
        </p:spPr>
        <p:txBody>
          <a:bodyPr wrap="square" anchor="t" lIns="0" rIns="0" tIns="0" bIns="0">
            <a:spAutoFit/>
          </a:bodyPr>
          <a:lstStyle/>
          <a:p>
            <a:pPr algn="ctr">
              <a:spcAft>
                <a:spcPts val="100"/>
              </a:spcAft>
            </a:pPr>
            <a:r>
              <a:rPr sz="3000" b="1" i="0">
                <a:solidFill>
                  <a:srgbClr val="A33328"/>
                </a:solidFill>
                <a:latin typeface="Cambria"/>
              </a:rPr>
              <a:t>0 / 30</a:t>
            </a:r>
          </a:p>
          <a:p>
            <a:pPr algn="ctr">
              <a:spcAft>
                <a:spcPts val="0"/>
              </a:spcAft>
            </a:pPr>
            <a:r>
              <a:rPr sz="950" b="0" i="0">
                <a:solidFill>
                  <a:srgbClr val="455566"/>
                </a:solidFill>
                <a:latin typeface="Calibri"/>
              </a:rPr>
              <a:t>external validation [M-ext]</a:t>
            </a:r>
          </a:p>
        </p:txBody>
      </p:sp>
      <p:sp>
        <p:nvSpPr>
          <p:cNvPr id="10" name="TextBox 9"/>
          <p:cNvSpPr txBox="1"/>
          <p:nvPr/>
        </p:nvSpPr>
        <p:spPr>
          <a:xfrm>
            <a:off x="640080" y="6364224"/>
            <a:ext cx="10881360" cy="274320"/>
          </a:xfrm>
          <a:prstGeom prst="rect">
            <a:avLst/>
          </a:prstGeom>
          <a:noFill/>
        </p:spPr>
        <p:txBody>
          <a:bodyPr wrap="square" anchor="t" lIns="0" rIns="0" tIns="0" bIns="0">
            <a:spAutoFit/>
          </a:bodyPr>
          <a:lstStyle/>
          <a:p>
            <a:pPr algn="l">
              <a:spcAft>
                <a:spcPts val="0"/>
              </a:spcAft>
            </a:pPr>
            <a:r>
              <a:rPr sz="850" b="0" i="1">
                <a:solidFill>
                  <a:srgbClr val="8A99A8"/>
                </a:solidFill>
                <a:latin typeface="Calibri"/>
              </a:rPr>
              <a:t>Every invalidated record is retained and flagged, never deleted — an audit that erases its contaminated rows cannot be checked.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10881360" cy="237744"/>
          </a:xfrm>
          <a:prstGeom prst="rect">
            <a:avLst/>
          </a:prstGeom>
          <a:noFill/>
        </p:spPr>
        <p:txBody>
          <a:bodyPr wrap="square" anchor="t" lIns="0" rIns="0" tIns="0" bIns="0">
            <a:spAutoFit/>
          </a:bodyPr>
          <a:lstStyle/>
          <a:p>
            <a:pPr algn="l">
              <a:spcAft>
                <a:spcPts val="0"/>
              </a:spcAft>
            </a:pPr>
            <a:r>
              <a:rPr sz="1000" b="1" i="0">
                <a:solidFill>
                  <a:srgbClr val="1C7293"/>
                </a:solidFill>
                <a:latin typeface="Calibri"/>
              </a:rPr>
              <a:t>RESULTS</a:t>
            </a:r>
          </a:p>
        </p:txBody>
      </p:sp>
      <p:sp>
        <p:nvSpPr>
          <p:cNvPr id="3" name="TextBox 2"/>
          <p:cNvSpPr txBox="1"/>
          <p:nvPr/>
        </p:nvSpPr>
        <p:spPr>
          <a:xfrm>
            <a:off x="640080" y="603504"/>
            <a:ext cx="10881360" cy="566928"/>
          </a:xfrm>
          <a:prstGeom prst="rect">
            <a:avLst/>
          </a:prstGeom>
          <a:noFill/>
        </p:spPr>
        <p:txBody>
          <a:bodyPr wrap="square" anchor="t" lIns="0" rIns="0" tIns="0" bIns="0">
            <a:spAutoFit/>
          </a:bodyPr>
          <a:lstStyle/>
          <a:p>
            <a:pPr algn="l">
              <a:spcAft>
                <a:spcPts val="0"/>
              </a:spcAft>
            </a:pPr>
            <a:r>
              <a:rPr sz="3200" b="1" i="0">
                <a:solidFill>
                  <a:srgbClr val="1A2233"/>
                </a:solidFill>
                <a:latin typeface="Cambria"/>
              </a:rPr>
              <a:t>What we have established</a:t>
            </a:r>
          </a:p>
        </p:txBody>
      </p:sp>
      <p:sp>
        <p:nvSpPr>
          <p:cNvPr id="4" name="Rectangle 3"/>
          <p:cNvSpPr/>
          <p:nvPr/>
        </p:nvSpPr>
        <p:spPr>
          <a:xfrm>
            <a:off x="640080" y="1417320"/>
            <a:ext cx="5349240" cy="1572768"/>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41248" y="1581912"/>
            <a:ext cx="1031443" cy="228600"/>
          </a:xfrm>
          <a:prstGeom prst="roundRect">
            <a:avLst/>
          </a:prstGeom>
          <a:solidFill>
            <a:srgbClr val="1E6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ESTABLISHED</a:t>
            </a:r>
          </a:p>
        </p:txBody>
      </p:sp>
      <p:sp>
        <p:nvSpPr>
          <p:cNvPr id="6" name="TextBox 5"/>
          <p:cNvSpPr txBox="1"/>
          <p:nvPr/>
        </p:nvSpPr>
        <p:spPr>
          <a:xfrm>
            <a:off x="841248" y="1920240"/>
            <a:ext cx="4937760" cy="960120"/>
          </a:xfrm>
          <a:prstGeom prst="rect">
            <a:avLst/>
          </a:prstGeom>
          <a:noFill/>
        </p:spPr>
        <p:txBody>
          <a:bodyPr wrap="square" anchor="t" lIns="0" rIns="0" tIns="0" bIns="0">
            <a:spAutoFit/>
          </a:bodyPr>
          <a:lstStyle/>
          <a:p>
            <a:pPr algn="l">
              <a:spcAft>
                <a:spcPts val="500"/>
              </a:spcAft>
            </a:pPr>
            <a:r>
              <a:rPr sz="1200" b="1" i="0">
                <a:solidFill>
                  <a:srgbClr val="065A82"/>
                </a:solidFill>
                <a:latin typeface="Cambria"/>
              </a:rPr>
              <a:t>Fault observability is heterogeneous</a:t>
            </a:r>
          </a:p>
          <a:p>
            <a:pPr algn="l">
              <a:spcAft>
                <a:spcPts val="0"/>
              </a:spcAft>
            </a:pPr>
            <a:r>
              <a:rPr sz="1000" b="0" i="0">
                <a:solidFill>
                  <a:srgbClr val="455566"/>
                </a:solidFill>
                <a:latin typeface="Calibri"/>
              </a:rPr>
              <a:t>Four valid faults, four distinct behaviours: absorbed, absorbed-then-recovered, non-monotonic, persistent. A single absorption metric is ill-posed for five of six.</a:t>
            </a:r>
          </a:p>
        </p:txBody>
      </p:sp>
      <p:sp>
        <p:nvSpPr>
          <p:cNvPr id="7" name="Rectangle 6"/>
          <p:cNvSpPr/>
          <p:nvPr/>
        </p:nvSpPr>
        <p:spPr>
          <a:xfrm>
            <a:off x="640080" y="3099816"/>
            <a:ext cx="5349240" cy="1572768"/>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41248" y="3264408"/>
            <a:ext cx="870508" cy="228600"/>
          </a:xfrm>
          <a:prstGeom prst="roundRect">
            <a:avLst/>
          </a:prstGeom>
          <a:solidFill>
            <a:srgbClr val="1E6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SUPPORTED</a:t>
            </a:r>
          </a:p>
        </p:txBody>
      </p:sp>
      <p:sp>
        <p:nvSpPr>
          <p:cNvPr id="9" name="TextBox 8"/>
          <p:cNvSpPr txBox="1"/>
          <p:nvPr/>
        </p:nvSpPr>
        <p:spPr>
          <a:xfrm>
            <a:off x="841248" y="3602736"/>
            <a:ext cx="4937760" cy="960120"/>
          </a:xfrm>
          <a:prstGeom prst="rect">
            <a:avLst/>
          </a:prstGeom>
          <a:noFill/>
        </p:spPr>
        <p:txBody>
          <a:bodyPr wrap="square" anchor="t" lIns="0" rIns="0" tIns="0" bIns="0">
            <a:spAutoFit/>
          </a:bodyPr>
          <a:lstStyle/>
          <a:p>
            <a:pPr algn="l">
              <a:spcAft>
                <a:spcPts val="500"/>
              </a:spcAft>
            </a:pPr>
            <a:r>
              <a:rPr sz="1200" b="1" i="0">
                <a:solidFill>
                  <a:srgbClr val="065A82"/>
                </a:solidFill>
                <a:latin typeface="Cambria"/>
              </a:rPr>
              <a:t>One clean absorption result</a:t>
            </a:r>
          </a:p>
          <a:p>
            <a:pPr algn="l">
              <a:spcAft>
                <a:spcPts val="0"/>
              </a:spcAft>
            </a:pPr>
            <a:r>
              <a:rPr sz="1000" b="0" i="0">
                <a:solidFill>
                  <a:srgbClr val="455566"/>
                </a:solidFill>
                <a:latin typeface="Calibri"/>
              </a:rPr>
              <a:t>speed_stuck on policy P1: D 0.9625 → 0.5629 at the estimator, well-posed on 30/30 seeds, SD 0.0077.</a:t>
            </a:r>
          </a:p>
        </p:txBody>
      </p:sp>
      <p:sp>
        <p:nvSpPr>
          <p:cNvPr id="10" name="Rectangle 9"/>
          <p:cNvSpPr/>
          <p:nvPr/>
        </p:nvSpPr>
        <p:spPr>
          <a:xfrm>
            <a:off x="640080" y="4782312"/>
            <a:ext cx="5349240" cy="1572768"/>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41248" y="4946904"/>
            <a:ext cx="1031443" cy="228600"/>
          </a:xfrm>
          <a:prstGeom prst="roundRect">
            <a:avLst/>
          </a:prstGeom>
          <a:solidFill>
            <a:srgbClr val="1E6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ESTABLISHED</a:t>
            </a:r>
          </a:p>
        </p:txBody>
      </p:sp>
      <p:sp>
        <p:nvSpPr>
          <p:cNvPr id="12" name="TextBox 11"/>
          <p:cNvSpPr txBox="1"/>
          <p:nvPr/>
        </p:nvSpPr>
        <p:spPr>
          <a:xfrm>
            <a:off x="841248" y="5285232"/>
            <a:ext cx="4937760" cy="960120"/>
          </a:xfrm>
          <a:prstGeom prst="rect">
            <a:avLst/>
          </a:prstGeom>
          <a:noFill/>
        </p:spPr>
        <p:txBody>
          <a:bodyPr wrap="square" anchor="t" lIns="0" rIns="0" tIns="0" bIns="0">
            <a:spAutoFit/>
          </a:bodyPr>
          <a:lstStyle/>
          <a:p>
            <a:pPr algn="l">
              <a:spcAft>
                <a:spcPts val="500"/>
              </a:spcAft>
            </a:pPr>
            <a:r>
              <a:rPr sz="1200" b="1" i="0">
                <a:solidFill>
                  <a:srgbClr val="065A82"/>
                </a:solidFill>
                <a:latin typeface="Cambria"/>
              </a:rPr>
              <a:t>A fault-injection channel was inert for 17 days</a:t>
            </a:r>
          </a:p>
          <a:p>
            <a:pPr algn="l">
              <a:spcAft>
                <a:spcPts val="0"/>
              </a:spcAft>
            </a:pPr>
            <a:r>
              <a:rPr sz="1000" b="0" i="0">
                <a:solidFill>
                  <a:srgbClr val="455566"/>
                </a:solidFill>
                <a:latin typeface="Calibri"/>
              </a:rPr>
              <a:t>POSITION_Y was regenerated from ground truth by the redundancy path. Demonstrated causally: estimator sees 0 with redundancy on, 3.18 with it off.</a:t>
            </a:r>
          </a:p>
        </p:txBody>
      </p:sp>
      <p:sp>
        <p:nvSpPr>
          <p:cNvPr id="13" name="Rectangle 12"/>
          <p:cNvSpPr/>
          <p:nvPr/>
        </p:nvSpPr>
        <p:spPr>
          <a:xfrm>
            <a:off x="6172200" y="1417320"/>
            <a:ext cx="5349240" cy="1572768"/>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73368" y="1581912"/>
            <a:ext cx="1031443" cy="228600"/>
          </a:xfrm>
          <a:prstGeom prst="roundRect">
            <a:avLst/>
          </a:prstGeom>
          <a:solidFill>
            <a:srgbClr val="1E6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ESTABLISHED</a:t>
            </a:r>
          </a:p>
        </p:txBody>
      </p:sp>
      <p:sp>
        <p:nvSpPr>
          <p:cNvPr id="15" name="TextBox 14"/>
          <p:cNvSpPr txBox="1"/>
          <p:nvPr/>
        </p:nvSpPr>
        <p:spPr>
          <a:xfrm>
            <a:off x="6373368" y="1920240"/>
            <a:ext cx="4937760" cy="960120"/>
          </a:xfrm>
          <a:prstGeom prst="rect">
            <a:avLst/>
          </a:prstGeom>
          <a:noFill/>
        </p:spPr>
        <p:txBody>
          <a:bodyPr wrap="square" anchor="t" lIns="0" rIns="0" tIns="0" bIns="0">
            <a:spAutoFit/>
          </a:bodyPr>
          <a:lstStyle/>
          <a:p>
            <a:pPr algn="l">
              <a:spcAft>
                <a:spcPts val="500"/>
              </a:spcAft>
            </a:pPr>
            <a:r>
              <a:rPr sz="1200" b="1" i="0">
                <a:solidFill>
                  <a:srgbClr val="065A82"/>
                </a:solidFill>
                <a:latin typeface="Cambria"/>
              </a:rPr>
              <a:t>Discriminability does not predict detection</a:t>
            </a:r>
          </a:p>
          <a:p>
            <a:pPr algn="l">
              <a:spcAft>
                <a:spcPts val="0"/>
              </a:spcAft>
            </a:pPr>
            <a:r>
              <a:rPr sz="1000" b="0" i="0">
                <a:solidFill>
                  <a:srgbClr val="455566"/>
                </a:solidFill>
                <a:latin typeface="Calibri"/>
              </a:rPr>
              <a:t>17 of 28 cells disagree. D_L1 vs operational detection: Spearman ρ = −0.480, p = 0.0088 — the association runs backwards.</a:t>
            </a:r>
          </a:p>
        </p:txBody>
      </p:sp>
      <p:sp>
        <p:nvSpPr>
          <p:cNvPr id="16" name="Rectangle 15"/>
          <p:cNvSpPr/>
          <p:nvPr/>
        </p:nvSpPr>
        <p:spPr>
          <a:xfrm>
            <a:off x="6172200" y="3099816"/>
            <a:ext cx="5349240" cy="1572768"/>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73368" y="3264408"/>
            <a:ext cx="870508" cy="228600"/>
          </a:xfrm>
          <a:prstGeom prst="roundRect">
            <a:avLst/>
          </a:prstGeom>
          <a:solidFill>
            <a:srgbClr val="1E6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SUPPORTED</a:t>
            </a:r>
          </a:p>
        </p:txBody>
      </p:sp>
      <p:sp>
        <p:nvSpPr>
          <p:cNvPr id="18" name="TextBox 17"/>
          <p:cNvSpPr txBox="1"/>
          <p:nvPr/>
        </p:nvSpPr>
        <p:spPr>
          <a:xfrm>
            <a:off x="6373368" y="3602736"/>
            <a:ext cx="4937760" cy="960120"/>
          </a:xfrm>
          <a:prstGeom prst="rect">
            <a:avLst/>
          </a:prstGeom>
          <a:noFill/>
        </p:spPr>
        <p:txBody>
          <a:bodyPr wrap="square" anchor="t" lIns="0" rIns="0" tIns="0" bIns="0">
            <a:spAutoFit/>
          </a:bodyPr>
          <a:lstStyle/>
          <a:p>
            <a:pPr algn="l">
              <a:spcAft>
                <a:spcPts val="500"/>
              </a:spcAft>
            </a:pPr>
            <a:r>
              <a:rPr sz="1200" b="1" i="0">
                <a:solidFill>
                  <a:srgbClr val="065A82"/>
                </a:solidFill>
                <a:latin typeface="Cambria"/>
              </a:rPr>
              <a:t>Fault-induced alarm suppression</a:t>
            </a:r>
          </a:p>
          <a:p>
            <a:pPr algn="l">
              <a:spcAft>
                <a:spcPts val="0"/>
              </a:spcAft>
            </a:pPr>
            <a:r>
              <a:rPr sz="1000" b="0" i="0">
                <a:solidFill>
                  <a:srgbClr val="455566"/>
                </a:solidFill>
                <a:latin typeface="Calibri"/>
              </a:rPr>
              <a:t>11 of 28 cells, all p &lt; 0.05. imu_dropout on P1 makes the monitor 55× LESS likely to alarm than clean operation — not better detection.</a:t>
            </a:r>
          </a:p>
        </p:txBody>
      </p:sp>
      <p:sp>
        <p:nvSpPr>
          <p:cNvPr id="19" name="Rectangle 18"/>
          <p:cNvSpPr/>
          <p:nvPr/>
        </p:nvSpPr>
        <p:spPr>
          <a:xfrm>
            <a:off x="6172200" y="4782312"/>
            <a:ext cx="5349240" cy="1572768"/>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73368" y="4946904"/>
            <a:ext cx="1031443" cy="228600"/>
          </a:xfrm>
          <a:prstGeom prst="roundRect">
            <a:avLst/>
          </a:prstGeom>
          <a:solidFill>
            <a:srgbClr val="1E6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ESTABLISHED</a:t>
            </a:r>
          </a:p>
        </p:txBody>
      </p:sp>
      <p:sp>
        <p:nvSpPr>
          <p:cNvPr id="21" name="TextBox 20"/>
          <p:cNvSpPr txBox="1"/>
          <p:nvPr/>
        </p:nvSpPr>
        <p:spPr>
          <a:xfrm>
            <a:off x="6373368" y="5285232"/>
            <a:ext cx="4937760" cy="960120"/>
          </a:xfrm>
          <a:prstGeom prst="rect">
            <a:avLst/>
          </a:prstGeom>
          <a:noFill/>
        </p:spPr>
        <p:txBody>
          <a:bodyPr wrap="square" anchor="t" lIns="0" rIns="0" tIns="0" bIns="0">
            <a:spAutoFit/>
          </a:bodyPr>
          <a:lstStyle/>
          <a:p>
            <a:pPr algn="l">
              <a:spcAft>
                <a:spcPts val="500"/>
              </a:spcAft>
            </a:pPr>
            <a:r>
              <a:rPr sz="1200" b="1" i="0">
                <a:solidFill>
                  <a:srgbClr val="065A82"/>
                </a:solidFill>
                <a:latin typeface="Cambria"/>
              </a:rPr>
              <a:t>Two faults are undetectable at any severity</a:t>
            </a:r>
          </a:p>
          <a:p>
            <a:pPr algn="l">
              <a:spcAft>
                <a:spcPts val="0"/>
              </a:spcAft>
            </a:pPr>
            <a:r>
              <a:rPr sz="1000" b="0" i="0">
                <a:solidFill>
                  <a:srgbClr val="455566"/>
                </a:solidFill>
                <a:latin typeface="Calibri"/>
              </a:rPr>
              <a:t>speed_stuck and imu_dropout, correctly calibrated, on both valid policies. A property of the score, not of the threshold.</a:t>
            </a:r>
          </a:p>
        </p:txBody>
      </p:sp>
      <p:sp>
        <p:nvSpPr>
          <p:cNvPr id="22" name="TextBox 21"/>
          <p:cNvSpPr txBox="1"/>
          <p:nvPr/>
        </p:nvSpPr>
        <p:spPr>
          <a:xfrm>
            <a:off x="640080" y="6364224"/>
            <a:ext cx="10881360" cy="274320"/>
          </a:xfrm>
          <a:prstGeom prst="rect">
            <a:avLst/>
          </a:prstGeom>
          <a:noFill/>
        </p:spPr>
        <p:txBody>
          <a:bodyPr wrap="square" anchor="t" lIns="0" rIns="0" tIns="0" bIns="0">
            <a:spAutoFit/>
          </a:bodyPr>
          <a:lstStyle/>
          <a:p>
            <a:pPr algn="l">
              <a:spcAft>
                <a:spcPts val="0"/>
              </a:spcAft>
            </a:pPr>
            <a:r>
              <a:rPr sz="850" b="0" i="1">
                <a:solidFill>
                  <a:srgbClr val="8A99A8"/>
                </a:solidFill>
                <a:latin typeface="Calibri"/>
              </a:rPr>
              <a:t>All results are [M-syn] — synthetic plant, three policies, one severity per fault where parameterisable. Thirty seeds buys reproducibility, not external validity.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10881360" cy="237744"/>
          </a:xfrm>
          <a:prstGeom prst="rect">
            <a:avLst/>
          </a:prstGeom>
          <a:noFill/>
        </p:spPr>
        <p:txBody>
          <a:bodyPr wrap="square" anchor="t" lIns="0" rIns="0" tIns="0" bIns="0">
            <a:spAutoFit/>
          </a:bodyPr>
          <a:lstStyle/>
          <a:p>
            <a:pPr algn="l">
              <a:spcAft>
                <a:spcPts val="0"/>
              </a:spcAft>
            </a:pPr>
            <a:r>
              <a:rPr sz="1000" b="1" i="0">
                <a:solidFill>
                  <a:srgbClr val="1C7293"/>
                </a:solidFill>
                <a:latin typeface="Calibri"/>
              </a:rPr>
              <a:t>THE CENTRAL TECHNICAL FINDING</a:t>
            </a:r>
          </a:p>
        </p:txBody>
      </p:sp>
      <p:sp>
        <p:nvSpPr>
          <p:cNvPr id="3" name="TextBox 2"/>
          <p:cNvSpPr txBox="1"/>
          <p:nvPr/>
        </p:nvSpPr>
        <p:spPr>
          <a:xfrm>
            <a:off x="640080" y="603504"/>
            <a:ext cx="10881360" cy="566928"/>
          </a:xfrm>
          <a:prstGeom prst="rect">
            <a:avLst/>
          </a:prstGeom>
          <a:noFill/>
        </p:spPr>
        <p:txBody>
          <a:bodyPr wrap="square" anchor="t" lIns="0" rIns="0" tIns="0" bIns="0">
            <a:spAutoFit/>
          </a:bodyPr>
          <a:lstStyle/>
          <a:p>
            <a:pPr algn="l">
              <a:spcAft>
                <a:spcPts val="0"/>
              </a:spcAft>
            </a:pPr>
            <a:r>
              <a:rPr sz="3200" b="1" i="0">
                <a:solidFill>
                  <a:srgbClr val="1A2233"/>
                </a:solidFill>
                <a:latin typeface="Cambria"/>
              </a:rPr>
              <a:t>Why the monitor cannot be calibrated</a:t>
            </a:r>
          </a:p>
        </p:txBody>
      </p:sp>
      <p:sp>
        <p:nvSpPr>
          <p:cNvPr id="4" name="TextBox 3"/>
          <p:cNvSpPr txBox="1"/>
          <p:nvPr/>
        </p:nvSpPr>
        <p:spPr>
          <a:xfrm>
            <a:off x="640080" y="1353312"/>
            <a:ext cx="10881360" cy="274320"/>
          </a:xfrm>
          <a:prstGeom prst="rect">
            <a:avLst/>
          </a:prstGeom>
          <a:noFill/>
        </p:spPr>
        <p:txBody>
          <a:bodyPr wrap="square" anchor="t" lIns="0" rIns="0" tIns="0" bIns="0">
            <a:spAutoFit/>
          </a:bodyPr>
          <a:lstStyle/>
          <a:p>
            <a:pPr algn="l">
              <a:spcAft>
                <a:spcPts val="0"/>
              </a:spcAft>
            </a:pPr>
            <a:r>
              <a:rPr sz="1300" b="1" i="0">
                <a:solidFill>
                  <a:srgbClr val="1A2233"/>
                </a:solidFill>
                <a:latin typeface="Cambria"/>
              </a:rPr>
              <a:t>The threshold is in the right place. The score has no room around it.</a:t>
            </a:r>
          </a:p>
        </p:txBody>
      </p:sp>
      <p:sp>
        <p:nvSpPr>
          <p:cNvPr id="5" name="TextBox 4"/>
          <p:cNvSpPr txBox="1"/>
          <p:nvPr/>
        </p:nvSpPr>
        <p:spPr>
          <a:xfrm>
            <a:off x="640080" y="1783080"/>
            <a:ext cx="2606040" cy="987552"/>
          </a:xfrm>
          <a:prstGeom prst="rect">
            <a:avLst/>
          </a:prstGeom>
          <a:noFill/>
        </p:spPr>
        <p:txBody>
          <a:bodyPr wrap="square" anchor="t" lIns="0" rIns="0" tIns="0" bIns="0">
            <a:spAutoFit/>
          </a:bodyPr>
          <a:lstStyle/>
          <a:p>
            <a:pPr algn="ctr">
              <a:spcAft>
                <a:spcPts val="100"/>
              </a:spcAft>
            </a:pPr>
            <a:r>
              <a:rPr sz="2700" b="1" i="0">
                <a:solidFill>
                  <a:srgbClr val="065A82"/>
                </a:solidFill>
                <a:latin typeface="Cambria"/>
              </a:rPr>
              <a:t>0.0097</a:t>
            </a:r>
          </a:p>
          <a:p>
            <a:pPr algn="ctr">
              <a:spcAft>
                <a:spcPts val="0"/>
              </a:spcAft>
            </a:pPr>
            <a:r>
              <a:rPr sz="950" b="0" i="0">
                <a:solidFill>
                  <a:srgbClr val="455566"/>
                </a:solidFill>
                <a:latin typeface="Calibri"/>
              </a:rPr>
              <a:t>score standard deviation (P1)</a:t>
            </a:r>
          </a:p>
        </p:txBody>
      </p:sp>
      <p:sp>
        <p:nvSpPr>
          <p:cNvPr id="6" name="TextBox 5"/>
          <p:cNvSpPr txBox="1"/>
          <p:nvPr/>
        </p:nvSpPr>
        <p:spPr>
          <a:xfrm>
            <a:off x="3410712" y="1783080"/>
            <a:ext cx="2606040" cy="987552"/>
          </a:xfrm>
          <a:prstGeom prst="rect">
            <a:avLst/>
          </a:prstGeom>
          <a:noFill/>
        </p:spPr>
        <p:txBody>
          <a:bodyPr wrap="square" anchor="t" lIns="0" rIns="0" tIns="0" bIns="0">
            <a:spAutoFit/>
          </a:bodyPr>
          <a:lstStyle/>
          <a:p>
            <a:pPr algn="ctr">
              <a:spcAft>
                <a:spcPts val="100"/>
              </a:spcAft>
            </a:pPr>
            <a:r>
              <a:rPr sz="2700" b="1" i="0">
                <a:solidFill>
                  <a:srgbClr val="A9760B"/>
                </a:solidFill>
                <a:latin typeface="Cambria"/>
              </a:rPr>
              <a:t>29 %</a:t>
            </a:r>
          </a:p>
          <a:p>
            <a:pPr algn="ctr">
              <a:spcAft>
                <a:spcPts val="0"/>
              </a:spcAft>
            </a:pPr>
            <a:r>
              <a:rPr sz="950" b="0" i="0">
                <a:solidFill>
                  <a:srgbClr val="455566"/>
                </a:solidFill>
                <a:latin typeface="Calibri"/>
              </a:rPr>
              <a:t>of ticks within ±0.01 of the threshold</a:t>
            </a:r>
          </a:p>
        </p:txBody>
      </p:sp>
      <p:sp>
        <p:nvSpPr>
          <p:cNvPr id="7" name="TextBox 6"/>
          <p:cNvSpPr txBox="1"/>
          <p:nvPr/>
        </p:nvSpPr>
        <p:spPr>
          <a:xfrm>
            <a:off x="6181344" y="1783080"/>
            <a:ext cx="2606040" cy="987552"/>
          </a:xfrm>
          <a:prstGeom prst="rect">
            <a:avLst/>
          </a:prstGeom>
          <a:noFill/>
        </p:spPr>
        <p:txBody>
          <a:bodyPr wrap="square" anchor="t" lIns="0" rIns="0" tIns="0" bIns="0">
            <a:spAutoFit/>
          </a:bodyPr>
          <a:lstStyle/>
          <a:p>
            <a:pPr algn="ctr">
              <a:spcAft>
                <a:spcPts val="100"/>
              </a:spcAft>
            </a:pPr>
            <a:r>
              <a:rPr sz="2700" b="1" i="0">
                <a:solidFill>
                  <a:srgbClr val="065A82"/>
                </a:solidFill>
                <a:latin typeface="Cambria"/>
              </a:rPr>
              <a:t>0.005</a:t>
            </a:r>
          </a:p>
          <a:p>
            <a:pPr algn="ctr">
              <a:spcAft>
                <a:spcPts val="0"/>
              </a:spcAft>
            </a:pPr>
            <a:r>
              <a:rPr sz="950" b="0" i="0">
                <a:solidFill>
                  <a:srgbClr val="455566"/>
                </a:solidFill>
                <a:latin typeface="Calibri"/>
              </a:rPr>
              <a:t>threshold precision required</a:t>
            </a:r>
          </a:p>
        </p:txBody>
      </p:sp>
      <p:sp>
        <p:nvSpPr>
          <p:cNvPr id="8" name="TextBox 7"/>
          <p:cNvSpPr txBox="1"/>
          <p:nvPr/>
        </p:nvSpPr>
        <p:spPr>
          <a:xfrm>
            <a:off x="8951976" y="1783080"/>
            <a:ext cx="2606040" cy="987552"/>
          </a:xfrm>
          <a:prstGeom prst="rect">
            <a:avLst/>
          </a:prstGeom>
          <a:noFill/>
        </p:spPr>
        <p:txBody>
          <a:bodyPr wrap="square" anchor="t" lIns="0" rIns="0" tIns="0" bIns="0">
            <a:spAutoFit/>
          </a:bodyPr>
          <a:lstStyle/>
          <a:p>
            <a:pPr algn="ctr">
              <a:spcAft>
                <a:spcPts val="100"/>
              </a:spcAft>
            </a:pPr>
            <a:r>
              <a:rPr sz="2700" b="1" i="0">
                <a:solidFill>
                  <a:srgbClr val="A33328"/>
                </a:solidFill>
                <a:latin typeface="Cambria"/>
              </a:rPr>
              <a:t>0.013–0.028</a:t>
            </a:r>
          </a:p>
          <a:p>
            <a:pPr algn="ctr">
              <a:spcAft>
                <a:spcPts val="0"/>
              </a:spcAft>
            </a:pPr>
            <a:r>
              <a:rPr sz="950" b="0" i="0">
                <a:solidFill>
                  <a:srgbClr val="455566"/>
                </a:solidFill>
                <a:latin typeface="Calibri"/>
              </a:rPr>
              <a:t>actual run-to-run baseline drift</a:t>
            </a:r>
          </a:p>
        </p:txBody>
      </p:sp>
      <p:graphicFrame>
        <p:nvGraphicFramePr>
          <p:cNvPr id="9" name="Table 8"/>
          <p:cNvGraphicFramePr>
            <a:graphicFrameLocks noGrp="1"/>
          </p:cNvGraphicFramePr>
          <p:nvPr/>
        </p:nvGraphicFramePr>
        <p:xfrm>
          <a:off x="640080" y="2880360"/>
          <a:ext cx="5577840" cy="1481328"/>
        </p:xfrm>
        <a:graphic>
          <a:graphicData uri="http://schemas.openxmlformats.org/drawingml/2006/table">
            <a:tbl>
              <a:tblPr firstRow="1" bandRow="1">
                <a:tableStyleId>{5C22544A-7EE6-4342-B048-85BDC9FD1C3A}</a:tableStyleId>
              </a:tblPr>
              <a:tblGrid>
                <a:gridCol w="2788920"/>
                <a:gridCol w="2788920"/>
              </a:tblGrid>
              <a:tr h="310896">
                <a:tc>
                  <a:txBody>
                    <a:bodyPr wrap="square"/>
                    <a:lstStyle/>
                    <a:p>
                      <a:pPr>
                        <a:spcAft>
                          <a:spcPts val="0"/>
                        </a:spcAft>
                      </a:pPr>
                      <a:r>
                        <a:rPr sz="1000" b="1">
                          <a:solidFill>
                            <a:srgbClr val="FFFFFF"/>
                          </a:solidFill>
                          <a:latin typeface="Calibri"/>
                        </a:rPr>
                        <a:t>Baseline shift</a:t>
                      </a:r>
                    </a:p>
                  </a:txBody>
                  <a:tcPr marL="73152" marR="73152" marT="18288" marB="18288" anchor="ctr">
                    <a:solidFill>
                      <a:srgbClr val="065A82"/>
                    </a:solidFill>
                  </a:tcPr>
                </a:tc>
                <a:tc>
                  <a:txBody>
                    <a:bodyPr wrap="square"/>
                    <a:lstStyle/>
                    <a:p>
                      <a:pPr>
                        <a:spcAft>
                          <a:spcPts val="0"/>
                        </a:spcAft>
                      </a:pPr>
                      <a:r>
                        <a:rPr sz="1000" b="1">
                          <a:solidFill>
                            <a:srgbClr val="FFFFFF"/>
                          </a:solidFill>
                          <a:latin typeface="Calibri"/>
                        </a:rPr>
                        <a:t>P1 false-alarm rate</a:t>
                      </a:r>
                    </a:p>
                  </a:txBody>
                  <a:tcPr marL="73152" marR="73152" marT="18288" marB="18288" anchor="ctr">
                    <a:solidFill>
                      <a:srgbClr val="065A82"/>
                    </a:solidFill>
                  </a:tcPr>
                </a:tc>
              </a:tr>
              <a:tr h="292608">
                <a:tc>
                  <a:txBody>
                    <a:bodyPr wrap="square"/>
                    <a:lstStyle/>
                    <a:p>
                      <a:pPr>
                        <a:spcAft>
                          <a:spcPts val="0"/>
                        </a:spcAft>
                      </a:pPr>
                      <a:r>
                        <a:rPr sz="1100" b="0">
                          <a:solidFill>
                            <a:srgbClr val="1A2233"/>
                          </a:solidFill>
                          <a:latin typeface="Calibri"/>
                        </a:rPr>
                        <a:t>−0.010</a:t>
                      </a:r>
                    </a:p>
                  </a:txBody>
                  <a:tcPr marL="73152" marR="73152" marT="18288" marB="18288" anchor="ctr">
                    <a:solidFill>
                      <a:srgbClr val="FFFFFF"/>
                    </a:solidFill>
                  </a:tcPr>
                </a:tc>
                <a:tc>
                  <a:txBody>
                    <a:bodyPr wrap="square"/>
                    <a:lstStyle/>
                    <a:p>
                      <a:pPr>
                        <a:spcAft>
                          <a:spcPts val="0"/>
                        </a:spcAft>
                      </a:pPr>
                      <a:r>
                        <a:rPr sz="1100" b="0">
                          <a:solidFill>
                            <a:srgbClr val="1A2233"/>
                          </a:solidFill>
                          <a:latin typeface="Calibri"/>
                        </a:rPr>
                        <a:t>0.20 %</a:t>
                      </a:r>
                    </a:p>
                  </a:txBody>
                  <a:tcPr marL="73152" marR="73152" marT="18288" marB="18288" anchor="ctr">
                    <a:solidFill>
                      <a:srgbClr val="FFFFFF"/>
                    </a:solidFill>
                  </a:tcPr>
                </a:tc>
              </a:tr>
              <a:tr h="292608">
                <a:tc>
                  <a:txBody>
                    <a:bodyPr wrap="square"/>
                    <a:lstStyle/>
                    <a:p>
                      <a:pPr>
                        <a:spcAft>
                          <a:spcPts val="0"/>
                        </a:spcAft>
                      </a:pPr>
                      <a:r>
                        <a:rPr sz="1100" b="0">
                          <a:solidFill>
                            <a:srgbClr val="1A2233"/>
                          </a:solidFill>
                          <a:latin typeface="Calibri"/>
                        </a:rPr>
                        <a:t>0 (calibrated)</a:t>
                      </a:r>
                    </a:p>
                  </a:txBody>
                  <a:tcPr marL="73152" marR="73152" marT="18288" marB="18288" anchor="ctr">
                    <a:solidFill>
                      <a:srgbClr val="EFF4F8"/>
                    </a:solidFill>
                  </a:tcPr>
                </a:tc>
                <a:tc>
                  <a:txBody>
                    <a:bodyPr wrap="square"/>
                    <a:lstStyle/>
                    <a:p>
                      <a:pPr>
                        <a:spcAft>
                          <a:spcPts val="0"/>
                        </a:spcAft>
                      </a:pPr>
                      <a:r>
                        <a:rPr sz="1100" b="1">
                          <a:solidFill>
                            <a:srgbClr val="1E6B52"/>
                          </a:solidFill>
                          <a:latin typeface="Calibri"/>
                        </a:rPr>
                        <a:t>4.98 %</a:t>
                      </a:r>
                    </a:p>
                  </a:txBody>
                  <a:tcPr marL="73152" marR="73152" marT="18288" marB="18288" anchor="ctr">
                    <a:solidFill>
                      <a:srgbClr val="EFF4F8"/>
                    </a:solidFill>
                  </a:tcPr>
                </a:tc>
              </a:tr>
              <a:tr h="292608">
                <a:tc>
                  <a:txBody>
                    <a:bodyPr wrap="square"/>
                    <a:lstStyle/>
                    <a:p>
                      <a:pPr>
                        <a:spcAft>
                          <a:spcPts val="0"/>
                        </a:spcAft>
                      </a:pPr>
                      <a:r>
                        <a:rPr sz="1100" b="0">
                          <a:solidFill>
                            <a:srgbClr val="1A2233"/>
                          </a:solidFill>
                          <a:latin typeface="Calibri"/>
                        </a:rPr>
                        <a:t>+0.010</a:t>
                      </a:r>
                    </a:p>
                  </a:txBody>
                  <a:tcPr marL="73152" marR="73152" marT="18288" marB="18288" anchor="ctr">
                    <a:solidFill>
                      <a:srgbClr val="FFFFFF"/>
                    </a:solidFill>
                  </a:tcPr>
                </a:tc>
                <a:tc>
                  <a:txBody>
                    <a:bodyPr wrap="square"/>
                    <a:lstStyle/>
                    <a:p>
                      <a:pPr>
                        <a:spcAft>
                          <a:spcPts val="0"/>
                        </a:spcAft>
                      </a:pPr>
                      <a:r>
                        <a:rPr sz="1100" b="1">
                          <a:solidFill>
                            <a:srgbClr val="A33328"/>
                          </a:solidFill>
                          <a:latin typeface="Calibri"/>
                        </a:rPr>
                        <a:t>29.17 %</a:t>
                      </a:r>
                    </a:p>
                  </a:txBody>
                  <a:tcPr marL="73152" marR="73152" marT="18288" marB="18288" anchor="ctr">
                    <a:solidFill>
                      <a:srgbClr val="FFFFFF"/>
                    </a:solidFill>
                  </a:tcPr>
                </a:tc>
              </a:tr>
              <a:tr h="292608">
                <a:tc>
                  <a:txBody>
                    <a:bodyPr wrap="square"/>
                    <a:lstStyle/>
                    <a:p>
                      <a:pPr>
                        <a:spcAft>
                          <a:spcPts val="0"/>
                        </a:spcAft>
                      </a:pPr>
                      <a:r>
                        <a:rPr sz="1100" b="0">
                          <a:solidFill>
                            <a:srgbClr val="1A2233"/>
                          </a:solidFill>
                          <a:latin typeface="Calibri"/>
                        </a:rPr>
                        <a:t>+0.020</a:t>
                      </a:r>
                    </a:p>
                  </a:txBody>
                  <a:tcPr marL="73152" marR="73152" marT="18288" marB="18288" anchor="ctr">
                    <a:solidFill>
                      <a:srgbClr val="EFF4F8"/>
                    </a:solidFill>
                  </a:tcPr>
                </a:tc>
                <a:tc>
                  <a:txBody>
                    <a:bodyPr wrap="square"/>
                    <a:lstStyle/>
                    <a:p>
                      <a:pPr>
                        <a:spcAft>
                          <a:spcPts val="0"/>
                        </a:spcAft>
                      </a:pPr>
                      <a:r>
                        <a:rPr sz="1100" b="1">
                          <a:solidFill>
                            <a:srgbClr val="A33328"/>
                          </a:solidFill>
                          <a:latin typeface="Calibri"/>
                        </a:rPr>
                        <a:t>69.57 %</a:t>
                      </a:r>
                    </a:p>
                  </a:txBody>
                  <a:tcPr marL="73152" marR="73152" marT="18288" marB="18288" anchor="ctr">
                    <a:solidFill>
                      <a:srgbClr val="EFF4F8"/>
                    </a:solidFill>
                  </a:tcPr>
                </a:tc>
              </a:tr>
            </a:tbl>
          </a:graphicData>
        </a:graphic>
      </p:graphicFrame>
      <p:sp>
        <p:nvSpPr>
          <p:cNvPr id="10" name="Rectangle 9"/>
          <p:cNvSpPr/>
          <p:nvPr/>
        </p:nvSpPr>
        <p:spPr>
          <a:xfrm>
            <a:off x="6446520" y="2880360"/>
            <a:ext cx="5074920" cy="1773936"/>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3026664"/>
            <a:ext cx="4672584" cy="1499616"/>
          </a:xfrm>
          <a:prstGeom prst="rect">
            <a:avLst/>
          </a:prstGeom>
          <a:noFill/>
        </p:spPr>
        <p:txBody>
          <a:bodyPr wrap="square" anchor="t" lIns="0" rIns="0" tIns="0" bIns="0">
            <a:spAutoFit/>
          </a:bodyPr>
          <a:lstStyle/>
          <a:p>
            <a:pPr algn="l">
              <a:spcAft>
                <a:spcPts val="700"/>
              </a:spcAft>
            </a:pPr>
            <a:r>
              <a:rPr sz="1200" b="1" i="0">
                <a:solidFill>
                  <a:srgbClr val="A33328"/>
                </a:solidFill>
                <a:latin typeface="Cambria"/>
              </a:rPr>
              <a:t>The problem in one sentence</a:t>
            </a:r>
          </a:p>
          <a:p>
            <a:pPr algn="l">
              <a:spcAft>
                <a:spcPts val="500"/>
              </a:spcAft>
            </a:pPr>
            <a:r>
              <a:rPr sz="1050" b="1" i="0">
                <a:solidFill>
                  <a:srgbClr val="1A2233"/>
                </a:solidFill>
                <a:latin typeface="Calibri"/>
              </a:rPr>
              <a:t>The threshold must be placed to a precision of about 0.005 score units, while the score's own baseline wanders by 0.013–0.028 between runs.</a:t>
            </a:r>
          </a:p>
          <a:p>
            <a:pPr algn="l">
              <a:spcAft>
                <a:spcPts val="500"/>
              </a:spcAft>
            </a:pPr>
            <a:r>
              <a:rPr sz="1050" b="0" i="0">
                <a:solidFill>
                  <a:srgbClr val="455566"/>
                </a:solidFill>
                <a:latin typeface="Calibri"/>
              </a:rPr>
              <a:t>The precision required is 3–6× finer than the system's own reproducibility. Signal-to-noise at the decision boundary is below 1.</a:t>
            </a:r>
          </a:p>
        </p:txBody>
      </p:sp>
      <p:graphicFrame>
        <p:nvGraphicFramePr>
          <p:cNvPr id="12" name="Table 11"/>
          <p:cNvGraphicFramePr>
            <a:graphicFrameLocks noGrp="1"/>
          </p:cNvGraphicFramePr>
          <p:nvPr/>
        </p:nvGraphicFramePr>
        <p:xfrm>
          <a:off x="640080" y="4864608"/>
          <a:ext cx="10881360" cy="896112"/>
        </p:xfrm>
        <a:graphic>
          <a:graphicData uri="http://schemas.openxmlformats.org/drawingml/2006/table">
            <a:tbl>
              <a:tblPr firstRow="1" bandRow="1">
                <a:tableStyleId>{5C22544A-7EE6-4342-B048-85BDC9FD1C3A}</a:tableStyleId>
              </a:tblPr>
              <a:tblGrid>
                <a:gridCol w="1005840"/>
                <a:gridCol w="2377440"/>
                <a:gridCol w="2194560"/>
                <a:gridCol w="2194560"/>
                <a:gridCol w="3108960"/>
              </a:tblGrid>
              <a:tr h="310896">
                <a:tc>
                  <a:txBody>
                    <a:bodyPr wrap="square"/>
                    <a:lstStyle/>
                    <a:p>
                      <a:pPr>
                        <a:spcAft>
                          <a:spcPts val="0"/>
                        </a:spcAft>
                      </a:pPr>
                      <a:r>
                        <a:rPr sz="1000" b="1">
                          <a:solidFill>
                            <a:srgbClr val="FFFFFF"/>
                          </a:solidFill>
                          <a:latin typeface="Calibri"/>
                        </a:rPr>
                        <a:t>Policy</a:t>
                      </a:r>
                    </a:p>
                  </a:txBody>
                  <a:tcPr marL="73152" marR="73152" marT="18288" marB="18288" anchor="ctr">
                    <a:solidFill>
                      <a:srgbClr val="065A82"/>
                    </a:solidFill>
                  </a:tcPr>
                </a:tc>
                <a:tc>
                  <a:txBody>
                    <a:bodyPr wrap="square"/>
                    <a:lstStyle/>
                    <a:p>
                      <a:pPr>
                        <a:spcAft>
                          <a:spcPts val="0"/>
                        </a:spcAft>
                      </a:pPr>
                      <a:r>
                        <a:rPr sz="1000" b="1">
                          <a:solidFill>
                            <a:srgbClr val="FFFFFF"/>
                          </a:solidFill>
                          <a:latin typeface="Calibri"/>
                        </a:rPr>
                        <a:t>Overdispersion vs binomial</a:t>
                      </a:r>
                    </a:p>
                  </a:txBody>
                  <a:tcPr marL="73152" marR="73152" marT="18288" marB="18288" anchor="ctr">
                    <a:solidFill>
                      <a:srgbClr val="065A82"/>
                    </a:solidFill>
                  </a:tcPr>
                </a:tc>
                <a:tc>
                  <a:txBody>
                    <a:bodyPr wrap="square"/>
                    <a:lstStyle/>
                    <a:p>
                      <a:pPr>
                        <a:spcAft>
                          <a:spcPts val="0"/>
                        </a:spcAft>
                      </a:pPr>
                      <a:r>
                        <a:rPr sz="1000" b="1">
                          <a:solidFill>
                            <a:srgbClr val="FFFFFF"/>
                          </a:solidFill>
                          <a:latin typeface="Calibri"/>
                        </a:rPr>
                        <a:t>Effective ticks (of 200)</a:t>
                      </a:r>
                    </a:p>
                  </a:txBody>
                  <a:tcPr marL="73152" marR="73152" marT="18288" marB="18288" anchor="ctr">
                    <a:solidFill>
                      <a:srgbClr val="065A82"/>
                    </a:solidFill>
                  </a:tcPr>
                </a:tc>
                <a:tc>
                  <a:txBody>
                    <a:bodyPr wrap="square"/>
                    <a:lstStyle/>
                    <a:p>
                      <a:pPr>
                        <a:spcAft>
                          <a:spcPts val="0"/>
                        </a:spcAft>
                      </a:pPr>
                      <a:r>
                        <a:rPr sz="1000" b="1">
                          <a:solidFill>
                            <a:srgbClr val="FFFFFF"/>
                          </a:solidFill>
                          <a:latin typeface="Calibri"/>
                        </a:rPr>
                        <a:t>Alarm autocorrelation</a:t>
                      </a:r>
                    </a:p>
                  </a:txBody>
                  <a:tcPr marL="73152" marR="73152" marT="18288" marB="18288" anchor="ctr">
                    <a:solidFill>
                      <a:srgbClr val="065A82"/>
                    </a:solidFill>
                  </a:tcPr>
                </a:tc>
                <a:tc>
                  <a:txBody>
                    <a:bodyPr wrap="square"/>
                    <a:lstStyle/>
                    <a:p>
                      <a:pPr>
                        <a:spcAft>
                          <a:spcPts val="0"/>
                        </a:spcAft>
                      </a:pPr>
                      <a:r>
                        <a:rPr sz="1000" b="1">
                          <a:solidFill>
                            <a:srgbClr val="FFFFFF"/>
                          </a:solidFill>
                          <a:latin typeface="Calibri"/>
                        </a:rPr>
                        <a:t>Mechanism</a:t>
                      </a:r>
                    </a:p>
                  </a:txBody>
                  <a:tcPr marL="73152" marR="73152" marT="18288" marB="18288" anchor="ctr">
                    <a:solidFill>
                      <a:srgbClr val="065A82"/>
                    </a:solidFill>
                  </a:tcPr>
                </a:tc>
              </a:tr>
              <a:tr h="292608">
                <a:tc>
                  <a:txBody>
                    <a:bodyPr wrap="square"/>
                    <a:lstStyle/>
                    <a:p>
                      <a:pPr>
                        <a:spcAft>
                          <a:spcPts val="0"/>
                        </a:spcAft>
                      </a:pPr>
                      <a:r>
                        <a:rPr sz="1050" b="0">
                          <a:solidFill>
                            <a:srgbClr val="1A2233"/>
                          </a:solidFill>
                          <a:latin typeface="Calibri"/>
                        </a:rPr>
                        <a:t>P1</a:t>
                      </a:r>
                    </a:p>
                  </a:txBody>
                  <a:tcPr marL="73152" marR="73152" marT="18288" marB="18288" anchor="ctr">
                    <a:solidFill>
                      <a:srgbClr val="FFFFFF"/>
                    </a:solidFill>
                  </a:tcPr>
                </a:tc>
                <a:tc>
                  <a:txBody>
                    <a:bodyPr wrap="square"/>
                    <a:lstStyle/>
                    <a:p>
                      <a:pPr>
                        <a:spcAft>
                          <a:spcPts val="0"/>
                        </a:spcAft>
                      </a:pPr>
                      <a:r>
                        <a:rPr sz="1050" b="0">
                          <a:solidFill>
                            <a:srgbClr val="1A2233"/>
                          </a:solidFill>
                          <a:latin typeface="Calibri"/>
                        </a:rPr>
                        <a:t>4.2×</a:t>
                      </a:r>
                    </a:p>
                  </a:txBody>
                  <a:tcPr marL="73152" marR="73152" marT="18288" marB="18288" anchor="ctr">
                    <a:solidFill>
                      <a:srgbClr val="FFFFFF"/>
                    </a:solidFill>
                  </a:tcPr>
                </a:tc>
                <a:tc>
                  <a:txBody>
                    <a:bodyPr wrap="square"/>
                    <a:lstStyle/>
                    <a:p>
                      <a:pPr>
                        <a:spcAft>
                          <a:spcPts val="0"/>
                        </a:spcAft>
                      </a:pPr>
                      <a:r>
                        <a:rPr sz="1050" b="0">
                          <a:solidFill>
                            <a:srgbClr val="1A2233"/>
                          </a:solidFill>
                          <a:latin typeface="Calibri"/>
                        </a:rPr>
                        <a:t>11</a:t>
                      </a:r>
                    </a:p>
                  </a:txBody>
                  <a:tcPr marL="73152" marR="73152" marT="18288" marB="18288" anchor="ctr">
                    <a:solidFill>
                      <a:srgbClr val="FFFFFF"/>
                    </a:solidFill>
                  </a:tcPr>
                </a:tc>
                <a:tc>
                  <a:txBody>
                    <a:bodyPr wrap="square"/>
                    <a:lstStyle/>
                    <a:p>
                      <a:pPr>
                        <a:spcAft>
                          <a:spcPts val="0"/>
                        </a:spcAft>
                      </a:pPr>
                      <a:r>
                        <a:rPr sz="1050" b="0">
                          <a:solidFill>
                            <a:srgbClr val="1A2233"/>
                          </a:solidFill>
                          <a:latin typeface="Calibri"/>
                        </a:rPr>
                        <a:t>+0.359</a:t>
                      </a:r>
                    </a:p>
                  </a:txBody>
                  <a:tcPr marL="73152" marR="73152" marT="18288" marB="18288" anchor="ctr">
                    <a:solidFill>
                      <a:srgbClr val="FFFFFF"/>
                    </a:solidFill>
                  </a:tcPr>
                </a:tc>
                <a:tc>
                  <a:txBody>
                    <a:bodyPr wrap="square"/>
                    <a:lstStyle/>
                    <a:p>
                      <a:pPr>
                        <a:spcAft>
                          <a:spcPts val="0"/>
                        </a:spcAft>
                      </a:pPr>
                      <a:r>
                        <a:rPr sz="1050" b="0">
                          <a:solidFill>
                            <a:srgbClr val="1A2233"/>
                          </a:solidFill>
                          <a:latin typeface="Calibri"/>
                        </a:rPr>
                        <a:t>alarms cluster within a run</a:t>
                      </a:r>
                    </a:p>
                  </a:txBody>
                  <a:tcPr marL="73152" marR="73152" marT="18288" marB="18288" anchor="ctr">
                    <a:solidFill>
                      <a:srgbClr val="FFFFFF"/>
                    </a:solidFill>
                  </a:tcPr>
                </a:tc>
              </a:tr>
              <a:tr h="292608">
                <a:tc>
                  <a:txBody>
                    <a:bodyPr wrap="square"/>
                    <a:lstStyle/>
                    <a:p>
                      <a:pPr>
                        <a:spcAft>
                          <a:spcPts val="0"/>
                        </a:spcAft>
                      </a:pPr>
                      <a:r>
                        <a:rPr sz="1050" b="0">
                          <a:solidFill>
                            <a:srgbClr val="1A2233"/>
                          </a:solidFill>
                          <a:latin typeface="Calibri"/>
                        </a:rPr>
                        <a:t>P3</a:t>
                      </a:r>
                    </a:p>
                  </a:txBody>
                  <a:tcPr marL="73152" marR="73152" marT="18288" marB="18288" anchor="ctr">
                    <a:solidFill>
                      <a:srgbClr val="EFF4F8"/>
                    </a:solidFill>
                  </a:tcPr>
                </a:tc>
                <a:tc>
                  <a:txBody>
                    <a:bodyPr wrap="square"/>
                    <a:lstStyle/>
                    <a:p>
                      <a:pPr>
                        <a:spcAft>
                          <a:spcPts val="0"/>
                        </a:spcAft>
                      </a:pPr>
                      <a:r>
                        <a:rPr sz="1050" b="0">
                          <a:solidFill>
                            <a:srgbClr val="1A2233"/>
                          </a:solidFill>
                          <a:latin typeface="Calibri"/>
                        </a:rPr>
                        <a:t>9.2×</a:t>
                      </a:r>
                    </a:p>
                  </a:txBody>
                  <a:tcPr marL="73152" marR="73152" marT="18288" marB="18288" anchor="ctr">
                    <a:solidFill>
                      <a:srgbClr val="EFF4F8"/>
                    </a:solidFill>
                  </a:tcPr>
                </a:tc>
                <a:tc>
                  <a:txBody>
                    <a:bodyPr wrap="square"/>
                    <a:lstStyle/>
                    <a:p>
                      <a:pPr>
                        <a:spcAft>
                          <a:spcPts val="0"/>
                        </a:spcAft>
                      </a:pPr>
                      <a:r>
                        <a:rPr sz="1050" b="0">
                          <a:solidFill>
                            <a:srgbClr val="1A2233"/>
                          </a:solidFill>
                          <a:latin typeface="Calibri"/>
                        </a:rPr>
                        <a:t>2</a:t>
                      </a:r>
                    </a:p>
                  </a:txBody>
                  <a:tcPr marL="73152" marR="73152" marT="18288" marB="18288" anchor="ctr">
                    <a:solidFill>
                      <a:srgbClr val="EFF4F8"/>
                    </a:solidFill>
                  </a:tcPr>
                </a:tc>
                <a:tc>
                  <a:txBody>
                    <a:bodyPr wrap="square"/>
                    <a:lstStyle/>
                    <a:p>
                      <a:pPr>
                        <a:spcAft>
                          <a:spcPts val="0"/>
                        </a:spcAft>
                      </a:pPr>
                      <a:r>
                        <a:rPr sz="1050" b="0">
                          <a:solidFill>
                            <a:srgbClr val="1A2233"/>
                          </a:solidFill>
                          <a:latin typeface="Calibri"/>
                        </a:rPr>
                        <a:t>≈ 0</a:t>
                      </a:r>
                    </a:p>
                  </a:txBody>
                  <a:tcPr marL="73152" marR="73152" marT="18288" marB="18288" anchor="ctr">
                    <a:solidFill>
                      <a:srgbClr val="EFF4F8"/>
                    </a:solidFill>
                  </a:tcPr>
                </a:tc>
                <a:tc>
                  <a:txBody>
                    <a:bodyPr wrap="square"/>
                    <a:lstStyle/>
                    <a:p>
                      <a:pPr>
                        <a:spcAft>
                          <a:spcPts val="0"/>
                        </a:spcAft>
                      </a:pPr>
                      <a:r>
                        <a:rPr sz="1050" b="0">
                          <a:solidFill>
                            <a:srgbClr val="1A2233"/>
                          </a:solidFill>
                          <a:latin typeface="Calibri"/>
                        </a:rPr>
                        <a:t>baseline varies between runs</a:t>
                      </a:r>
                    </a:p>
                  </a:txBody>
                  <a:tcPr marL="73152" marR="73152" marT="18288" marB="18288" anchor="ctr">
                    <a:solidFill>
                      <a:srgbClr val="EFF4F8"/>
                    </a:solidFill>
                  </a:tcPr>
                </a:tc>
              </a:tr>
            </a:tbl>
          </a:graphicData>
        </a:graphic>
      </p:graphicFrame>
      <p:sp>
        <p:nvSpPr>
          <p:cNvPr id="13" name="TextBox 12"/>
          <p:cNvSpPr txBox="1"/>
          <p:nvPr/>
        </p:nvSpPr>
        <p:spPr>
          <a:xfrm>
            <a:off x="640080" y="6364224"/>
            <a:ext cx="10881360" cy="274320"/>
          </a:xfrm>
          <a:prstGeom prst="rect">
            <a:avLst/>
          </a:prstGeom>
          <a:noFill/>
        </p:spPr>
        <p:txBody>
          <a:bodyPr wrap="square" anchor="t" lIns="0" rIns="0" tIns="0" bIns="0">
            <a:spAutoFit/>
          </a:bodyPr>
          <a:lstStyle/>
          <a:p>
            <a:pPr algn="l">
              <a:spcAft>
                <a:spcPts val="0"/>
              </a:spcAft>
            </a:pPr>
            <a:r>
              <a:rPr sz="850" b="0" i="1">
                <a:solidFill>
                  <a:srgbClr val="8A99A8"/>
                </a:solidFill>
                <a:latin typeface="Calibri"/>
              </a:rPr>
              <a:t>An ideal monitor with independent ticks would place 29.2 of 30 runs in band. Three calibration schemes were tried; the best result for any policy was 13/30. The limit is the score process.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10881360" cy="237744"/>
          </a:xfrm>
          <a:prstGeom prst="rect">
            <a:avLst/>
          </a:prstGeom>
          <a:noFill/>
        </p:spPr>
        <p:txBody>
          <a:bodyPr wrap="square" anchor="t" lIns="0" rIns="0" tIns="0" bIns="0">
            <a:spAutoFit/>
          </a:bodyPr>
          <a:lstStyle/>
          <a:p>
            <a:pPr algn="l">
              <a:spcAft>
                <a:spcPts val="0"/>
              </a:spcAft>
            </a:pPr>
            <a:r>
              <a:rPr sz="1000" b="1" i="0">
                <a:solidFill>
                  <a:srgbClr val="1C7293"/>
                </a:solidFill>
                <a:latin typeface="Calibri"/>
              </a:rPr>
              <a:t>CLAIMS DISCIPLINE</a:t>
            </a:r>
          </a:p>
        </p:txBody>
      </p:sp>
      <p:sp>
        <p:nvSpPr>
          <p:cNvPr id="3" name="TextBox 2"/>
          <p:cNvSpPr txBox="1"/>
          <p:nvPr/>
        </p:nvSpPr>
        <p:spPr>
          <a:xfrm>
            <a:off x="640080" y="603504"/>
            <a:ext cx="10881360" cy="566928"/>
          </a:xfrm>
          <a:prstGeom prst="rect">
            <a:avLst/>
          </a:prstGeom>
          <a:noFill/>
        </p:spPr>
        <p:txBody>
          <a:bodyPr wrap="square" anchor="t" lIns="0" rIns="0" tIns="0" bIns="0">
            <a:spAutoFit/>
          </a:bodyPr>
          <a:lstStyle/>
          <a:p>
            <a:pPr algn="l">
              <a:spcAft>
                <a:spcPts val="0"/>
              </a:spcAft>
            </a:pPr>
            <a:r>
              <a:rPr sz="3200" b="1" i="0">
                <a:solidFill>
                  <a:srgbClr val="1A2233"/>
                </a:solidFill>
                <a:latin typeface="Cambria"/>
              </a:rPr>
              <a:t>What we refuse to claim</a:t>
            </a:r>
          </a:p>
        </p:txBody>
      </p:sp>
      <p:sp>
        <p:nvSpPr>
          <p:cNvPr id="4" name="TextBox 3"/>
          <p:cNvSpPr txBox="1"/>
          <p:nvPr/>
        </p:nvSpPr>
        <p:spPr>
          <a:xfrm>
            <a:off x="640080" y="1371600"/>
            <a:ext cx="10881360" cy="274320"/>
          </a:xfrm>
          <a:prstGeom prst="rect">
            <a:avLst/>
          </a:prstGeom>
          <a:noFill/>
        </p:spPr>
        <p:txBody>
          <a:bodyPr wrap="square" anchor="t" lIns="0" rIns="0" tIns="0" bIns="0">
            <a:spAutoFit/>
          </a:bodyPr>
          <a:lstStyle/>
          <a:p>
            <a:pPr algn="l">
              <a:spcAft>
                <a:spcPts val="0"/>
              </a:spcAft>
            </a:pPr>
            <a:r>
              <a:rPr sz="1150" b="0" i="0">
                <a:solidFill>
                  <a:srgbClr val="455566"/>
                </a:solidFill>
                <a:latin typeface="Calibri"/>
              </a:rPr>
              <a:t>Six measurement defects have been found in this project's own code — five by self-audit, before publication. Each one withdrew a claim.</a:t>
            </a:r>
          </a:p>
        </p:txBody>
      </p:sp>
      <p:sp>
        <p:nvSpPr>
          <p:cNvPr id="5" name="Rectangle 4"/>
          <p:cNvSpPr/>
          <p:nvPr/>
        </p:nvSpPr>
        <p:spPr>
          <a:xfrm>
            <a:off x="640080" y="1828800"/>
            <a:ext cx="6766560" cy="548640"/>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984248"/>
            <a:ext cx="870508" cy="228600"/>
          </a:xfrm>
          <a:prstGeom prst="roundRect">
            <a:avLst/>
          </a:prstGeom>
          <a:solidFill>
            <a:srgbClr val="A333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WITHDRAWN</a:t>
            </a:r>
          </a:p>
        </p:txBody>
      </p:sp>
      <p:sp>
        <p:nvSpPr>
          <p:cNvPr id="7" name="TextBox 6"/>
          <p:cNvSpPr txBox="1"/>
          <p:nvPr/>
        </p:nvSpPr>
        <p:spPr>
          <a:xfrm>
            <a:off x="2148840" y="1892808"/>
            <a:ext cx="5120640" cy="420624"/>
          </a:xfrm>
          <a:prstGeom prst="rect">
            <a:avLst/>
          </a:prstGeom>
          <a:noFill/>
        </p:spPr>
        <p:txBody>
          <a:bodyPr wrap="square" anchor="t" lIns="0" rIns="0" tIns="0" bIns="0">
            <a:spAutoFit/>
          </a:bodyPr>
          <a:lstStyle/>
          <a:p>
            <a:pPr algn="l">
              <a:spcAft>
                <a:spcPts val="200"/>
              </a:spcAft>
            </a:pPr>
            <a:r>
              <a:rPr sz="1100" b="1" i="0">
                <a:solidFill>
                  <a:srgbClr val="1A2233"/>
                </a:solidFill>
                <a:latin typeface="Calibri"/>
              </a:rPr>
              <a:t>General L2a fault absorption</a:t>
            </a:r>
          </a:p>
        </p:txBody>
      </p:sp>
      <p:sp>
        <p:nvSpPr>
          <p:cNvPr id="8" name="TextBox 7"/>
          <p:cNvSpPr txBox="1"/>
          <p:nvPr/>
        </p:nvSpPr>
        <p:spPr>
          <a:xfrm>
            <a:off x="2148840" y="2103120"/>
            <a:ext cx="5120640" cy="237744"/>
          </a:xfrm>
          <a:prstGeom prst="rect">
            <a:avLst/>
          </a:prstGeom>
          <a:noFill/>
        </p:spPr>
        <p:txBody>
          <a:bodyPr wrap="square" anchor="t" lIns="0" rIns="0" tIns="0" bIns="0">
            <a:spAutoFit/>
          </a:bodyPr>
          <a:lstStyle/>
          <a:p>
            <a:pPr algn="l">
              <a:spcAft>
                <a:spcPts val="0"/>
              </a:spcAft>
            </a:pPr>
            <a:r>
              <a:rPr sz="950" b="0" i="0">
                <a:solidFill>
                  <a:srgbClr val="455566"/>
                </a:solidFill>
                <a:latin typeface="Calibri"/>
              </a:rPr>
              <a:t>position faults never reached the estimator</a:t>
            </a:r>
          </a:p>
        </p:txBody>
      </p:sp>
      <p:sp>
        <p:nvSpPr>
          <p:cNvPr id="9" name="Rectangle 8"/>
          <p:cNvSpPr/>
          <p:nvPr/>
        </p:nvSpPr>
        <p:spPr>
          <a:xfrm>
            <a:off x="640080" y="2450592"/>
            <a:ext cx="6766560" cy="548640"/>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2606040"/>
            <a:ext cx="870508" cy="228600"/>
          </a:xfrm>
          <a:prstGeom prst="roundRect">
            <a:avLst/>
          </a:prstGeom>
          <a:solidFill>
            <a:srgbClr val="A333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WITHDRAWN</a:t>
            </a:r>
          </a:p>
        </p:txBody>
      </p:sp>
      <p:sp>
        <p:nvSpPr>
          <p:cNvPr id="11" name="TextBox 10"/>
          <p:cNvSpPr txBox="1"/>
          <p:nvPr/>
        </p:nvSpPr>
        <p:spPr>
          <a:xfrm>
            <a:off x="2148840" y="2514600"/>
            <a:ext cx="5120640" cy="420624"/>
          </a:xfrm>
          <a:prstGeom prst="rect">
            <a:avLst/>
          </a:prstGeom>
          <a:noFill/>
        </p:spPr>
        <p:txBody>
          <a:bodyPr wrap="square" anchor="t" lIns="0" rIns="0" tIns="0" bIns="0">
            <a:spAutoFit/>
          </a:bodyPr>
          <a:lstStyle/>
          <a:p>
            <a:pPr algn="l">
              <a:spcAft>
                <a:spcPts val="200"/>
              </a:spcAft>
            </a:pPr>
            <a:r>
              <a:rPr sz="1100" b="1" i="0">
                <a:solidFill>
                  <a:srgbClr val="1A2233"/>
                </a:solidFill>
                <a:latin typeface="Calibri"/>
              </a:rPr>
              <a:t>Position-fault absorption</a:t>
            </a:r>
          </a:p>
        </p:txBody>
      </p:sp>
      <p:sp>
        <p:nvSpPr>
          <p:cNvPr id="12" name="TextBox 11"/>
          <p:cNvSpPr txBox="1"/>
          <p:nvPr/>
        </p:nvSpPr>
        <p:spPr>
          <a:xfrm>
            <a:off x="2148840" y="2724912"/>
            <a:ext cx="5120640" cy="237744"/>
          </a:xfrm>
          <a:prstGeom prst="rect">
            <a:avLst/>
          </a:prstGeom>
          <a:noFill/>
        </p:spPr>
        <p:txBody>
          <a:bodyPr wrap="square" anchor="t" lIns="0" rIns="0" tIns="0" bIns="0">
            <a:spAutoFit/>
          </a:bodyPr>
          <a:lstStyle/>
          <a:p>
            <a:pPr algn="l">
              <a:spcAft>
                <a:spcPts val="0"/>
              </a:spcAft>
            </a:pPr>
            <a:r>
              <a:rPr sz="950" b="0" i="0">
                <a:solidFill>
                  <a:srgbClr val="455566"/>
                </a:solidFill>
                <a:latin typeface="Calibri"/>
              </a:rPr>
              <a:t>0 of 12 cells after correct injection</a:t>
            </a:r>
          </a:p>
        </p:txBody>
      </p:sp>
      <p:sp>
        <p:nvSpPr>
          <p:cNvPr id="13" name="Rectangle 12"/>
          <p:cNvSpPr/>
          <p:nvPr/>
        </p:nvSpPr>
        <p:spPr>
          <a:xfrm>
            <a:off x="640080" y="3072384"/>
            <a:ext cx="6766560" cy="548640"/>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22960" y="3227832"/>
            <a:ext cx="870508" cy="228600"/>
          </a:xfrm>
          <a:prstGeom prst="roundRect">
            <a:avLst/>
          </a:prstGeom>
          <a:solidFill>
            <a:srgbClr val="A333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WITHDRAWN</a:t>
            </a:r>
          </a:p>
        </p:txBody>
      </p:sp>
      <p:sp>
        <p:nvSpPr>
          <p:cNvPr id="15" name="TextBox 14"/>
          <p:cNvSpPr txBox="1"/>
          <p:nvPr/>
        </p:nvSpPr>
        <p:spPr>
          <a:xfrm>
            <a:off x="2148840" y="3136392"/>
            <a:ext cx="5120640" cy="420624"/>
          </a:xfrm>
          <a:prstGeom prst="rect">
            <a:avLst/>
          </a:prstGeom>
          <a:noFill/>
        </p:spPr>
        <p:txBody>
          <a:bodyPr wrap="square" anchor="t" lIns="0" rIns="0" tIns="0" bIns="0">
            <a:spAutoFit/>
          </a:bodyPr>
          <a:lstStyle/>
          <a:p>
            <a:pPr algn="l">
              <a:spcAft>
                <a:spcPts val="200"/>
              </a:spcAft>
            </a:pPr>
            <a:r>
              <a:rPr sz="1100" b="1" i="0">
                <a:solidFill>
                  <a:srgbClr val="1A2233"/>
                </a:solidFill>
                <a:latin typeface="Calibri"/>
              </a:rPr>
              <a:t>“Information is destroyed at L2a”</a:t>
            </a:r>
          </a:p>
        </p:txBody>
      </p:sp>
      <p:sp>
        <p:nvSpPr>
          <p:cNvPr id="16" name="TextBox 15"/>
          <p:cNvSpPr txBox="1"/>
          <p:nvPr/>
        </p:nvSpPr>
        <p:spPr>
          <a:xfrm>
            <a:off x="2148840" y="3346704"/>
            <a:ext cx="5120640" cy="237744"/>
          </a:xfrm>
          <a:prstGeom prst="rect">
            <a:avLst/>
          </a:prstGeom>
          <a:noFill/>
        </p:spPr>
        <p:txBody>
          <a:bodyPr wrap="square" anchor="t" lIns="0" rIns="0" tIns="0" bIns="0">
            <a:spAutoFit/>
          </a:bodyPr>
          <a:lstStyle/>
          <a:p>
            <a:pPr algn="l">
              <a:spcAft>
                <a:spcPts val="0"/>
              </a:spcAft>
            </a:pPr>
            <a:r>
              <a:rPr sz="950" b="0" i="0">
                <a:solidFill>
                  <a:srgbClr val="455566"/>
                </a:solidFill>
                <a:latin typeface="Calibri"/>
              </a:rPr>
              <a:t>a downstream statistic recovers part of it</a:t>
            </a:r>
          </a:p>
        </p:txBody>
      </p:sp>
      <p:sp>
        <p:nvSpPr>
          <p:cNvPr id="17" name="Rectangle 16"/>
          <p:cNvSpPr/>
          <p:nvPr/>
        </p:nvSpPr>
        <p:spPr>
          <a:xfrm>
            <a:off x="640080" y="3694176"/>
            <a:ext cx="6766560" cy="548640"/>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2960" y="3849624"/>
            <a:ext cx="870508" cy="228600"/>
          </a:xfrm>
          <a:prstGeom prst="roundRect">
            <a:avLst/>
          </a:prstGeom>
          <a:solidFill>
            <a:srgbClr val="A333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WITHDRAWN</a:t>
            </a:r>
          </a:p>
        </p:txBody>
      </p:sp>
      <p:sp>
        <p:nvSpPr>
          <p:cNvPr id="19" name="TextBox 18"/>
          <p:cNvSpPr txBox="1"/>
          <p:nvPr/>
        </p:nvSpPr>
        <p:spPr>
          <a:xfrm>
            <a:off x="2148840" y="3758184"/>
            <a:ext cx="5120640" cy="420624"/>
          </a:xfrm>
          <a:prstGeom prst="rect">
            <a:avLst/>
          </a:prstGeom>
          <a:noFill/>
        </p:spPr>
        <p:txBody>
          <a:bodyPr wrap="square" anchor="t" lIns="0" rIns="0" tIns="0" bIns="0">
            <a:spAutoFit/>
          </a:bodyPr>
          <a:lstStyle/>
          <a:p>
            <a:pPr algn="l">
              <a:spcAft>
                <a:spcPts val="200"/>
              </a:spcAft>
            </a:pPr>
            <a:r>
              <a:rPr sz="1100" b="1" i="0">
                <a:solidFill>
                  <a:srgbClr val="1A2233"/>
                </a:solidFill>
                <a:latin typeface="Calibri"/>
              </a:rPr>
              <a:t>L6 detection-without-response gap</a:t>
            </a:r>
          </a:p>
        </p:txBody>
      </p:sp>
      <p:sp>
        <p:nvSpPr>
          <p:cNvPr id="20" name="TextBox 19"/>
          <p:cNvSpPr txBox="1"/>
          <p:nvPr/>
        </p:nvSpPr>
        <p:spPr>
          <a:xfrm>
            <a:off x="2148840" y="3968496"/>
            <a:ext cx="5120640" cy="237744"/>
          </a:xfrm>
          <a:prstGeom prst="rect">
            <a:avLst/>
          </a:prstGeom>
          <a:noFill/>
        </p:spPr>
        <p:txBody>
          <a:bodyPr wrap="square" anchor="t" lIns="0" rIns="0" tIns="0" bIns="0">
            <a:spAutoFit/>
          </a:bodyPr>
          <a:lstStyle/>
          <a:p>
            <a:pPr algn="l">
              <a:spcAft>
                <a:spcPts val="0"/>
              </a:spcAft>
            </a:pPr>
            <a:r>
              <a:rPr sz="950" b="0" i="0">
                <a:solidFill>
                  <a:srgbClr val="455566"/>
                </a:solidFill>
                <a:latin typeface="Calibri"/>
              </a:rPr>
              <a:t>the gate returns PASS on every tick</a:t>
            </a:r>
          </a:p>
        </p:txBody>
      </p:sp>
      <p:sp>
        <p:nvSpPr>
          <p:cNvPr id="21" name="Rectangle 20"/>
          <p:cNvSpPr/>
          <p:nvPr/>
        </p:nvSpPr>
        <p:spPr>
          <a:xfrm>
            <a:off x="640080" y="4315968"/>
            <a:ext cx="6766560" cy="548640"/>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22960" y="4471416"/>
            <a:ext cx="870508" cy="228600"/>
          </a:xfrm>
          <a:prstGeom prst="roundRect">
            <a:avLst/>
          </a:prstGeom>
          <a:solidFill>
            <a:srgbClr val="A333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WITHDRAWN</a:t>
            </a:r>
          </a:p>
        </p:txBody>
      </p:sp>
      <p:sp>
        <p:nvSpPr>
          <p:cNvPr id="23" name="TextBox 22"/>
          <p:cNvSpPr txBox="1"/>
          <p:nvPr/>
        </p:nvSpPr>
        <p:spPr>
          <a:xfrm>
            <a:off x="2148840" y="4379976"/>
            <a:ext cx="5120640" cy="420624"/>
          </a:xfrm>
          <a:prstGeom prst="rect">
            <a:avLst/>
          </a:prstGeom>
          <a:noFill/>
        </p:spPr>
        <p:txBody>
          <a:bodyPr wrap="square" anchor="t" lIns="0" rIns="0" tIns="0" bIns="0">
            <a:spAutoFit/>
          </a:bodyPr>
          <a:lstStyle/>
          <a:p>
            <a:pPr algn="l">
              <a:spcAft>
                <a:spcPts val="200"/>
              </a:spcAft>
            </a:pPr>
            <a:r>
              <a:rPr sz="1100" b="1" i="0">
                <a:solidFill>
                  <a:srgbClr val="1A2233"/>
                </a:solidFill>
                <a:latin typeface="Calibri"/>
              </a:rPr>
              <a:t>H-regime operating-regime covariate</a:t>
            </a:r>
          </a:p>
        </p:txBody>
      </p:sp>
      <p:sp>
        <p:nvSpPr>
          <p:cNvPr id="24" name="TextBox 23"/>
          <p:cNvSpPr txBox="1"/>
          <p:nvPr/>
        </p:nvSpPr>
        <p:spPr>
          <a:xfrm>
            <a:off x="2148840" y="4590288"/>
            <a:ext cx="5120640" cy="237744"/>
          </a:xfrm>
          <a:prstGeom prst="rect">
            <a:avLst/>
          </a:prstGeom>
          <a:noFill/>
        </p:spPr>
        <p:txBody>
          <a:bodyPr wrap="square" anchor="t" lIns="0" rIns="0" tIns="0" bIns="0">
            <a:spAutoFit/>
          </a:bodyPr>
          <a:lstStyle/>
          <a:p>
            <a:pPr algn="l">
              <a:spcAft>
                <a:spcPts val="0"/>
              </a:spcAft>
            </a:pPr>
            <a:r>
              <a:rPr sz="950" b="0" i="0">
                <a:solidFill>
                  <a:srgbClr val="455566"/>
                </a:solidFill>
                <a:latin typeface="Calibri"/>
              </a:rPr>
              <a:t>Simpson's paradox: pooled −0.341, within-policy +0.836</a:t>
            </a:r>
          </a:p>
        </p:txBody>
      </p:sp>
      <p:sp>
        <p:nvSpPr>
          <p:cNvPr id="25" name="Rectangle 24"/>
          <p:cNvSpPr/>
          <p:nvPr/>
        </p:nvSpPr>
        <p:spPr>
          <a:xfrm>
            <a:off x="640080" y="4937760"/>
            <a:ext cx="6766560" cy="548640"/>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22960" y="5093208"/>
            <a:ext cx="870508" cy="228600"/>
          </a:xfrm>
          <a:prstGeom prst="roundRect">
            <a:avLst/>
          </a:prstGeom>
          <a:solidFill>
            <a:srgbClr val="A333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WITHDRAWN</a:t>
            </a:r>
          </a:p>
        </p:txBody>
      </p:sp>
      <p:sp>
        <p:nvSpPr>
          <p:cNvPr id="27" name="TextBox 26"/>
          <p:cNvSpPr txBox="1"/>
          <p:nvPr/>
        </p:nvSpPr>
        <p:spPr>
          <a:xfrm>
            <a:off x="2148840" y="5001768"/>
            <a:ext cx="5120640" cy="420624"/>
          </a:xfrm>
          <a:prstGeom prst="rect">
            <a:avLst/>
          </a:prstGeom>
          <a:noFill/>
        </p:spPr>
        <p:txBody>
          <a:bodyPr wrap="square" anchor="t" lIns="0" rIns="0" tIns="0" bIns="0">
            <a:spAutoFit/>
          </a:bodyPr>
          <a:lstStyle/>
          <a:p>
            <a:pPr algn="l">
              <a:spcAft>
                <a:spcPts val="200"/>
              </a:spcAft>
            </a:pPr>
            <a:r>
              <a:rPr sz="1100" b="1" i="0">
                <a:solidFill>
                  <a:srgbClr val="1A2233"/>
                </a:solidFill>
                <a:latin typeface="Calibri"/>
              </a:rPr>
              <a:t>OD-8 provides operational monitoring</a:t>
            </a:r>
          </a:p>
        </p:txBody>
      </p:sp>
      <p:sp>
        <p:nvSpPr>
          <p:cNvPr id="28" name="TextBox 27"/>
          <p:cNvSpPr txBox="1"/>
          <p:nvPr/>
        </p:nvSpPr>
        <p:spPr>
          <a:xfrm>
            <a:off x="2148840" y="5212080"/>
            <a:ext cx="5120640" cy="237744"/>
          </a:xfrm>
          <a:prstGeom prst="rect">
            <a:avLst/>
          </a:prstGeom>
          <a:noFill/>
        </p:spPr>
        <p:txBody>
          <a:bodyPr wrap="square" anchor="t" lIns="0" rIns="0" tIns="0" bIns="0">
            <a:spAutoFit/>
          </a:bodyPr>
          <a:lstStyle/>
          <a:p>
            <a:pPr algn="l">
              <a:spcAft>
                <a:spcPts val="0"/>
              </a:spcAft>
            </a:pPr>
            <a:r>
              <a:rPr sz="950" b="0" i="0">
                <a:solidFill>
                  <a:srgbClr val="455566"/>
                </a:solidFill>
                <a:latin typeface="Calibri"/>
              </a:rPr>
              <a:t>no policy is calibrated on the evaluation window</a:t>
            </a:r>
          </a:p>
        </p:txBody>
      </p:sp>
      <p:sp>
        <p:nvSpPr>
          <p:cNvPr id="29" name="Rectangle 28"/>
          <p:cNvSpPr/>
          <p:nvPr/>
        </p:nvSpPr>
        <p:spPr>
          <a:xfrm>
            <a:off x="7635240" y="1828800"/>
            <a:ext cx="3886200" cy="178308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36408" y="1975104"/>
            <a:ext cx="3483864" cy="1508760"/>
          </a:xfrm>
          <a:prstGeom prst="rect">
            <a:avLst/>
          </a:prstGeom>
          <a:noFill/>
        </p:spPr>
        <p:txBody>
          <a:bodyPr wrap="square" anchor="t" lIns="0" rIns="0" tIns="0" bIns="0">
            <a:spAutoFit/>
          </a:bodyPr>
          <a:lstStyle/>
          <a:p>
            <a:pPr algn="l">
              <a:spcAft>
                <a:spcPts val="700"/>
              </a:spcAft>
            </a:pPr>
            <a:r>
              <a:rPr sz="1150" b="1" i="0">
                <a:solidFill>
                  <a:srgbClr val="065A82"/>
                </a:solidFill>
                <a:latin typeface="Cambria"/>
              </a:rPr>
              <a:t>Terminology we enforce</a:t>
            </a:r>
          </a:p>
          <a:p>
            <a:pPr algn="l">
              <a:spcAft>
                <a:spcPts val="500"/>
              </a:spcAft>
            </a:pPr>
            <a:r>
              <a:rPr sz="1050" b="0" i="0">
                <a:solidFill>
                  <a:srgbClr val="455566"/>
                </a:solidFill>
                <a:latin typeface="Calibri"/>
              </a:rPr>
              <a:t>D = 0.5 is chance-level separation, never “50 % accuracy”.</a:t>
            </a:r>
          </a:p>
          <a:p>
            <a:pPr algn="l">
              <a:spcAft>
                <a:spcPts val="500"/>
              </a:spcAft>
            </a:pPr>
            <a:r>
              <a:rPr sz="1050" b="0" i="0">
                <a:solidFill>
                  <a:srgbClr val="455566"/>
                </a:solidFill>
                <a:latin typeface="Calibri"/>
              </a:rPr>
              <a:t>High D never implies a gate fired.</a:t>
            </a:r>
          </a:p>
          <a:p>
            <a:pPr algn="l">
              <a:spcAft>
                <a:spcPts val="500"/>
              </a:spcAft>
            </a:pPr>
            <a:r>
              <a:rPr sz="1050" b="0" i="0">
                <a:solidFill>
                  <a:srgbClr val="455566"/>
                </a:solidFill>
                <a:latin typeface="Calibri"/>
              </a:rPr>
              <a:t>Alarm suppression is not better detection.</a:t>
            </a:r>
          </a:p>
        </p:txBody>
      </p:sp>
      <p:sp>
        <p:nvSpPr>
          <p:cNvPr id="31" name="Rectangle 30"/>
          <p:cNvSpPr/>
          <p:nvPr/>
        </p:nvSpPr>
        <p:spPr>
          <a:xfrm>
            <a:off x="7635240" y="3794760"/>
            <a:ext cx="3886200" cy="1764792"/>
          </a:xfrm>
          <a:prstGeom prst="rect">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36408" y="3941064"/>
            <a:ext cx="3483864" cy="1490472"/>
          </a:xfrm>
          <a:prstGeom prst="rect">
            <a:avLst/>
          </a:prstGeom>
          <a:noFill/>
        </p:spPr>
        <p:txBody>
          <a:bodyPr wrap="square" anchor="t" lIns="0" rIns="0" tIns="0" bIns="0">
            <a:spAutoFit/>
          </a:bodyPr>
          <a:lstStyle/>
          <a:p>
            <a:pPr algn="l">
              <a:spcAft>
                <a:spcPts val="700"/>
              </a:spcAft>
            </a:pPr>
            <a:r>
              <a:rPr sz="1150" b="1" i="0">
                <a:solidFill>
                  <a:srgbClr val="1E6B52"/>
                </a:solidFill>
                <a:latin typeface="Cambria"/>
              </a:rPr>
              <a:t>Why this is a strength</a:t>
            </a:r>
          </a:p>
          <a:p>
            <a:pPr algn="l">
              <a:spcAft>
                <a:spcPts val="500"/>
              </a:spcAft>
            </a:pPr>
            <a:r>
              <a:rPr sz="1050" b="1" i="0">
                <a:solidFill>
                  <a:srgbClr val="1A2233"/>
                </a:solidFill>
                <a:latin typeface="Calibri"/>
              </a:rPr>
              <a:t>Every withdrawal came from auditing a result that looked too clean. The workflow now requires delivered-signal verification before any sweep is believed.</a:t>
            </a:r>
          </a:p>
        </p:txBody>
      </p:sp>
      <p:sp>
        <p:nvSpPr>
          <p:cNvPr id="33" name="TextBox 32"/>
          <p:cNvSpPr txBox="1"/>
          <p:nvPr/>
        </p:nvSpPr>
        <p:spPr>
          <a:xfrm>
            <a:off x="640080" y="6364224"/>
            <a:ext cx="10881360" cy="274320"/>
          </a:xfrm>
          <a:prstGeom prst="rect">
            <a:avLst/>
          </a:prstGeom>
          <a:noFill/>
        </p:spPr>
        <p:txBody>
          <a:bodyPr wrap="square" anchor="t" lIns="0" rIns="0" tIns="0" bIns="0">
            <a:spAutoFit/>
          </a:bodyPr>
          <a:lstStyle/>
          <a:p>
            <a:pPr algn="l">
              <a:spcAft>
                <a:spcPts val="0"/>
              </a:spcAft>
            </a:pPr>
            <a:r>
              <a:rPr sz="850" b="0" i="1">
                <a:solidFill>
                  <a:srgbClr val="8A99A8"/>
                </a:solidFill>
                <a:latin typeface="Calibri"/>
              </a:rPr>
              <a:t>Full status of every claim, with permitted wording, is maintained in CLAIM_LEDGER.md and updated after each experiment.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1295C"/>
        </a:solidFill>
        <a:effectLst/>
      </p:bgPr>
    </p:bg>
    <p:spTree>
      <p:nvGrpSpPr>
        <p:cNvPr id="1" name=""/>
        <p:cNvGrpSpPr/>
        <p:nvPr/>
      </p:nvGrpSpPr>
      <p:grpSpPr/>
      <p:sp>
        <p:nvSpPr>
          <p:cNvPr id="2" name="TextBox 1"/>
          <p:cNvSpPr txBox="1"/>
          <p:nvPr/>
        </p:nvSpPr>
        <p:spPr>
          <a:xfrm>
            <a:off x="640080" y="365760"/>
            <a:ext cx="10881360" cy="237744"/>
          </a:xfrm>
          <a:prstGeom prst="rect">
            <a:avLst/>
          </a:prstGeom>
          <a:noFill/>
        </p:spPr>
        <p:txBody>
          <a:bodyPr wrap="square" anchor="t" lIns="0" rIns="0" tIns="0" bIns="0">
            <a:spAutoFit/>
          </a:bodyPr>
          <a:lstStyle/>
          <a:p>
            <a:pPr algn="l">
              <a:spcAft>
                <a:spcPts val="0"/>
              </a:spcAft>
            </a:pPr>
            <a:r>
              <a:rPr sz="1000" b="1" i="0">
                <a:solidFill>
                  <a:srgbClr val="1C7293"/>
                </a:solidFill>
                <a:latin typeface="Calibri"/>
              </a:rPr>
              <a:t>FURTHER STAGES</a:t>
            </a:r>
          </a:p>
        </p:txBody>
      </p:sp>
      <p:sp>
        <p:nvSpPr>
          <p:cNvPr id="3" name="TextBox 2"/>
          <p:cNvSpPr txBox="1"/>
          <p:nvPr/>
        </p:nvSpPr>
        <p:spPr>
          <a:xfrm>
            <a:off x="640080" y="603504"/>
            <a:ext cx="10881360" cy="566928"/>
          </a:xfrm>
          <a:prstGeom prst="rect">
            <a:avLst/>
          </a:prstGeom>
          <a:noFill/>
        </p:spPr>
        <p:txBody>
          <a:bodyPr wrap="square" anchor="t" lIns="0" rIns="0" tIns="0" bIns="0">
            <a:spAutoFit/>
          </a:bodyPr>
          <a:lstStyle/>
          <a:p>
            <a:pPr algn="l">
              <a:spcAft>
                <a:spcPts val="0"/>
              </a:spcAft>
            </a:pPr>
            <a:r>
              <a:rPr sz="3200" b="1" i="0">
                <a:solidFill>
                  <a:srgbClr val="FFFFFF"/>
                </a:solidFill>
                <a:latin typeface="Cambria"/>
              </a:rPr>
              <a:t>Where this goes next</a:t>
            </a:r>
          </a:p>
        </p:txBody>
      </p:sp>
      <p:sp>
        <p:nvSpPr>
          <p:cNvPr id="4" name="TextBox 3"/>
          <p:cNvSpPr txBox="1"/>
          <p:nvPr/>
        </p:nvSpPr>
        <p:spPr>
          <a:xfrm>
            <a:off x="640080" y="1298448"/>
            <a:ext cx="10881360" cy="292608"/>
          </a:xfrm>
          <a:prstGeom prst="rect">
            <a:avLst/>
          </a:prstGeom>
          <a:noFill/>
        </p:spPr>
        <p:txBody>
          <a:bodyPr wrap="square" anchor="t" lIns="0" rIns="0" tIns="0" bIns="0">
            <a:spAutoFit/>
          </a:bodyPr>
          <a:lstStyle/>
          <a:p>
            <a:pPr algn="l">
              <a:spcAft>
                <a:spcPts val="0"/>
              </a:spcAft>
            </a:pPr>
            <a:r>
              <a:rPr sz="1300" b="0" i="0">
                <a:solidFill>
                  <a:srgbClr val="9FB8CC"/>
                </a:solidFill>
                <a:latin typeface="Calibri"/>
              </a:rPr>
              <a:t>The immediate question is narrow, cheap, and decisive.</a:t>
            </a:r>
          </a:p>
        </p:txBody>
      </p:sp>
      <p:sp>
        <p:nvSpPr>
          <p:cNvPr id="5" name="Rectangle 4"/>
          <p:cNvSpPr/>
          <p:nvPr/>
        </p:nvSpPr>
        <p:spPr>
          <a:xfrm>
            <a:off x="640080" y="1783080"/>
            <a:ext cx="10881360" cy="941832"/>
          </a:xfrm>
          <a:prstGeom prst="rect">
            <a:avLst/>
          </a:prstGeom>
          <a:solidFill>
            <a:srgbClr val="1A21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38528"/>
            <a:ext cx="1463040" cy="274320"/>
          </a:xfrm>
          <a:prstGeom prst="rect">
            <a:avLst/>
          </a:prstGeom>
          <a:noFill/>
        </p:spPr>
        <p:txBody>
          <a:bodyPr wrap="square" anchor="t" lIns="0" rIns="0" tIns="0" bIns="0">
            <a:spAutoFit/>
          </a:bodyPr>
          <a:lstStyle/>
          <a:p>
            <a:pPr algn="l">
              <a:spcAft>
                <a:spcPts val="0"/>
              </a:spcAft>
            </a:pPr>
            <a:r>
              <a:rPr sz="1300" b="1" i="0">
                <a:solidFill>
                  <a:srgbClr val="6EC8E8"/>
                </a:solidFill>
                <a:latin typeface="Cambria"/>
              </a:rPr>
              <a:t>E18-R3</a:t>
            </a:r>
          </a:p>
        </p:txBody>
      </p:sp>
      <p:sp>
        <p:nvSpPr>
          <p:cNvPr id="7" name="TextBox 6"/>
          <p:cNvSpPr txBox="1"/>
          <p:nvPr/>
        </p:nvSpPr>
        <p:spPr>
          <a:xfrm>
            <a:off x="914400" y="2258568"/>
            <a:ext cx="1920240" cy="292608"/>
          </a:xfrm>
          <a:prstGeom prst="rect">
            <a:avLst/>
          </a:prstGeom>
          <a:noFill/>
        </p:spPr>
        <p:txBody>
          <a:bodyPr wrap="square" anchor="t" lIns="0" rIns="0" tIns="0" bIns="0">
            <a:spAutoFit/>
          </a:bodyPr>
          <a:lstStyle/>
          <a:p>
            <a:pPr algn="l">
              <a:spcAft>
                <a:spcPts val="0"/>
              </a:spcAft>
            </a:pPr>
            <a:r>
              <a:rPr sz="1050" b="0" i="0">
                <a:solidFill>
                  <a:srgbClr val="A8C0D4"/>
                </a:solidFill>
                <a:latin typeface="Calibri"/>
              </a:rPr>
              <a:t>Longer evaluation windows</a:t>
            </a:r>
          </a:p>
        </p:txBody>
      </p:sp>
      <p:sp>
        <p:nvSpPr>
          <p:cNvPr id="8" name="TextBox 7"/>
          <p:cNvSpPr txBox="1"/>
          <p:nvPr/>
        </p:nvSpPr>
        <p:spPr>
          <a:xfrm>
            <a:off x="3017520" y="1984248"/>
            <a:ext cx="6949440" cy="640080"/>
          </a:xfrm>
          <a:prstGeom prst="rect">
            <a:avLst/>
          </a:prstGeom>
          <a:noFill/>
        </p:spPr>
        <p:txBody>
          <a:bodyPr wrap="square" anchor="t" lIns="0" rIns="0" tIns="0" bIns="0">
            <a:spAutoFit/>
          </a:bodyPr>
          <a:lstStyle/>
          <a:p>
            <a:pPr algn="l">
              <a:spcAft>
                <a:spcPts val="0"/>
              </a:spcAft>
            </a:pPr>
            <a:r>
              <a:rPr sz="1050" b="0" i="0">
                <a:solidFill>
                  <a:srgbClr val="C8D8E6"/>
                </a:solidFill>
                <a:latin typeface="Calibri"/>
              </a:rPr>
              <a:t>At 11 effective ticks per 200, matching an independent monitor implies ~3,600 ticks. A pure compute change. Separates “not enough samples” from “wrong monitor”.</a:t>
            </a:r>
          </a:p>
        </p:txBody>
      </p:sp>
      <p:sp>
        <p:nvSpPr>
          <p:cNvPr id="9" name="Rounded Rectangle 8"/>
          <p:cNvSpPr/>
          <p:nvPr/>
        </p:nvSpPr>
        <p:spPr>
          <a:xfrm>
            <a:off x="10195560" y="2130552"/>
            <a:ext cx="468172" cy="22860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NEXT</a:t>
            </a:r>
          </a:p>
        </p:txBody>
      </p:sp>
      <p:sp>
        <p:nvSpPr>
          <p:cNvPr id="10" name="Rectangle 9"/>
          <p:cNvSpPr/>
          <p:nvPr/>
        </p:nvSpPr>
        <p:spPr>
          <a:xfrm>
            <a:off x="640080" y="2816351"/>
            <a:ext cx="10881360" cy="941832"/>
          </a:xfrm>
          <a:prstGeom prst="rect">
            <a:avLst/>
          </a:prstGeom>
          <a:solidFill>
            <a:srgbClr val="1A21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971799"/>
            <a:ext cx="1463040" cy="274320"/>
          </a:xfrm>
          <a:prstGeom prst="rect">
            <a:avLst/>
          </a:prstGeom>
          <a:noFill/>
        </p:spPr>
        <p:txBody>
          <a:bodyPr wrap="square" anchor="t" lIns="0" rIns="0" tIns="0" bIns="0">
            <a:spAutoFit/>
          </a:bodyPr>
          <a:lstStyle/>
          <a:p>
            <a:pPr algn="l">
              <a:spcAft>
                <a:spcPts val="0"/>
              </a:spcAft>
            </a:pPr>
            <a:r>
              <a:rPr sz="1300" b="1" i="0">
                <a:solidFill>
                  <a:srgbClr val="6EC8E8"/>
                </a:solidFill>
                <a:latin typeface="Cambria"/>
              </a:rPr>
              <a:t>E19 / H7</a:t>
            </a:r>
          </a:p>
        </p:txBody>
      </p:sp>
      <p:sp>
        <p:nvSpPr>
          <p:cNvPr id="12" name="TextBox 11"/>
          <p:cNvSpPr txBox="1"/>
          <p:nvPr/>
        </p:nvSpPr>
        <p:spPr>
          <a:xfrm>
            <a:off x="914400" y="3291839"/>
            <a:ext cx="1920240" cy="292608"/>
          </a:xfrm>
          <a:prstGeom prst="rect">
            <a:avLst/>
          </a:prstGeom>
          <a:noFill/>
        </p:spPr>
        <p:txBody>
          <a:bodyPr wrap="square" anchor="t" lIns="0" rIns="0" tIns="0" bIns="0">
            <a:spAutoFit/>
          </a:bodyPr>
          <a:lstStyle/>
          <a:p>
            <a:pPr algn="l">
              <a:spcAft>
                <a:spcPts val="0"/>
              </a:spcAft>
            </a:pPr>
            <a:r>
              <a:rPr sz="1050" b="0" i="0">
                <a:solidFill>
                  <a:srgbClr val="A8C0D4"/>
                </a:solidFill>
                <a:latin typeface="Calibri"/>
              </a:rPr>
              <a:t>Monitor placement</a:t>
            </a:r>
          </a:p>
        </p:txBody>
      </p:sp>
      <p:sp>
        <p:nvSpPr>
          <p:cNvPr id="13" name="TextBox 12"/>
          <p:cNvSpPr txBox="1"/>
          <p:nvPr/>
        </p:nvSpPr>
        <p:spPr>
          <a:xfrm>
            <a:off x="3017520" y="3017519"/>
            <a:ext cx="6949440" cy="640080"/>
          </a:xfrm>
          <a:prstGeom prst="rect">
            <a:avLst/>
          </a:prstGeom>
          <a:noFill/>
        </p:spPr>
        <p:txBody>
          <a:bodyPr wrap="square" anchor="t" lIns="0" rIns="0" tIns="0" bIns="0">
            <a:spAutoFit/>
          </a:bodyPr>
          <a:lstStyle/>
          <a:p>
            <a:pPr algn="l">
              <a:spcAft>
                <a:spcPts val="0"/>
              </a:spcAft>
            </a:pPr>
            <a:r>
              <a:rPr sz="1050" b="0" i="0">
                <a:solidFill>
                  <a:srgbClr val="C8D8E6"/>
                </a:solidFill>
                <a:latin typeface="Calibri"/>
              </a:rPr>
              <a:t>Does the observability profile predict where a monitor works best? The prediction stays derived from D_s and is pre-registered — even though E18 suggests it will fail.</a:t>
            </a:r>
          </a:p>
        </p:txBody>
      </p:sp>
      <p:sp>
        <p:nvSpPr>
          <p:cNvPr id="14" name="Rounded Rectangle 13"/>
          <p:cNvSpPr/>
          <p:nvPr/>
        </p:nvSpPr>
        <p:spPr>
          <a:xfrm>
            <a:off x="10195560" y="3163823"/>
            <a:ext cx="709574" cy="228600"/>
          </a:xfrm>
          <a:prstGeom prst="roundRect">
            <a:avLst/>
          </a:prstGeom>
          <a:solidFill>
            <a:srgbClr val="A333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BLOCKED</a:t>
            </a:r>
          </a:p>
        </p:txBody>
      </p:sp>
      <p:sp>
        <p:nvSpPr>
          <p:cNvPr id="15" name="Rectangle 14"/>
          <p:cNvSpPr/>
          <p:nvPr/>
        </p:nvSpPr>
        <p:spPr>
          <a:xfrm>
            <a:off x="640080" y="3849622"/>
            <a:ext cx="10881360" cy="941832"/>
          </a:xfrm>
          <a:prstGeom prst="rect">
            <a:avLst/>
          </a:prstGeom>
          <a:solidFill>
            <a:srgbClr val="1A21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005070"/>
            <a:ext cx="1463040" cy="274320"/>
          </a:xfrm>
          <a:prstGeom prst="rect">
            <a:avLst/>
          </a:prstGeom>
          <a:noFill/>
        </p:spPr>
        <p:txBody>
          <a:bodyPr wrap="square" anchor="t" lIns="0" rIns="0" tIns="0" bIns="0">
            <a:spAutoFit/>
          </a:bodyPr>
          <a:lstStyle/>
          <a:p>
            <a:pPr algn="l">
              <a:spcAft>
                <a:spcPts val="0"/>
              </a:spcAft>
            </a:pPr>
            <a:r>
              <a:rPr sz="1300" b="1" i="0">
                <a:solidFill>
                  <a:srgbClr val="6EC8E8"/>
                </a:solidFill>
                <a:latin typeface="Cambria"/>
              </a:rPr>
              <a:t>E20</a:t>
            </a:r>
          </a:p>
        </p:txBody>
      </p:sp>
      <p:sp>
        <p:nvSpPr>
          <p:cNvPr id="17" name="TextBox 16"/>
          <p:cNvSpPr txBox="1"/>
          <p:nvPr/>
        </p:nvSpPr>
        <p:spPr>
          <a:xfrm>
            <a:off x="914400" y="4325110"/>
            <a:ext cx="1920240" cy="292608"/>
          </a:xfrm>
          <a:prstGeom prst="rect">
            <a:avLst/>
          </a:prstGeom>
          <a:noFill/>
        </p:spPr>
        <p:txBody>
          <a:bodyPr wrap="square" anchor="t" lIns="0" rIns="0" tIns="0" bIns="0">
            <a:spAutoFit/>
          </a:bodyPr>
          <a:lstStyle/>
          <a:p>
            <a:pPr algn="l">
              <a:spcAft>
                <a:spcPts val="0"/>
              </a:spcAft>
            </a:pPr>
            <a:r>
              <a:rPr sz="1050" b="0" i="0">
                <a:solidFill>
                  <a:srgbClr val="A8C0D4"/>
                </a:solidFill>
                <a:latin typeface="Calibri"/>
              </a:rPr>
              <a:t>Adversarial / lying sensor</a:t>
            </a:r>
          </a:p>
        </p:txBody>
      </p:sp>
      <p:sp>
        <p:nvSpPr>
          <p:cNvPr id="18" name="TextBox 17"/>
          <p:cNvSpPr txBox="1"/>
          <p:nvPr/>
        </p:nvSpPr>
        <p:spPr>
          <a:xfrm>
            <a:off x="3017520" y="4050790"/>
            <a:ext cx="6949440" cy="640080"/>
          </a:xfrm>
          <a:prstGeom prst="rect">
            <a:avLst/>
          </a:prstGeom>
          <a:noFill/>
        </p:spPr>
        <p:txBody>
          <a:bodyPr wrap="square" anchor="t" lIns="0" rIns="0" tIns="0" bIns="0">
            <a:spAutoFit/>
          </a:bodyPr>
          <a:lstStyle/>
          <a:p>
            <a:pPr algn="l">
              <a:spcAft>
                <a:spcPts val="0"/>
              </a:spcAft>
            </a:pPr>
            <a:r>
              <a:rPr sz="1050" b="0" i="0">
                <a:solidFill>
                  <a:srgbClr val="C8D8E6"/>
                </a:solidFill>
                <a:latin typeface="Calibri"/>
              </a:rPr>
              <a:t>One channel lies while two stay honest, through the per-channel injection path already built. Not started; no detection claim is made.</a:t>
            </a:r>
          </a:p>
        </p:txBody>
      </p:sp>
      <p:sp>
        <p:nvSpPr>
          <p:cNvPr id="19" name="Rounded Rectangle 18"/>
          <p:cNvSpPr/>
          <p:nvPr/>
        </p:nvSpPr>
        <p:spPr>
          <a:xfrm>
            <a:off x="10195560" y="4197094"/>
            <a:ext cx="1031443" cy="228600"/>
          </a:xfrm>
          <a:prstGeom prst="round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NOT STARTED</a:t>
            </a:r>
          </a:p>
        </p:txBody>
      </p:sp>
      <p:sp>
        <p:nvSpPr>
          <p:cNvPr id="20" name="Rectangle 19"/>
          <p:cNvSpPr/>
          <p:nvPr/>
        </p:nvSpPr>
        <p:spPr>
          <a:xfrm>
            <a:off x="640080" y="4882893"/>
            <a:ext cx="10881360" cy="941832"/>
          </a:xfrm>
          <a:prstGeom prst="rect">
            <a:avLst/>
          </a:prstGeom>
          <a:solidFill>
            <a:srgbClr val="1A21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038341"/>
            <a:ext cx="1463040" cy="274320"/>
          </a:xfrm>
          <a:prstGeom prst="rect">
            <a:avLst/>
          </a:prstGeom>
          <a:noFill/>
        </p:spPr>
        <p:txBody>
          <a:bodyPr wrap="square" anchor="t" lIns="0" rIns="0" tIns="0" bIns="0">
            <a:spAutoFit/>
          </a:bodyPr>
          <a:lstStyle/>
          <a:p>
            <a:pPr algn="l">
              <a:spcAft>
                <a:spcPts val="0"/>
              </a:spcAft>
            </a:pPr>
            <a:r>
              <a:rPr sz="1300" b="1" i="0">
                <a:solidFill>
                  <a:srgbClr val="6EC8E8"/>
                </a:solidFill>
                <a:latin typeface="Cambria"/>
              </a:rPr>
              <a:t>External</a:t>
            </a:r>
          </a:p>
        </p:txBody>
      </p:sp>
      <p:sp>
        <p:nvSpPr>
          <p:cNvPr id="22" name="TextBox 21"/>
          <p:cNvSpPr txBox="1"/>
          <p:nvPr/>
        </p:nvSpPr>
        <p:spPr>
          <a:xfrm>
            <a:off x="914400" y="5358381"/>
            <a:ext cx="1920240" cy="292608"/>
          </a:xfrm>
          <a:prstGeom prst="rect">
            <a:avLst/>
          </a:prstGeom>
          <a:noFill/>
        </p:spPr>
        <p:txBody>
          <a:bodyPr wrap="square" anchor="t" lIns="0" rIns="0" tIns="0" bIns="0">
            <a:spAutoFit/>
          </a:bodyPr>
          <a:lstStyle/>
          <a:p>
            <a:pPr algn="l">
              <a:spcAft>
                <a:spcPts val="0"/>
              </a:spcAft>
            </a:pPr>
            <a:r>
              <a:rPr sz="1050" b="0" i="0">
                <a:solidFill>
                  <a:srgbClr val="A8C0D4"/>
                </a:solidFill>
                <a:latin typeface="Calibri"/>
              </a:rPr>
              <a:t>comma2k19 → highD → CARLA</a:t>
            </a:r>
          </a:p>
        </p:txBody>
      </p:sp>
      <p:sp>
        <p:nvSpPr>
          <p:cNvPr id="23" name="TextBox 22"/>
          <p:cNvSpPr txBox="1"/>
          <p:nvPr/>
        </p:nvSpPr>
        <p:spPr>
          <a:xfrm>
            <a:off x="3017520" y="5084061"/>
            <a:ext cx="6949440" cy="640080"/>
          </a:xfrm>
          <a:prstGeom prst="rect">
            <a:avLst/>
          </a:prstGeom>
          <a:noFill/>
        </p:spPr>
        <p:txBody>
          <a:bodyPr wrap="square" anchor="t" lIns="0" rIns="0" tIns="0" bIns="0">
            <a:spAutoFit/>
          </a:bodyPr>
          <a:lstStyle/>
          <a:p>
            <a:pPr algn="l">
              <a:spcAft>
                <a:spcPts val="0"/>
              </a:spcAft>
            </a:pPr>
            <a:r>
              <a:rPr sz="1050" b="0" i="0">
                <a:solidFill>
                  <a:srgbClr val="C8D8E6"/>
                </a:solidFill>
                <a:latin typeface="Calibri"/>
              </a:rPr>
              <a:t>Real driving data, then traffic regimes, then closed loop. Gated behind a working internal measurement chain.</a:t>
            </a:r>
          </a:p>
        </p:txBody>
      </p:sp>
      <p:sp>
        <p:nvSpPr>
          <p:cNvPr id="24" name="Rounded Rectangle 23"/>
          <p:cNvSpPr/>
          <p:nvPr/>
        </p:nvSpPr>
        <p:spPr>
          <a:xfrm>
            <a:off x="10195560" y="5230365"/>
            <a:ext cx="1031443" cy="228600"/>
          </a:xfrm>
          <a:prstGeom prst="round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NOT STARTED</a:t>
            </a:r>
          </a:p>
        </p:txBody>
      </p:sp>
      <p:sp>
        <p:nvSpPr>
          <p:cNvPr id="25" name="Rectangle 24"/>
          <p:cNvSpPr/>
          <p:nvPr/>
        </p:nvSpPr>
        <p:spPr>
          <a:xfrm>
            <a:off x="640080" y="5961888"/>
            <a:ext cx="10881360" cy="566928"/>
          </a:xfrm>
          <a:prstGeom prst="rect">
            <a:avLst/>
          </a:prstGeom>
          <a:solidFill>
            <a:srgbClr val="2A3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6108192"/>
            <a:ext cx="10479024" cy="292608"/>
          </a:xfrm>
          <a:prstGeom prst="rect">
            <a:avLst/>
          </a:prstGeom>
          <a:noFill/>
        </p:spPr>
        <p:txBody>
          <a:bodyPr wrap="square" anchor="t" lIns="0" rIns="0" tIns="0" bIns="0">
            <a:spAutoFit/>
          </a:bodyPr>
          <a:lstStyle/>
          <a:p>
            <a:pPr algn="l">
              <a:spcAft>
                <a:spcPts val="700"/>
              </a:spcAft>
            </a:pPr>
            <a:r>
              <a:rPr sz="100" b="1" i="0">
                <a:solidFill>
                  <a:srgbClr val="065A82"/>
                </a:solidFill>
                <a:latin typeface="Cambria"/>
              </a:rPr>
              <a:t/>
            </a:r>
          </a:p>
          <a:p>
            <a:pPr algn="l">
              <a:spcAft>
                <a:spcPts val="500"/>
              </a:spcAft>
            </a:pPr>
            <a:r>
              <a:rPr sz="1050" b="1" i="0">
                <a:solidFill>
                  <a:srgbClr val="D6E3EE"/>
                </a:solidFill>
                <a:latin typeface="Calibri"/>
              </a:rPr>
              <a:t>If E18-R3 fails, the contribution reframes around the demonstrated limitation — a conformal score can separate faulted from clean runs at high AUC and still be unable to support a stable operational monitor. That is a real result.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