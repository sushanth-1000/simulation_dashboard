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83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2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128016" cy="56692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515600" cy="365760"/>
          </a:xfrm>
          <a:prstGeom prst="rect">
            <a:avLst/>
          </a:prstGeom>
          <a:noFill/>
        </p:spPr>
        <p:txBody>
          <a:bodyPr wrap="square" anchor="t" lIns="0" rIns="0" tIns="0" bIns="0">
            <a:spAutoFit/>
          </a:bodyPr>
          <a:lstStyle/>
          <a:p>
            <a:pPr algn="l">
              <a:spcAft>
                <a:spcPts val="0"/>
              </a:spcAft>
            </a:pPr>
            <a:r>
              <a:rPr sz="1100" b="1" i="0">
                <a:solidFill>
                  <a:srgbClr val="7FC5D1"/>
                </a:solidFill>
                <a:latin typeface="Calibri"/>
              </a:rPr>
              <a:t>MAJOR PROJECT PANEL REVIEW  ·  DEPARTMENT OF COMPUTER SCIENCE &amp; ENGINEERING</a:t>
            </a:r>
          </a:p>
        </p:txBody>
      </p:sp>
      <p:sp>
        <p:nvSpPr>
          <p:cNvPr id="5" name="TextBox 4"/>
          <p:cNvSpPr txBox="1"/>
          <p:nvPr/>
        </p:nvSpPr>
        <p:spPr>
          <a:xfrm>
            <a:off x="822960" y="1691640"/>
            <a:ext cx="10515600" cy="2377440"/>
          </a:xfrm>
          <a:prstGeom prst="rect">
            <a:avLst/>
          </a:prstGeom>
          <a:noFill/>
        </p:spPr>
        <p:txBody>
          <a:bodyPr wrap="square" anchor="t" lIns="0" rIns="0" tIns="0" bIns="0">
            <a:spAutoFit/>
          </a:bodyPr>
          <a:lstStyle/>
          <a:p>
            <a:pPr algn="l">
              <a:spcAft>
                <a:spcPts val="200"/>
              </a:spcAft>
            </a:pPr>
            <a:r>
              <a:rPr sz="6000" b="1" i="0">
                <a:solidFill>
                  <a:srgbClr val="FFFFFF"/>
                </a:solidFill>
                <a:latin typeface="Cambria"/>
              </a:rPr>
              <a:t>ASTRA</a:t>
            </a:r>
          </a:p>
          <a:p>
            <a:pPr algn="l">
              <a:spcAft>
                <a:spcPts val="600"/>
              </a:spcAft>
            </a:pPr>
            <a:r>
              <a:rPr sz="2200" b="0" i="0">
                <a:solidFill>
                  <a:srgbClr val="C6DDE3"/>
                </a:solidFill>
                <a:latin typeface="Cambria"/>
              </a:rPr>
              <a:t>Autonomous Safety-Trust Runtime Architecture</a:t>
            </a:r>
          </a:p>
          <a:p>
            <a:pPr algn="l">
              <a:spcAft>
                <a:spcPts val="0"/>
              </a:spcAft>
            </a:pPr>
            <a:r>
              <a:rPr sz="1300" b="0" i="1">
                <a:solidFill>
                  <a:srgbClr val="94B8C3"/>
                </a:solidFill>
                <a:latin typeface="Calibri"/>
              </a:rPr>
              <a:t>A layered runtime governance stack for learned controllers, and an experimental study of when its safety monitors can and cannot be trusted</a:t>
            </a:r>
          </a:p>
        </p:txBody>
      </p:sp>
      <p:sp>
        <p:nvSpPr>
          <p:cNvPr id="6" name="TextBox 5"/>
          <p:cNvSpPr txBox="1"/>
          <p:nvPr/>
        </p:nvSpPr>
        <p:spPr>
          <a:xfrm>
            <a:off x="822960" y="4617720"/>
            <a:ext cx="5852160" cy="1737360"/>
          </a:xfrm>
          <a:prstGeom prst="rect">
            <a:avLst/>
          </a:prstGeom>
          <a:noFill/>
        </p:spPr>
        <p:txBody>
          <a:bodyPr wrap="square" anchor="t" lIns="0" rIns="0" tIns="0" bIns="0">
            <a:spAutoFit/>
          </a:bodyPr>
          <a:lstStyle/>
          <a:p>
            <a:pPr algn="l">
              <a:spcAft>
                <a:spcPts val="600"/>
              </a:spcAft>
            </a:pPr>
            <a:r>
              <a:rPr sz="1000" b="1" i="0">
                <a:solidFill>
                  <a:srgbClr val="028090"/>
                </a:solidFill>
                <a:latin typeface="Calibri"/>
              </a:rPr>
              <a:t>PROJECT TEAM</a:t>
            </a:r>
          </a:p>
          <a:p>
            <a:pPr algn="l">
              <a:spcAft>
                <a:spcPts val="100"/>
              </a:spcAft>
            </a:pPr>
            <a:r>
              <a:rPr sz="1300" b="1" i="0">
                <a:solidFill>
                  <a:srgbClr val="FFFFFF"/>
                </a:solidFill>
                <a:latin typeface="Calibri"/>
              </a:rPr>
              <a:t>Sushanth C.</a:t>
            </a:r>
          </a:p>
          <a:p>
            <a:pPr algn="l">
              <a:spcAft>
                <a:spcPts val="600"/>
              </a:spcAft>
            </a:pPr>
            <a:r>
              <a:rPr sz="1050" b="0" i="0">
                <a:solidFill>
                  <a:srgbClr val="9CB6C0"/>
                </a:solidFill>
                <a:latin typeface="Calibri"/>
              </a:rPr>
              <a:t>USN: [NEEDS INPUT]</a:t>
            </a:r>
          </a:p>
          <a:p>
            <a:pPr algn="l">
              <a:spcAft>
                <a:spcPts val="100"/>
              </a:spcAft>
            </a:pPr>
            <a:r>
              <a:rPr sz="1300" b="1" i="0">
                <a:solidFill>
                  <a:srgbClr val="FFFFFF"/>
                </a:solidFill>
                <a:latin typeface="Calibri"/>
              </a:rPr>
              <a:t>Tarun Gowda V</a:t>
            </a:r>
          </a:p>
          <a:p>
            <a:pPr algn="l">
              <a:spcAft>
                <a:spcPts val="600"/>
              </a:spcAft>
            </a:pPr>
            <a:r>
              <a:rPr sz="1050" b="0" i="0">
                <a:solidFill>
                  <a:srgbClr val="9CB6C0"/>
                </a:solidFill>
                <a:latin typeface="Calibri"/>
              </a:rPr>
              <a:t>USN: [NEEDS INPUT]</a:t>
            </a:r>
          </a:p>
          <a:p>
            <a:pPr algn="l">
              <a:spcAft>
                <a:spcPts val="100"/>
              </a:spcAft>
            </a:pPr>
            <a:r>
              <a:rPr sz="1300" b="1" i="0">
                <a:solidFill>
                  <a:srgbClr val="FFFFFF"/>
                </a:solidFill>
                <a:latin typeface="Calibri"/>
              </a:rPr>
              <a:t>T Tilak Reddy</a:t>
            </a:r>
          </a:p>
          <a:p>
            <a:pPr algn="l">
              <a:spcAft>
                <a:spcPts val="0"/>
              </a:spcAft>
            </a:pPr>
            <a:r>
              <a:rPr sz="1050" b="0" i="0">
                <a:solidFill>
                  <a:srgbClr val="9CB6C0"/>
                </a:solidFill>
                <a:latin typeface="Calibri"/>
              </a:rPr>
              <a:t>USN: [NEEDS INPUT]</a:t>
            </a:r>
          </a:p>
        </p:txBody>
      </p:sp>
      <p:sp>
        <p:nvSpPr>
          <p:cNvPr id="7" name="TextBox 6"/>
          <p:cNvSpPr txBox="1"/>
          <p:nvPr/>
        </p:nvSpPr>
        <p:spPr>
          <a:xfrm>
            <a:off x="6766560" y="4617720"/>
            <a:ext cx="4663440" cy="1737360"/>
          </a:xfrm>
          <a:prstGeom prst="rect">
            <a:avLst/>
          </a:prstGeom>
          <a:noFill/>
        </p:spPr>
        <p:txBody>
          <a:bodyPr wrap="square" anchor="t" lIns="0" rIns="0" tIns="0" bIns="0">
            <a:spAutoFit/>
          </a:bodyPr>
          <a:lstStyle/>
          <a:p>
            <a:pPr algn="l">
              <a:spcAft>
                <a:spcPts val="600"/>
              </a:spcAft>
            </a:pPr>
            <a:r>
              <a:rPr sz="1000" b="1" i="0">
                <a:solidFill>
                  <a:srgbClr val="028090"/>
                </a:solidFill>
                <a:latin typeface="Calibri"/>
              </a:rPr>
              <a:t>GUIDE</a:t>
            </a:r>
          </a:p>
          <a:p>
            <a:pPr algn="l">
              <a:spcAft>
                <a:spcPts val="100"/>
              </a:spcAft>
            </a:pPr>
            <a:r>
              <a:rPr sz="1300" b="1" i="0">
                <a:solidFill>
                  <a:srgbClr val="FFFFFF"/>
                </a:solidFill>
                <a:latin typeface="Calibri"/>
              </a:rPr>
              <a:t>Dr. Chaitra R.</a:t>
            </a:r>
          </a:p>
          <a:p>
            <a:pPr algn="l">
              <a:spcAft>
                <a:spcPts val="1400"/>
              </a:spcAft>
            </a:pPr>
            <a:r>
              <a:rPr sz="1050" b="0" i="0">
                <a:solidFill>
                  <a:srgbClr val="9CB6C0"/>
                </a:solidFill>
                <a:latin typeface="Calibri"/>
              </a:rPr>
              <a:t>Department of Computer Science &amp; Engineering</a:t>
            </a:r>
          </a:p>
          <a:p>
            <a:pPr algn="l">
              <a:spcAft>
                <a:spcPts val="600"/>
              </a:spcAft>
            </a:pPr>
            <a:r>
              <a:rPr sz="1000" b="1" i="0">
                <a:solidFill>
                  <a:srgbClr val="028090"/>
                </a:solidFill>
                <a:latin typeface="Calibri"/>
              </a:rPr>
              <a:t>INSTITUTION</a:t>
            </a:r>
          </a:p>
          <a:p>
            <a:pPr algn="l">
              <a:spcAft>
                <a:spcPts val="100"/>
              </a:spcAft>
            </a:pPr>
            <a:r>
              <a:rPr sz="1300" b="1" i="0">
                <a:solidFill>
                  <a:srgbClr val="FFFFFF"/>
                </a:solidFill>
                <a:latin typeface="Calibri"/>
              </a:rPr>
              <a:t>BMS College of Engineering, Bengaluru</a:t>
            </a:r>
          </a:p>
          <a:p>
            <a:pPr algn="l">
              <a:spcAft>
                <a:spcPts val="0"/>
              </a:spcAft>
            </a:pPr>
            <a:r>
              <a:rPr sz="1050" b="0" i="0">
                <a:solidFill>
                  <a:srgbClr val="9CB6C0"/>
                </a:solidFill>
                <a:latin typeface="Calibri"/>
              </a:rPr>
              <a:t>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AT A GLANCE</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Project overview</a:t>
            </a:r>
          </a:p>
        </p:txBody>
      </p:sp>
      <p:sp>
        <p:nvSpPr>
          <p:cNvPr id="4" name="TextBox 3"/>
          <p:cNvSpPr txBox="1"/>
          <p:nvPr/>
        </p:nvSpPr>
        <p:spPr>
          <a:xfrm>
            <a:off x="548640" y="1280160"/>
            <a:ext cx="7315200" cy="493776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What ASTRA is</a:t>
            </a:r>
          </a:p>
          <a:p>
            <a:pPr algn="l">
              <a:spcAft>
                <a:spcPts val="1000"/>
              </a:spcAft>
            </a:pPr>
            <a:r>
              <a:rPr sz="1150" b="0" i="0">
                <a:solidFill>
                  <a:srgbClr val="384553"/>
                </a:solidFill>
                <a:latin typeface="Calibri"/>
              </a:rPr>
              <a:t>A nine-layer runtime safety architecture for a vehicle driven by a learned (reinforcement-learning) controller, together with an experimental testbed that injects controlled sensor faults and measures how each layer detects — or fails to detect — those faults.</a:t>
            </a:r>
          </a:p>
          <a:p>
            <a:pPr algn="l">
              <a:spcAft>
                <a:spcPts val="400"/>
              </a:spcAft>
            </a:pPr>
            <a:r>
              <a:rPr sz="1200" b="1" i="0">
                <a:solidFill>
                  <a:srgbClr val="015F6B"/>
                </a:solidFill>
                <a:latin typeface="Cambria"/>
              </a:rPr>
              <a:t>What problem it addresses</a:t>
            </a:r>
          </a:p>
          <a:p>
            <a:pPr algn="l">
              <a:spcAft>
                <a:spcPts val="1000"/>
              </a:spcAft>
            </a:pPr>
            <a:r>
              <a:rPr sz="1150" b="0" i="0">
                <a:solidFill>
                  <a:srgbClr val="384553"/>
                </a:solidFill>
                <a:latin typeface="Calibri"/>
              </a:rPr>
              <a:t>Autonomous cyber-physical systems increasingly rely on learned controllers whose internal behaviour cannot be formally verified. Runtime safety monitors are placed around them to catch sensor faults and misbehaviour. Existing architectures assume these monitors work reliably. Our experiments show that this assumption fails in specific, measurable ways — including a monitor being silent during the very hazard it is designed to catch. ASTRA characterises these failures and proposes an architecture that assesses the trustworthiness of its own monitors at runtime.</a:t>
            </a:r>
          </a:p>
          <a:p>
            <a:pPr algn="l">
              <a:spcAft>
                <a:spcPts val="400"/>
              </a:spcAft>
            </a:pPr>
            <a:r>
              <a:rPr sz="1200" b="1" i="0">
                <a:solidFill>
                  <a:srgbClr val="015F6B"/>
                </a:solidFill>
                <a:latin typeface="Cambria"/>
              </a:rPr>
              <a:t>Intended users</a:t>
            </a:r>
          </a:p>
          <a:p>
            <a:pPr algn="l">
              <a:spcAft>
                <a:spcPts val="300"/>
              </a:spcAft>
            </a:pPr>
            <a:r>
              <a:rPr sz="1100" b="0" i="0">
                <a:solidFill>
                  <a:srgbClr val="384553"/>
                </a:solidFill>
                <a:latin typeface="Calibri"/>
              </a:rPr>
              <a:t>•  Autonomous-vehicle and ADAS engineers designing runtime safety supervisors</a:t>
            </a:r>
          </a:p>
          <a:p>
            <a:pPr algn="l">
              <a:spcAft>
                <a:spcPts val="300"/>
              </a:spcAft>
            </a:pPr>
            <a:r>
              <a:rPr sz="1100" b="0" i="0">
                <a:solidFill>
                  <a:srgbClr val="384553"/>
                </a:solidFill>
                <a:latin typeface="Calibri"/>
              </a:rPr>
              <a:t>•  Safety analysts performing SOTIF (ISO 21448) coverage assessments</a:t>
            </a:r>
          </a:p>
          <a:p>
            <a:pPr algn="l">
              <a:spcAft>
                <a:spcPts val="300"/>
              </a:spcAft>
            </a:pPr>
            <a:r>
              <a:rPr sz="1100" b="0" i="0">
                <a:solidFill>
                  <a:srgbClr val="384553"/>
                </a:solidFill>
                <a:latin typeface="Calibri"/>
              </a:rPr>
              <a:t>•  Researchers in runtime verification and conformal prediction for control systems</a:t>
            </a:r>
          </a:p>
        </p:txBody>
      </p:sp>
      <p:sp>
        <p:nvSpPr>
          <p:cNvPr id="5" name="Rectangle 4"/>
          <p:cNvSpPr/>
          <p:nvPr/>
        </p:nvSpPr>
        <p:spPr>
          <a:xfrm>
            <a:off x="8229600" y="1280160"/>
            <a:ext cx="3383280" cy="49377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417320"/>
            <a:ext cx="3108960" cy="4663440"/>
          </a:xfrm>
          <a:prstGeom prst="rect">
            <a:avLst/>
          </a:prstGeom>
          <a:noFill/>
        </p:spPr>
        <p:txBody>
          <a:bodyPr wrap="square" anchor="t" lIns="0" rIns="0" tIns="0" bIns="0">
            <a:spAutoFit/>
          </a:bodyPr>
          <a:lstStyle/>
          <a:p>
            <a:pPr algn="l">
              <a:spcAft>
                <a:spcPts val="800"/>
              </a:spcAft>
            </a:pPr>
            <a:r>
              <a:rPr sz="1000" b="1" i="0">
                <a:solidFill>
                  <a:srgbClr val="028090"/>
                </a:solidFill>
                <a:latin typeface="Calibri"/>
              </a:rPr>
              <a:t>PROJECT AT A GLANCE</a:t>
            </a:r>
          </a:p>
          <a:p>
            <a:pPr algn="l">
              <a:spcAft>
                <a:spcPts val="0"/>
              </a:spcAft>
            </a:pPr>
            <a:r>
              <a:rPr sz="3000" b="1" i="0">
                <a:solidFill>
                  <a:srgbClr val="1A222E"/>
                </a:solidFill>
                <a:latin typeface="Cambria"/>
              </a:rPr>
              <a:t>6</a:t>
            </a:r>
          </a:p>
          <a:p>
            <a:pPr algn="l">
              <a:spcAft>
                <a:spcPts val="1000"/>
              </a:spcAft>
            </a:pPr>
            <a:r>
              <a:rPr sz="1000" b="0" i="0">
                <a:solidFill>
                  <a:srgbClr val="5F6E7C"/>
                </a:solidFill>
                <a:latin typeface="Calibri"/>
              </a:rPr>
              <a:t>experiment phases completed</a:t>
            </a:r>
          </a:p>
          <a:p>
            <a:pPr algn="l">
              <a:spcAft>
                <a:spcPts val="0"/>
              </a:spcAft>
            </a:pPr>
            <a:r>
              <a:rPr sz="3000" b="1" i="0">
                <a:solidFill>
                  <a:srgbClr val="1A222E"/>
                </a:solidFill>
                <a:latin typeface="Cambria"/>
              </a:rPr>
              <a:t>~4,300</a:t>
            </a:r>
          </a:p>
          <a:p>
            <a:pPr algn="l">
              <a:spcAft>
                <a:spcPts val="1000"/>
              </a:spcAft>
            </a:pPr>
            <a:r>
              <a:rPr sz="1000" b="0" i="0">
                <a:solidFill>
                  <a:srgbClr val="5F6E7C"/>
                </a:solidFill>
                <a:latin typeface="Calibri"/>
              </a:rPr>
              <a:t>closed-loop simulation runs</a:t>
            </a:r>
          </a:p>
          <a:p>
            <a:pPr algn="l">
              <a:spcAft>
                <a:spcPts val="0"/>
              </a:spcAft>
            </a:pPr>
            <a:r>
              <a:rPr sz="3000" b="1" i="0">
                <a:solidFill>
                  <a:srgbClr val="1A222E"/>
                </a:solidFill>
                <a:latin typeface="Cambria"/>
              </a:rPr>
              <a:t>9</a:t>
            </a:r>
          </a:p>
          <a:p>
            <a:pPr algn="l">
              <a:spcAft>
                <a:spcPts val="1000"/>
              </a:spcAft>
            </a:pPr>
            <a:r>
              <a:rPr sz="1000" b="0" i="0">
                <a:solidFill>
                  <a:srgbClr val="5F6E7C"/>
                </a:solidFill>
                <a:latin typeface="Calibri"/>
              </a:rPr>
              <a:t>architectural layers, verified</a:t>
            </a:r>
          </a:p>
          <a:p>
            <a:pPr algn="l">
              <a:spcAft>
                <a:spcPts val="0"/>
              </a:spcAft>
            </a:pPr>
            <a:r>
              <a:rPr sz="3000" b="1" i="0">
                <a:solidFill>
                  <a:srgbClr val="1A222E"/>
                </a:solidFill>
                <a:latin typeface="Cambria"/>
              </a:rPr>
              <a:t>6</a:t>
            </a:r>
          </a:p>
          <a:p>
            <a:pPr algn="l">
              <a:spcAft>
                <a:spcPts val="0"/>
              </a:spcAft>
            </a:pPr>
            <a:r>
              <a:rPr sz="1000" b="0" i="0">
                <a:solidFill>
                  <a:srgbClr val="5F6E7C"/>
                </a:solidFill>
                <a:latin typeface="Calibri"/>
              </a:rPr>
              <a:t>measurement defects self-caught</a:t>
            </a:r>
          </a:p>
        </p:txBody>
      </p:sp>
      <p:sp>
        <p:nvSpPr>
          <p:cNvPr id="7" name="TextBox 6"/>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All results are from a synthetic driving plant. External real-world validation is not yet in scope for the current stage.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THE REAL-WORLD PROBLEM</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Problem statement</a:t>
            </a:r>
          </a:p>
        </p:txBody>
      </p:sp>
      <p:sp>
        <p:nvSpPr>
          <p:cNvPr id="4" name="TextBox 3"/>
          <p:cNvSpPr txBox="1"/>
          <p:nvPr/>
        </p:nvSpPr>
        <p:spPr>
          <a:xfrm>
            <a:off x="548640" y="1280160"/>
            <a:ext cx="6949440" cy="502920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The problem, precisely stated</a:t>
            </a:r>
          </a:p>
          <a:p>
            <a:pPr algn="l">
              <a:spcAft>
                <a:spcPts val="800"/>
              </a:spcAft>
            </a:pPr>
            <a:r>
              <a:rPr sz="1150" b="0" i="0">
                <a:solidFill>
                  <a:srgbClr val="384553"/>
                </a:solidFill>
                <a:latin typeface="Calibri"/>
              </a:rPr>
              <a:t>A learned controller in a vehicle depends on sensor input. Sensors fail — bias, drift, dropout, noise, stuck values. Around the learned controller a safety supervisor runs runtime monitors intended to detect these failures and switch to a safe fallback before harm occurs.</a:t>
            </a:r>
          </a:p>
          <a:p>
            <a:pPr algn="l">
              <a:spcAft>
                <a:spcPts val="1000"/>
              </a:spcAft>
            </a:pPr>
            <a:r>
              <a:rPr sz="1150" b="1" i="0">
                <a:solidFill>
                  <a:srgbClr val="384553"/>
                </a:solidFill>
                <a:latin typeface="Calibri"/>
              </a:rPr>
              <a:t>The safety of the whole system therefore depends on the monitors being reliable. Every published safety architecture we surveyed assumes this without measurement.</a:t>
            </a:r>
          </a:p>
          <a:p>
            <a:pPr algn="l">
              <a:spcAft>
                <a:spcPts val="400"/>
              </a:spcAft>
            </a:pPr>
            <a:r>
              <a:rPr sz="1200" b="1" i="0">
                <a:solidFill>
                  <a:srgbClr val="015F6B"/>
                </a:solidFill>
                <a:latin typeface="Cambria"/>
              </a:rPr>
              <a:t>Why this matters</a:t>
            </a:r>
          </a:p>
          <a:p>
            <a:pPr algn="l">
              <a:spcAft>
                <a:spcPts val="300"/>
              </a:spcAft>
            </a:pPr>
            <a:r>
              <a:rPr sz="1100" b="0" i="0">
                <a:solidFill>
                  <a:srgbClr val="384553"/>
                </a:solidFill>
                <a:latin typeface="Calibri"/>
              </a:rPr>
              <a:t>•  Safety standards (ISO 26262 functional safety, ISO 21448 SOTIF) require coverage arguments for how faults are detected — those arguments rest on monitor reliability.</a:t>
            </a:r>
          </a:p>
          <a:p>
            <a:pPr algn="l">
              <a:spcAft>
                <a:spcPts val="300"/>
              </a:spcAft>
            </a:pPr>
            <a:r>
              <a:rPr sz="1100" b="0" i="0">
                <a:solidFill>
                  <a:srgbClr val="384553"/>
                </a:solidFill>
                <a:latin typeface="Calibri"/>
              </a:rPr>
              <a:t>•  A monitor that is silent during a hazard is worse than one that misses it: silence reads as evidence of health, so the safe fallback is never engaged.</a:t>
            </a:r>
          </a:p>
          <a:p>
            <a:pPr algn="l">
              <a:spcAft>
                <a:spcPts val="300"/>
              </a:spcAft>
            </a:pPr>
            <a:r>
              <a:rPr sz="1100" b="0" i="0">
                <a:solidFill>
                  <a:srgbClr val="384553"/>
                </a:solidFill>
                <a:latin typeface="Calibri"/>
              </a:rPr>
              <a:t>•  There is no standard method to check whether a runtime monitor can, in principle, make a reliable decision before it is deployed.</a:t>
            </a:r>
          </a:p>
          <a:p>
            <a:pPr algn="l">
              <a:spcAft>
                <a:spcPts val="400"/>
              </a:spcAft>
            </a:pPr>
            <a:r>
              <a:rPr sz="1200" b="1" i="0">
                <a:solidFill>
                  <a:srgbClr val="015F6B"/>
                </a:solidFill>
                <a:latin typeface="Cambria"/>
              </a:rPr>
              <a:t>Why a technological solution is required</a:t>
            </a:r>
          </a:p>
          <a:p>
            <a:pPr algn="l">
              <a:spcAft>
                <a:spcPts val="0"/>
              </a:spcAft>
            </a:pPr>
            <a:r>
              <a:rPr sz="1150" b="0" i="0">
                <a:solidFill>
                  <a:srgbClr val="384553"/>
                </a:solidFill>
                <a:latin typeface="Calibri"/>
              </a:rPr>
              <a:t>Analytical verification of learned controllers is not feasible at scale. The pragmatic response is runtime monitoring, but runtime monitoring is currently designed and deployed without a discipline for assessing whether the monitor itself is trustworthy under the operating conditions it will actually see.</a:t>
            </a:r>
          </a:p>
        </p:txBody>
      </p:sp>
      <p:sp>
        <p:nvSpPr>
          <p:cNvPr id="5" name="Rectangle 4"/>
          <p:cNvSpPr/>
          <p:nvPr/>
        </p:nvSpPr>
        <p:spPr>
          <a:xfrm>
            <a:off x="7772400" y="1280160"/>
            <a:ext cx="3840480" cy="502920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417320"/>
            <a:ext cx="3566160" cy="4754880"/>
          </a:xfrm>
          <a:prstGeom prst="rect">
            <a:avLst/>
          </a:prstGeom>
          <a:noFill/>
        </p:spPr>
        <p:txBody>
          <a:bodyPr wrap="square" anchor="t" lIns="0" rIns="0" tIns="0" bIns="0">
            <a:spAutoFit/>
          </a:bodyPr>
          <a:lstStyle/>
          <a:p>
            <a:pPr algn="l">
              <a:spcAft>
                <a:spcPts val="600"/>
              </a:spcAft>
            </a:pPr>
            <a:r>
              <a:rPr sz="1000" b="1" i="0">
                <a:solidFill>
                  <a:srgbClr val="028090"/>
                </a:solidFill>
                <a:latin typeface="Calibri"/>
              </a:rPr>
              <a:t>WHO EXPERIENCES IT</a:t>
            </a:r>
          </a:p>
          <a:p>
            <a:pPr algn="l">
              <a:spcAft>
                <a:spcPts val="600"/>
              </a:spcAft>
            </a:pPr>
            <a:r>
              <a:rPr sz="1000" b="0" i="0">
                <a:solidFill>
                  <a:srgbClr val="384553"/>
                </a:solidFill>
                <a:latin typeface="Calibri"/>
              </a:rPr>
              <a:t>•  Vehicle manufacturers integrating learned components in perception, prediction and control</a:t>
            </a:r>
          </a:p>
          <a:p>
            <a:pPr algn="l">
              <a:spcAft>
                <a:spcPts val="600"/>
              </a:spcAft>
            </a:pPr>
            <a:r>
              <a:rPr sz="1000" b="0" i="0">
                <a:solidFill>
                  <a:srgbClr val="384553"/>
                </a:solidFill>
                <a:latin typeface="Calibri"/>
              </a:rPr>
              <a:t>•  ADAS Tier-1 suppliers whose safety cases include runtime monitors</a:t>
            </a:r>
          </a:p>
          <a:p>
            <a:pPr algn="l">
              <a:spcAft>
                <a:spcPts val="600"/>
              </a:spcAft>
            </a:pPr>
            <a:r>
              <a:rPr sz="1000" b="0" i="0">
                <a:solidFill>
                  <a:srgbClr val="384553"/>
                </a:solidFill>
                <a:latin typeface="Calibri"/>
              </a:rPr>
              <a:t>•  Certification bodies asked to sign off on learned-controller safety arguments</a:t>
            </a:r>
          </a:p>
          <a:p>
            <a:pPr algn="l">
              <a:spcAft>
                <a:spcPts val="600"/>
              </a:spcAft>
            </a:pPr>
            <a:r>
              <a:rPr sz="1000" b="0" i="0">
                <a:solidFill>
                  <a:srgbClr val="384553"/>
                </a:solidFill>
                <a:latin typeface="Calibri"/>
              </a:rPr>
              <a:t>•  Downstream: passengers and vulnerable road users, whose safety depends on those monitors actually working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WHY WE SELECTED THIS PROBLEM</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Motivation</a:t>
            </a:r>
          </a:p>
        </p:txBody>
      </p:sp>
      <p:sp>
        <p:nvSpPr>
          <p:cNvPr id="4" name="TextBox 3"/>
          <p:cNvSpPr txBox="1"/>
          <p:nvPr/>
        </p:nvSpPr>
        <p:spPr>
          <a:xfrm>
            <a:off x="548640" y="1280160"/>
            <a:ext cx="5486400" cy="502920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Real-world relevance</a:t>
            </a:r>
          </a:p>
          <a:p>
            <a:pPr algn="l">
              <a:spcAft>
                <a:spcPts val="800"/>
              </a:spcAft>
            </a:pPr>
            <a:r>
              <a:rPr sz="1100" b="0" i="0">
                <a:solidFill>
                  <a:srgbClr val="384553"/>
                </a:solidFill>
                <a:latin typeface="Calibri"/>
              </a:rPr>
              <a:t>Learned controllers are already deployed at scale in production ADAS. Public data on their failure modes is limited, and the safety cases behind them lean heavily on runtime supervisors. If those supervisors have systematic blind spots, the assurance argument does not hold.</a:t>
            </a:r>
          </a:p>
          <a:p>
            <a:pPr algn="l">
              <a:spcAft>
                <a:spcPts val="400"/>
              </a:spcAft>
            </a:pPr>
            <a:r>
              <a:rPr sz="1200" b="1" i="0">
                <a:solidFill>
                  <a:srgbClr val="015F6B"/>
                </a:solidFill>
                <a:latin typeface="Cambria"/>
              </a:rPr>
              <a:t>Existing pain points</a:t>
            </a:r>
          </a:p>
          <a:p>
            <a:pPr algn="l">
              <a:spcAft>
                <a:spcPts val="500"/>
              </a:spcAft>
            </a:pPr>
            <a:r>
              <a:rPr sz="1050" b="0" i="0">
                <a:solidFill>
                  <a:srgbClr val="384553"/>
                </a:solidFill>
                <a:latin typeface="Calibri"/>
              </a:rPr>
              <a:t>•  The Simplex architecture (Sha, 2001) is the field-standard runtime-assurance pattern but predates learned controllers and assumes the decision logic works.</a:t>
            </a:r>
          </a:p>
          <a:p>
            <a:pPr algn="l">
              <a:spcAft>
                <a:spcPts val="500"/>
              </a:spcAft>
            </a:pPr>
            <a:r>
              <a:rPr sz="1050" b="0" i="0">
                <a:solidFill>
                  <a:srgbClr val="384553"/>
                </a:solidFill>
                <a:latin typeface="Calibri"/>
              </a:rPr>
              <a:t>•  Conformal prediction gives elegant statistical guarantees under exchangeability, but no established procedure checks whether that assumption holds in a live system.</a:t>
            </a:r>
          </a:p>
          <a:p>
            <a:pPr algn="l">
              <a:spcAft>
                <a:spcPts val="500"/>
              </a:spcAft>
            </a:pPr>
            <a:r>
              <a:rPr sz="1050" b="0" i="0">
                <a:solidFill>
                  <a:srgbClr val="384553"/>
                </a:solidFill>
                <a:latin typeface="Calibri"/>
              </a:rPr>
              <a:t>•  Fault-detection literature evaluates a monitor at one location under one metric — typically AUC — and does not measure whether operational firing follows.</a:t>
            </a:r>
          </a:p>
          <a:p>
            <a:pPr algn="l">
              <a:spcAft>
                <a:spcPts val="400"/>
              </a:spcAft>
            </a:pPr>
            <a:r>
              <a:rPr sz="1200" b="1" i="0">
                <a:solidFill>
                  <a:srgbClr val="015F6B"/>
                </a:solidFill>
                <a:latin typeface="Cambria"/>
              </a:rPr>
              <a:t>What motivated this system</a:t>
            </a:r>
          </a:p>
          <a:p>
            <a:pPr algn="l">
              <a:spcAft>
                <a:spcPts val="0"/>
              </a:spcAft>
            </a:pPr>
            <a:r>
              <a:rPr sz="1100" b="0" i="0">
                <a:solidFill>
                  <a:srgbClr val="384553"/>
                </a:solidFill>
                <a:latin typeface="Calibri"/>
              </a:rPr>
              <a:t>We wanted a testbed where a fault could be traced through every layer of a governance stack, one variable at a time, with the discipline that any monitoring claim must survive delivered-signal verification and a pre-registered evaluation criterion. The testbed then produced the finding: monitors have systematic blind spots that no calibration alone repairs.</a:t>
            </a:r>
          </a:p>
        </p:txBody>
      </p:sp>
      <p:sp>
        <p:nvSpPr>
          <p:cNvPr id="5" name="Rectangle 4"/>
          <p:cNvSpPr/>
          <p:nvPr/>
        </p:nvSpPr>
        <p:spPr>
          <a:xfrm>
            <a:off x="6400800" y="1280160"/>
            <a:ext cx="5212080" cy="5029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417320"/>
            <a:ext cx="4937760" cy="4754880"/>
          </a:xfrm>
          <a:prstGeom prst="rect">
            <a:avLst/>
          </a:prstGeom>
          <a:noFill/>
        </p:spPr>
        <p:txBody>
          <a:bodyPr wrap="square" anchor="t" lIns="0" rIns="0" tIns="0" bIns="0">
            <a:spAutoFit/>
          </a:bodyPr>
          <a:lstStyle/>
          <a:p>
            <a:pPr algn="l">
              <a:spcAft>
                <a:spcPts val="800"/>
              </a:spcAft>
            </a:pPr>
            <a:r>
              <a:rPr sz="1000" b="1" i="0">
                <a:solidFill>
                  <a:srgbClr val="028090"/>
                </a:solidFill>
                <a:latin typeface="Calibri"/>
              </a:rPr>
              <a:t>WHY EXISTING APPROACHES ARE INSUFFICIENT</a:t>
            </a:r>
          </a:p>
          <a:p>
            <a:pPr algn="l">
              <a:spcAft>
                <a:spcPts val="200"/>
              </a:spcAft>
            </a:pPr>
            <a:r>
              <a:rPr sz="1050" b="1" i="0">
                <a:solidFill>
                  <a:srgbClr val="1A222E"/>
                </a:solidFill>
                <a:latin typeface="Calibri"/>
              </a:rPr>
              <a:t>Simplex (2001)</a:t>
            </a:r>
          </a:p>
          <a:p>
            <a:pPr algn="l">
              <a:spcAft>
                <a:spcPts val="800"/>
              </a:spcAft>
            </a:pPr>
            <a:r>
              <a:rPr sz="950" b="0" i="0">
                <a:solidFill>
                  <a:srgbClr val="384553"/>
                </a:solidFill>
                <a:latin typeface="Calibri"/>
              </a:rPr>
              <a:t>prescribes fallback controller and switching logic; does not prescribe how the decision logic itself is judged reliable</a:t>
            </a:r>
          </a:p>
          <a:p>
            <a:pPr algn="l">
              <a:spcAft>
                <a:spcPts val="200"/>
              </a:spcAft>
            </a:pPr>
            <a:r>
              <a:rPr sz="1050" b="1" i="0">
                <a:solidFill>
                  <a:srgbClr val="1A222E"/>
                </a:solidFill>
                <a:latin typeface="Calibri"/>
              </a:rPr>
              <a:t>Innovation-based FDI</a:t>
            </a:r>
          </a:p>
          <a:p>
            <a:pPr algn="l">
              <a:spcAft>
                <a:spcPts val="800"/>
              </a:spcAft>
            </a:pPr>
            <a:r>
              <a:rPr sz="950" b="0" i="0">
                <a:solidFill>
                  <a:srgbClr val="384553"/>
                </a:solidFill>
                <a:latin typeface="Calibri"/>
              </a:rPr>
              <a:t>detects at one stage; not routinely evaluated against a learned controller's downstream behaviour</a:t>
            </a:r>
          </a:p>
          <a:p>
            <a:pPr algn="l">
              <a:spcAft>
                <a:spcPts val="200"/>
              </a:spcAft>
            </a:pPr>
            <a:r>
              <a:rPr sz="1050" b="1" i="0">
                <a:solidFill>
                  <a:srgbClr val="1A222E"/>
                </a:solidFill>
                <a:latin typeface="Calibri"/>
              </a:rPr>
              <a:t>Conformal prediction</a:t>
            </a:r>
          </a:p>
          <a:p>
            <a:pPr algn="l">
              <a:spcAft>
                <a:spcPts val="800"/>
              </a:spcAft>
            </a:pPr>
            <a:r>
              <a:rPr sz="950" b="0" i="0">
                <a:solidFill>
                  <a:srgbClr val="384553"/>
                </a:solidFill>
                <a:latin typeface="Calibri"/>
              </a:rPr>
              <a:t>provides coverage under exchangeability; live systems routinely violate exchangeability without warning</a:t>
            </a:r>
          </a:p>
          <a:p>
            <a:pPr algn="l">
              <a:spcAft>
                <a:spcPts val="200"/>
              </a:spcAft>
            </a:pPr>
            <a:r>
              <a:rPr sz="1050" b="1" i="0">
                <a:solidFill>
                  <a:srgbClr val="1A222E"/>
                </a:solidFill>
                <a:latin typeface="Calibri"/>
              </a:rPr>
              <a:t>Digital-twin / model-based</a:t>
            </a:r>
          </a:p>
          <a:p>
            <a:pPr algn="l">
              <a:spcAft>
                <a:spcPts val="800"/>
              </a:spcAft>
            </a:pPr>
            <a:r>
              <a:rPr sz="950" b="0" i="0">
                <a:solidFill>
                  <a:srgbClr val="384553"/>
                </a:solidFill>
                <a:latin typeface="Calibri"/>
              </a:rPr>
              <a:t>monitors residuals; assumes model and system stay aligned, an assumption that itself needs checking</a:t>
            </a:r>
          </a:p>
          <a:p>
            <a:pPr algn="l">
              <a:spcAft>
                <a:spcPts val="200"/>
              </a:spcAft>
            </a:pPr>
            <a:r>
              <a:rPr sz="1050" b="1" i="0">
                <a:solidFill>
                  <a:srgbClr val="1A222E"/>
                </a:solidFill>
                <a:latin typeface="Calibri"/>
              </a:rPr>
              <a:t>Redundant sensor fusion</a:t>
            </a:r>
          </a:p>
          <a:p>
            <a:pPr algn="l">
              <a:spcAft>
                <a:spcPts val="800"/>
              </a:spcAft>
            </a:pPr>
            <a:r>
              <a:rPr sz="950" b="0" i="0">
                <a:solidFill>
                  <a:srgbClr val="384553"/>
                </a:solidFill>
                <a:latin typeface="Calibri"/>
              </a:rPr>
              <a:t>voting outvotes a liar and discards the evidence; fault correction becomes fault concealment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WHAT WE SET OUT TO DO</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Objectives</a:t>
            </a:r>
          </a:p>
        </p:txBody>
      </p:sp>
      <p:sp>
        <p:nvSpPr>
          <p:cNvPr id="4" name="TextBox 3"/>
          <p:cNvSpPr txBox="1"/>
          <p:nvPr/>
        </p:nvSpPr>
        <p:spPr>
          <a:xfrm>
            <a:off x="548640" y="1280160"/>
            <a:ext cx="11064240" cy="274320"/>
          </a:xfrm>
          <a:prstGeom prst="rect">
            <a:avLst/>
          </a:prstGeom>
          <a:noFill/>
        </p:spPr>
        <p:txBody>
          <a:bodyPr wrap="square" anchor="t" lIns="0" rIns="0" tIns="0" bIns="0">
            <a:spAutoFit/>
          </a:bodyPr>
          <a:lstStyle/>
          <a:p>
            <a:pPr algn="l">
              <a:spcAft>
                <a:spcPts val="0"/>
              </a:spcAft>
            </a:pPr>
            <a:r>
              <a:rPr sz="1100" b="0" i="0">
                <a:solidFill>
                  <a:srgbClr val="5F6E7C"/>
                </a:solidFill>
                <a:latin typeface="Calibri"/>
              </a:rPr>
              <a:t>Six objectives, each traceable to a specific experimental deliverable in the project record.</a:t>
            </a:r>
          </a:p>
        </p:txBody>
      </p:sp>
      <p:sp>
        <p:nvSpPr>
          <p:cNvPr id="5" name="Rectangle 4"/>
          <p:cNvSpPr/>
          <p:nvPr/>
        </p:nvSpPr>
        <p:spPr>
          <a:xfrm>
            <a:off x="548640" y="1691640"/>
            <a:ext cx="1106424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594360" cy="74980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92808"/>
            <a:ext cx="594360" cy="365760"/>
          </a:xfrm>
          <a:prstGeom prst="rect">
            <a:avLst/>
          </a:prstGeom>
          <a:noFill/>
        </p:spPr>
        <p:txBody>
          <a:bodyPr wrap="square" anchor="t" lIns="0" rIns="0" tIns="0" bIns="0">
            <a:spAutoFit/>
          </a:bodyPr>
          <a:lstStyle/>
          <a:p>
            <a:pPr algn="ctr">
              <a:spcAft>
                <a:spcPts val="0"/>
              </a:spcAft>
            </a:pPr>
            <a:r>
              <a:rPr sz="2200" b="1" i="0">
                <a:solidFill>
                  <a:srgbClr val="FFFFFF"/>
                </a:solidFill>
                <a:latin typeface="Cambria"/>
              </a:rPr>
              <a:t>1</a:t>
            </a:r>
          </a:p>
        </p:txBody>
      </p:sp>
      <p:sp>
        <p:nvSpPr>
          <p:cNvPr id="8" name="TextBox 7"/>
          <p:cNvSpPr txBox="1"/>
          <p:nvPr/>
        </p:nvSpPr>
        <p:spPr>
          <a:xfrm>
            <a:off x="1280160" y="1764792"/>
            <a:ext cx="101955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Design a layered runtime governance architecture</a:t>
            </a:r>
          </a:p>
          <a:p>
            <a:pPr algn="l">
              <a:spcAft>
                <a:spcPts val="0"/>
              </a:spcAft>
            </a:pPr>
            <a:r>
              <a:rPr sz="1000" b="0" i="0">
                <a:solidFill>
                  <a:srgbClr val="384553"/>
                </a:solidFill>
                <a:latin typeface="Calibri"/>
              </a:rPr>
              <a:t>Build a nine-layer stack around a learned proposer (Core-A) with a one-way trust boundary to a safety domain (Core-B). Verify every layer is domain-mapped and every safety gate returns a verdict on every control tick.</a:t>
            </a:r>
          </a:p>
        </p:txBody>
      </p:sp>
      <p:sp>
        <p:nvSpPr>
          <p:cNvPr id="9" name="Rectangle 8"/>
          <p:cNvSpPr/>
          <p:nvPr/>
        </p:nvSpPr>
        <p:spPr>
          <a:xfrm>
            <a:off x="548640" y="2487168"/>
            <a:ext cx="11064240" cy="749808"/>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487168"/>
            <a:ext cx="594360" cy="74980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88336"/>
            <a:ext cx="594360" cy="365760"/>
          </a:xfrm>
          <a:prstGeom prst="rect">
            <a:avLst/>
          </a:prstGeom>
          <a:noFill/>
        </p:spPr>
        <p:txBody>
          <a:bodyPr wrap="square" anchor="t" lIns="0" rIns="0" tIns="0" bIns="0">
            <a:spAutoFit/>
          </a:bodyPr>
          <a:lstStyle/>
          <a:p>
            <a:pPr algn="ctr">
              <a:spcAft>
                <a:spcPts val="0"/>
              </a:spcAft>
            </a:pPr>
            <a:r>
              <a:rPr sz="2200" b="1" i="0">
                <a:solidFill>
                  <a:srgbClr val="FFFFFF"/>
                </a:solidFill>
                <a:latin typeface="Cambria"/>
              </a:rPr>
              <a:t>2</a:t>
            </a:r>
          </a:p>
        </p:txBody>
      </p:sp>
      <p:sp>
        <p:nvSpPr>
          <p:cNvPr id="12" name="TextBox 11"/>
          <p:cNvSpPr txBox="1"/>
          <p:nvPr/>
        </p:nvSpPr>
        <p:spPr>
          <a:xfrm>
            <a:off x="1280160" y="2560320"/>
            <a:ext cx="101955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Build a controlled fault-injection testbed</a:t>
            </a:r>
          </a:p>
          <a:p>
            <a:pPr algn="l">
              <a:spcAft>
                <a:spcPts val="0"/>
              </a:spcAft>
            </a:pPr>
            <a:r>
              <a:rPr sz="1000" b="0" i="0">
                <a:solidFill>
                  <a:srgbClr val="384553"/>
                </a:solidFill>
                <a:latin typeface="Calibri"/>
              </a:rPr>
              <a:t>Six fault classes across three sensor channels, delivered-signal verification, pre-registered evaluation windows and thresholds. Testbed used to run 4,300 closed-loop simulation runs.</a:t>
            </a:r>
          </a:p>
        </p:txBody>
      </p:sp>
      <p:sp>
        <p:nvSpPr>
          <p:cNvPr id="13" name="Rectangle 12"/>
          <p:cNvSpPr/>
          <p:nvPr/>
        </p:nvSpPr>
        <p:spPr>
          <a:xfrm>
            <a:off x="548640" y="3282696"/>
            <a:ext cx="1106424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82696"/>
            <a:ext cx="594360" cy="74980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483864"/>
            <a:ext cx="594360" cy="365760"/>
          </a:xfrm>
          <a:prstGeom prst="rect">
            <a:avLst/>
          </a:prstGeom>
          <a:noFill/>
        </p:spPr>
        <p:txBody>
          <a:bodyPr wrap="square" anchor="t" lIns="0" rIns="0" tIns="0" bIns="0">
            <a:spAutoFit/>
          </a:bodyPr>
          <a:lstStyle/>
          <a:p>
            <a:pPr algn="ctr">
              <a:spcAft>
                <a:spcPts val="0"/>
              </a:spcAft>
            </a:pPr>
            <a:r>
              <a:rPr sz="2200" b="1" i="0">
                <a:solidFill>
                  <a:srgbClr val="FFFFFF"/>
                </a:solidFill>
                <a:latin typeface="Cambria"/>
              </a:rPr>
              <a:t>3</a:t>
            </a:r>
          </a:p>
        </p:txBody>
      </p:sp>
      <p:sp>
        <p:nvSpPr>
          <p:cNvPr id="16" name="TextBox 15"/>
          <p:cNvSpPr txBox="1"/>
          <p:nvPr/>
        </p:nvSpPr>
        <p:spPr>
          <a:xfrm>
            <a:off x="1280160" y="3355848"/>
            <a:ext cx="101955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Characterise stage-wise fault observability</a:t>
            </a:r>
          </a:p>
          <a:p>
            <a:pPr algn="l">
              <a:spcAft>
                <a:spcPts val="0"/>
              </a:spcAft>
            </a:pPr>
            <a:r>
              <a:rPr sz="1000" b="0" i="0">
                <a:solidFill>
                  <a:srgbClr val="384553"/>
                </a:solidFill>
                <a:latin typeface="Calibri"/>
              </a:rPr>
              <a:t>For each fault and each layer, measure a stage-wise discriminability score. Produce an observability profile that shows where evidence of the fault survives and where it does not.</a:t>
            </a:r>
          </a:p>
        </p:txBody>
      </p:sp>
      <p:sp>
        <p:nvSpPr>
          <p:cNvPr id="17" name="Rectangle 16"/>
          <p:cNvSpPr/>
          <p:nvPr/>
        </p:nvSpPr>
        <p:spPr>
          <a:xfrm>
            <a:off x="548640" y="4078224"/>
            <a:ext cx="11064240" cy="749808"/>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078224"/>
            <a:ext cx="594360" cy="749808"/>
          </a:xfrm>
          <a:prstGeom prst="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279392"/>
            <a:ext cx="594360" cy="365760"/>
          </a:xfrm>
          <a:prstGeom prst="rect">
            <a:avLst/>
          </a:prstGeom>
          <a:noFill/>
        </p:spPr>
        <p:txBody>
          <a:bodyPr wrap="square" anchor="t" lIns="0" rIns="0" tIns="0" bIns="0">
            <a:spAutoFit/>
          </a:bodyPr>
          <a:lstStyle/>
          <a:p>
            <a:pPr algn="ctr">
              <a:spcAft>
                <a:spcPts val="0"/>
              </a:spcAft>
            </a:pPr>
            <a:r>
              <a:rPr sz="2200" b="1" i="0">
                <a:solidFill>
                  <a:srgbClr val="FFFFFF"/>
                </a:solidFill>
                <a:latin typeface="Cambria"/>
              </a:rPr>
              <a:t>4</a:t>
            </a:r>
          </a:p>
        </p:txBody>
      </p:sp>
      <p:sp>
        <p:nvSpPr>
          <p:cNvPr id="20" name="TextBox 19"/>
          <p:cNvSpPr txBox="1"/>
          <p:nvPr/>
        </p:nvSpPr>
        <p:spPr>
          <a:xfrm>
            <a:off x="1280160" y="4151376"/>
            <a:ext cx="101955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Establish calibration and detection behaviour of a conformal safety monitor</a:t>
            </a:r>
          </a:p>
          <a:p>
            <a:pPr algn="l">
              <a:spcAft>
                <a:spcPts val="0"/>
              </a:spcAft>
            </a:pPr>
            <a:r>
              <a:rPr sz="1000" b="0" i="0">
                <a:solidFill>
                  <a:srgbClr val="384553"/>
                </a:solidFill>
                <a:latin typeface="Calibri"/>
              </a:rPr>
              <a:t>Systematically calibrate the statistical gate under three schemes; measure per-run false-alarm and detection behaviour; report the mechanism when it fails.</a:t>
            </a:r>
          </a:p>
        </p:txBody>
      </p:sp>
      <p:sp>
        <p:nvSpPr>
          <p:cNvPr id="21" name="Rectangle 20"/>
          <p:cNvSpPr/>
          <p:nvPr/>
        </p:nvSpPr>
        <p:spPr>
          <a:xfrm>
            <a:off x="548640" y="4873752"/>
            <a:ext cx="1106424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873752"/>
            <a:ext cx="594360" cy="749808"/>
          </a:xfrm>
          <a:prstGeom prst="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074920"/>
            <a:ext cx="594360" cy="365760"/>
          </a:xfrm>
          <a:prstGeom prst="rect">
            <a:avLst/>
          </a:prstGeom>
          <a:noFill/>
        </p:spPr>
        <p:txBody>
          <a:bodyPr wrap="square" anchor="t" lIns="0" rIns="0" tIns="0" bIns="0">
            <a:spAutoFit/>
          </a:bodyPr>
          <a:lstStyle/>
          <a:p>
            <a:pPr algn="ctr">
              <a:spcAft>
                <a:spcPts val="0"/>
              </a:spcAft>
            </a:pPr>
            <a:r>
              <a:rPr sz="2200" b="1" i="0">
                <a:solidFill>
                  <a:srgbClr val="FFFFFF"/>
                </a:solidFill>
                <a:latin typeface="Cambria"/>
              </a:rPr>
              <a:t>5</a:t>
            </a:r>
          </a:p>
        </p:txBody>
      </p:sp>
      <p:sp>
        <p:nvSpPr>
          <p:cNvPr id="24" name="TextBox 23"/>
          <p:cNvSpPr txBox="1"/>
          <p:nvPr/>
        </p:nvSpPr>
        <p:spPr>
          <a:xfrm>
            <a:off x="1280160" y="4946904"/>
            <a:ext cx="101955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Separate statistical discriminability from operational detectability</a:t>
            </a:r>
          </a:p>
          <a:p>
            <a:pPr algn="l">
              <a:spcAft>
                <a:spcPts val="0"/>
              </a:spcAft>
            </a:pPr>
            <a:r>
              <a:rPr sz="1000" b="0" i="0">
                <a:solidFill>
                  <a:srgbClr val="384553"/>
                </a:solidFill>
                <a:latin typeface="Calibri"/>
              </a:rPr>
              <a:t>Show, with data, whether a stage where the fault is statistically distinguishable also permits an operational monitor to fire reliably.</a:t>
            </a:r>
          </a:p>
        </p:txBody>
      </p:sp>
      <p:sp>
        <p:nvSpPr>
          <p:cNvPr id="25" name="Rectangle 24"/>
          <p:cNvSpPr/>
          <p:nvPr/>
        </p:nvSpPr>
        <p:spPr>
          <a:xfrm>
            <a:off x="548640" y="5669280"/>
            <a:ext cx="11064240" cy="749808"/>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669280"/>
            <a:ext cx="594360" cy="749808"/>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870448"/>
            <a:ext cx="594360" cy="365760"/>
          </a:xfrm>
          <a:prstGeom prst="rect">
            <a:avLst/>
          </a:prstGeom>
          <a:noFill/>
        </p:spPr>
        <p:txBody>
          <a:bodyPr wrap="square" anchor="t" lIns="0" rIns="0" tIns="0" bIns="0">
            <a:spAutoFit/>
          </a:bodyPr>
          <a:lstStyle/>
          <a:p>
            <a:pPr algn="ctr">
              <a:spcAft>
                <a:spcPts val="0"/>
              </a:spcAft>
            </a:pPr>
            <a:r>
              <a:rPr sz="2200" b="1" i="0">
                <a:solidFill>
                  <a:srgbClr val="FFFFFF"/>
                </a:solidFill>
                <a:latin typeface="Cambria"/>
              </a:rPr>
              <a:t>6</a:t>
            </a:r>
          </a:p>
        </p:txBody>
      </p:sp>
      <p:sp>
        <p:nvSpPr>
          <p:cNvPr id="28" name="TextBox 27"/>
          <p:cNvSpPr txBox="1"/>
          <p:nvPr/>
        </p:nvSpPr>
        <p:spPr>
          <a:xfrm>
            <a:off x="1280160" y="5742432"/>
            <a:ext cx="101955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Propose an architectural response — a self-trust layer</a:t>
            </a:r>
          </a:p>
          <a:p>
            <a:pPr algn="l">
              <a:spcAft>
                <a:spcPts val="0"/>
              </a:spcAft>
            </a:pPr>
            <a:r>
              <a:rPr sz="1000" b="0" i="0">
                <a:solidFill>
                  <a:srgbClr val="384553"/>
                </a:solidFill>
                <a:latin typeface="Calibri"/>
              </a:rPr>
              <a:t>Design ASTRA 2.0, a monitoring architecture that assesses whether its own monitors can be trusted at runtime. Design published; implementation is future work.</a:t>
            </a:r>
          </a:p>
        </p:txBody>
      </p:sp>
      <p:sp>
        <p:nvSpPr>
          <p:cNvPr id="29" name="TextBox 28"/>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Objectives 1-5 are complete or substantially complete; objective 6 is designed with a validation plan pending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LITERATURE SURVEY</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Existing systems and identified gap</a:t>
            </a:r>
          </a:p>
        </p:txBody>
      </p:sp>
      <p:graphicFrame>
        <p:nvGraphicFramePr>
          <p:cNvPr id="4" name="Table 3"/>
          <p:cNvGraphicFramePr>
            <a:graphicFrameLocks noGrp="1"/>
          </p:cNvGraphicFramePr>
          <p:nvPr/>
        </p:nvGraphicFramePr>
        <p:xfrm>
          <a:off x="548640" y="1280160"/>
          <a:ext cx="11064240" cy="3675888"/>
        </p:xfrm>
        <a:graphic>
          <a:graphicData uri="http://schemas.openxmlformats.org/drawingml/2006/table">
            <a:tbl>
              <a:tblPr firstRow="1" bandRow="1">
                <a:tableStyleId>{5C22544A-7EE6-4342-B048-85BDC9FD1C3A}</a:tableStyleId>
              </a:tblPr>
              <a:tblGrid>
                <a:gridCol w="1737360"/>
                <a:gridCol w="2926080"/>
                <a:gridCol w="2926080"/>
                <a:gridCol w="3474720"/>
              </a:tblGrid>
              <a:tr h="274320">
                <a:tc>
                  <a:txBody>
                    <a:bodyPr wrap="square"/>
                    <a:lstStyle/>
                    <a:p>
                      <a:pPr>
                        <a:spcAft>
                          <a:spcPts val="0"/>
                        </a:spcAft>
                      </a:pPr>
                      <a:r>
                        <a:rPr sz="950" b="1">
                          <a:solidFill>
                            <a:srgbClr val="FFFFFF"/>
                          </a:solidFill>
                          <a:latin typeface="Calibri"/>
                        </a:rPr>
                        <a:t>Approach</a:t>
                      </a:r>
                    </a:p>
                  </a:txBody>
                  <a:tcPr marL="64008" marR="64008" marT="18288" marB="18288" anchor="ctr">
                    <a:solidFill>
                      <a:srgbClr val="142832"/>
                    </a:solidFill>
                  </a:tcPr>
                </a:tc>
                <a:tc>
                  <a:txBody>
                    <a:bodyPr wrap="square"/>
                    <a:lstStyle/>
                    <a:p>
                      <a:pPr>
                        <a:spcAft>
                          <a:spcPts val="0"/>
                        </a:spcAft>
                      </a:pPr>
                      <a:r>
                        <a:rPr sz="950" b="1">
                          <a:solidFill>
                            <a:srgbClr val="FFFFFF"/>
                          </a:solidFill>
                          <a:latin typeface="Calibri"/>
                        </a:rPr>
                        <a:t>Core idea</a:t>
                      </a:r>
                    </a:p>
                  </a:txBody>
                  <a:tcPr marL="64008" marR="64008" marT="18288" marB="18288" anchor="ctr">
                    <a:solidFill>
                      <a:srgbClr val="142832"/>
                    </a:solidFill>
                  </a:tcPr>
                </a:tc>
                <a:tc>
                  <a:txBody>
                    <a:bodyPr wrap="square"/>
                    <a:lstStyle/>
                    <a:p>
                      <a:pPr>
                        <a:spcAft>
                          <a:spcPts val="0"/>
                        </a:spcAft>
                      </a:pPr>
                      <a:r>
                        <a:rPr sz="950" b="1">
                          <a:solidFill>
                            <a:srgbClr val="FFFFFF"/>
                          </a:solidFill>
                          <a:latin typeface="Calibri"/>
                        </a:rPr>
                        <a:t>Strength</a:t>
                      </a:r>
                    </a:p>
                  </a:txBody>
                  <a:tcPr marL="64008" marR="64008" marT="18288" marB="18288" anchor="ctr">
                    <a:solidFill>
                      <a:srgbClr val="142832"/>
                    </a:solidFill>
                  </a:tcPr>
                </a:tc>
                <a:tc>
                  <a:txBody>
                    <a:bodyPr wrap="square"/>
                    <a:lstStyle/>
                    <a:p>
                      <a:pPr>
                        <a:spcAft>
                          <a:spcPts val="0"/>
                        </a:spcAft>
                      </a:pPr>
                      <a:r>
                        <a:rPr sz="950" b="1">
                          <a:solidFill>
                            <a:srgbClr val="FFFFFF"/>
                          </a:solidFill>
                          <a:latin typeface="Calibri"/>
                        </a:rPr>
                        <a:t>Limitation for our setting</a:t>
                      </a:r>
                    </a:p>
                  </a:txBody>
                  <a:tcPr marL="64008" marR="64008" marT="18288" marB="18288" anchor="ctr">
                    <a:solidFill>
                      <a:srgbClr val="142832"/>
                    </a:solidFill>
                  </a:tcPr>
                </a:tc>
              </a:tr>
              <a:tr h="566928">
                <a:tc>
                  <a:txBody>
                    <a:bodyPr wrap="square"/>
                    <a:lstStyle/>
                    <a:p>
                      <a:pPr>
                        <a:spcAft>
                          <a:spcPts val="0"/>
                        </a:spcAft>
                      </a:pPr>
                      <a:r>
                        <a:rPr sz="950" b="0">
                          <a:solidFill>
                            <a:srgbClr val="1A222E"/>
                          </a:solidFill>
                          <a:latin typeface="Calibri"/>
                        </a:rPr>
                        <a:t>Simplex (Sha 2001)</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Complex controller + safety controller + switching logic</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Formalised trust boundary; widely adopted</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Assumes decision logic is reliable; no self-assessment</a:t>
                      </a:r>
                    </a:p>
                  </a:txBody>
                  <a:tcPr marL="64008" marR="64008" marT="18288" marB="18288" anchor="ctr">
                    <a:solidFill>
                      <a:srgbClr val="FFFFFF"/>
                    </a:solidFill>
                  </a:tcPr>
                </a:tc>
              </a:tr>
              <a:tr h="566928">
                <a:tc>
                  <a:txBody>
                    <a:bodyPr wrap="square"/>
                    <a:lstStyle/>
                    <a:p>
                      <a:pPr>
                        <a:spcAft>
                          <a:spcPts val="0"/>
                        </a:spcAft>
                      </a:pPr>
                      <a:r>
                        <a:rPr sz="950" b="0">
                          <a:solidFill>
                            <a:srgbClr val="1A222E"/>
                          </a:solidFill>
                          <a:latin typeface="Calibri"/>
                        </a:rPr>
                        <a:t>Analytical redundancy / FDI
(Willsky 1976; Basseville &amp; Nikiforov)</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Detect faults from residuals or innovation statistics</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Well-studied, model-based, provable under linear assumptions</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Requires accurate model; typically single detector at one stage</a:t>
                      </a:r>
                    </a:p>
                  </a:txBody>
                  <a:tcPr marL="64008" marR="64008" marT="18288" marB="18288" anchor="ctr">
                    <a:solidFill>
                      <a:srgbClr val="F3F6F8"/>
                    </a:solidFill>
                  </a:tcPr>
                </a:tc>
              </a:tr>
              <a:tr h="566928">
                <a:tc>
                  <a:txBody>
                    <a:bodyPr wrap="square"/>
                    <a:lstStyle/>
                    <a:p>
                      <a:pPr>
                        <a:spcAft>
                          <a:spcPts val="0"/>
                        </a:spcAft>
                      </a:pPr>
                      <a:r>
                        <a:rPr sz="950" b="0">
                          <a:solidFill>
                            <a:srgbClr val="1A222E"/>
                          </a:solidFill>
                          <a:latin typeface="Calibri"/>
                        </a:rPr>
                        <a:t>Conformal prediction / ICP
(Vovk, Shafer, Gammerman)</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Non-parametric anomaly detection with coverage guarantees</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Distribution-free under exchangeability</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Exchangeability assumption routinely violated in live systems; no built-in check</a:t>
                      </a:r>
                    </a:p>
                  </a:txBody>
                  <a:tcPr marL="64008" marR="64008" marT="18288" marB="18288" anchor="ctr">
                    <a:solidFill>
                      <a:srgbClr val="FFFFFF"/>
                    </a:solidFill>
                  </a:tcPr>
                </a:tc>
              </a:tr>
              <a:tr h="566928">
                <a:tc>
                  <a:txBody>
                    <a:bodyPr wrap="square"/>
                    <a:lstStyle/>
                    <a:p>
                      <a:pPr>
                        <a:spcAft>
                          <a:spcPts val="0"/>
                        </a:spcAft>
                      </a:pPr>
                      <a:r>
                        <a:rPr sz="950" b="0">
                          <a:solidFill>
                            <a:srgbClr val="1A222E"/>
                          </a:solidFill>
                          <a:latin typeface="Calibri"/>
                        </a:rPr>
                        <a:t>Digital-twin monitoring
(model-based diagnosis)</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Compare live system output with a model of expected behaviour</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Interpretable; supports what-if analysis</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Twin fidelity itself must be maintained; drift is silent</a:t>
                      </a:r>
                    </a:p>
                  </a:txBody>
                  <a:tcPr marL="64008" marR="64008" marT="18288" marB="18288" anchor="ctr">
                    <a:solidFill>
                      <a:srgbClr val="F3F6F8"/>
                    </a:solidFill>
                  </a:tcPr>
                </a:tc>
              </a:tr>
              <a:tr h="566928">
                <a:tc>
                  <a:txBody>
                    <a:bodyPr wrap="square"/>
                    <a:lstStyle/>
                    <a:p>
                      <a:pPr>
                        <a:spcAft>
                          <a:spcPts val="0"/>
                        </a:spcAft>
                      </a:pPr>
                      <a:r>
                        <a:rPr sz="950" b="0">
                          <a:solidFill>
                            <a:srgbClr val="1A222E"/>
                          </a:solidFill>
                          <a:latin typeface="Calibri"/>
                        </a:rPr>
                        <a:t>Redundant sensor fusion
(TMR, median voting)</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Multiple sensors, majority vote rejects the outlier</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Handles common single-channel faults</a:t>
                      </a:r>
                    </a:p>
                  </a:txBody>
                  <a:tcPr marL="64008" marR="64008" marT="18288" marB="18288" anchor="ctr">
                    <a:solidFill>
                      <a:srgbClr val="FFFFFF"/>
                    </a:solidFill>
                  </a:tcPr>
                </a:tc>
                <a:tc>
                  <a:txBody>
                    <a:bodyPr wrap="square"/>
                    <a:lstStyle/>
                    <a:p>
                      <a:pPr>
                        <a:spcAft>
                          <a:spcPts val="0"/>
                        </a:spcAft>
                      </a:pPr>
                      <a:r>
                        <a:rPr sz="950" b="0">
                          <a:solidFill>
                            <a:srgbClr val="1A222E"/>
                          </a:solidFill>
                          <a:latin typeface="Calibri"/>
                        </a:rPr>
                        <a:t>A well-crafted adversarial signal can hide inside the voting margin</a:t>
                      </a:r>
                    </a:p>
                  </a:txBody>
                  <a:tcPr marL="64008" marR="64008" marT="18288" marB="18288" anchor="ctr">
                    <a:solidFill>
                      <a:srgbClr val="FFFFFF"/>
                    </a:solidFill>
                  </a:tcPr>
                </a:tc>
              </a:tr>
              <a:tr h="566928">
                <a:tc>
                  <a:txBody>
                    <a:bodyPr wrap="square"/>
                    <a:lstStyle/>
                    <a:p>
                      <a:pPr>
                        <a:spcAft>
                          <a:spcPts val="0"/>
                        </a:spcAft>
                      </a:pPr>
                      <a:r>
                        <a:rPr sz="950" b="0">
                          <a:solidFill>
                            <a:srgbClr val="1A222E"/>
                          </a:solidFill>
                          <a:latin typeface="Calibri"/>
                        </a:rPr>
                        <a:t>Fault-injection studies
(various)</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Inject known faults, measure detector response</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Empirical, comparable across systems</a:t>
                      </a:r>
                    </a:p>
                  </a:txBody>
                  <a:tcPr marL="64008" marR="64008" marT="18288" marB="18288" anchor="ctr">
                    <a:solidFill>
                      <a:srgbClr val="F3F6F8"/>
                    </a:solidFill>
                  </a:tcPr>
                </a:tc>
                <a:tc>
                  <a:txBody>
                    <a:bodyPr wrap="square"/>
                    <a:lstStyle/>
                    <a:p>
                      <a:pPr>
                        <a:spcAft>
                          <a:spcPts val="0"/>
                        </a:spcAft>
                      </a:pPr>
                      <a:r>
                        <a:rPr sz="950" b="0">
                          <a:solidFill>
                            <a:srgbClr val="1A222E"/>
                          </a:solidFill>
                          <a:latin typeface="Calibri"/>
                        </a:rPr>
                        <a:t>Typically evaluated at one stage; run-level statistics rarely reported</a:t>
                      </a:r>
                    </a:p>
                  </a:txBody>
                  <a:tcPr marL="64008" marR="64008" marT="18288" marB="18288" anchor="ctr">
                    <a:solidFill>
                      <a:srgbClr val="F3F6F8"/>
                    </a:solidFill>
                  </a:tcPr>
                </a:tc>
              </a:tr>
            </a:tbl>
          </a:graphicData>
        </a:graphic>
      </p:graphicFrame>
      <p:sp>
        <p:nvSpPr>
          <p:cNvPr id="5" name="Rectangle 4"/>
          <p:cNvSpPr/>
          <p:nvPr/>
        </p:nvSpPr>
        <p:spPr>
          <a:xfrm>
            <a:off x="548640" y="5504688"/>
            <a:ext cx="11064240" cy="685800"/>
          </a:xfrm>
          <a:prstGeom prst="rect">
            <a:avLst/>
          </a:prstGeom>
          <a:solidFill>
            <a:srgbClr val="EE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5504688"/>
            <a:ext cx="128016" cy="685800"/>
          </a:xfrm>
          <a:prstGeom prst="rect">
            <a:avLst/>
          </a:prstGeom>
          <a:solidFill>
            <a:srgbClr val="6B2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577840"/>
            <a:ext cx="10698480" cy="594360"/>
          </a:xfrm>
          <a:prstGeom prst="rect">
            <a:avLst/>
          </a:prstGeom>
          <a:noFill/>
        </p:spPr>
        <p:txBody>
          <a:bodyPr wrap="square" anchor="t" lIns="0" rIns="0" tIns="0" bIns="0">
            <a:spAutoFit/>
          </a:bodyPr>
          <a:lstStyle/>
          <a:p>
            <a:pPr algn="l">
              <a:spcAft>
                <a:spcPts val="300"/>
              </a:spcAft>
            </a:pPr>
            <a:r>
              <a:rPr sz="1000" b="1" i="0">
                <a:solidFill>
                  <a:srgbClr val="6B2E86"/>
                </a:solidFill>
                <a:latin typeface="Calibri"/>
              </a:rPr>
              <a:t>IDENTIFIED GAP</a:t>
            </a:r>
          </a:p>
          <a:p>
            <a:pPr algn="l">
              <a:spcAft>
                <a:spcPts val="0"/>
              </a:spcAft>
            </a:pPr>
            <a:r>
              <a:rPr sz="1050" b="0" i="0">
                <a:solidFill>
                  <a:srgbClr val="1A222E"/>
                </a:solidFill>
                <a:latin typeface="Calibri"/>
              </a:rPr>
              <a:t>Existing runtime safety architectures assume their monitors work. There is no established, reproducible procedure that measures whether a runtime monitor can be trusted under the conditions it will actually see — before deployment or during it. ASTRA addresses this gap directly and demonstrates its necessity empirically.</a:t>
            </a:r>
          </a:p>
        </p:txBody>
      </p:sp>
      <p:sp>
        <p:nvSpPr>
          <p:cNvPr id="8" name="TextBox 7"/>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References available in accompanying literature-review document; systematic review recorded as an in-progress deliverable.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HOW ASTRA ADDRESSES THE GAP</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Proposed system</a:t>
            </a:r>
          </a:p>
        </p:txBody>
      </p:sp>
      <p:sp>
        <p:nvSpPr>
          <p:cNvPr id="4" name="TextBox 3"/>
          <p:cNvSpPr txBox="1"/>
          <p:nvPr/>
        </p:nvSpPr>
        <p:spPr>
          <a:xfrm>
            <a:off x="548640" y="1280160"/>
            <a:ext cx="5669280" cy="502920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The proposal in one sentence</a:t>
            </a:r>
          </a:p>
          <a:p>
            <a:pPr algn="l">
              <a:spcAft>
                <a:spcPts val="1000"/>
              </a:spcAft>
            </a:pPr>
            <a:r>
              <a:rPr sz="1200" b="1" i="0">
                <a:solidFill>
                  <a:srgbClr val="1A222E"/>
                </a:solidFill>
                <a:latin typeface="Calibri"/>
              </a:rPr>
              <a:t>A layered governance stack around a learned controller, plus a self-assessment mechanism that measures whether each monitor can currently be trusted, and routes decisions accordingly.</a:t>
            </a:r>
          </a:p>
          <a:p>
            <a:pPr algn="l">
              <a:spcAft>
                <a:spcPts val="400"/>
              </a:spcAft>
            </a:pPr>
            <a:r>
              <a:rPr sz="1200" b="1" i="0">
                <a:solidFill>
                  <a:srgbClr val="015F6B"/>
                </a:solidFill>
                <a:latin typeface="Cambria"/>
              </a:rPr>
              <a:t>How it addresses the gap</a:t>
            </a:r>
          </a:p>
          <a:p>
            <a:pPr algn="l">
              <a:spcAft>
                <a:spcPts val="400"/>
              </a:spcAft>
            </a:pPr>
            <a:r>
              <a:rPr sz="1050" b="0" i="0">
                <a:solidFill>
                  <a:srgbClr val="384553"/>
                </a:solidFill>
                <a:latin typeface="Calibri"/>
              </a:rPr>
              <a:t>•  Separates two questions that existing systems collapse: is there evidence of a fault, and can a decision be made on that evidence?</a:t>
            </a:r>
          </a:p>
          <a:p>
            <a:pPr algn="l">
              <a:spcAft>
                <a:spcPts val="400"/>
              </a:spcAft>
            </a:pPr>
            <a:r>
              <a:rPr sz="1050" b="0" i="0">
                <a:solidFill>
                  <a:srgbClr val="384553"/>
                </a:solidFill>
                <a:latin typeface="Calibri"/>
              </a:rPr>
              <a:t>•  Instruments every layer — sensing, estimation, trust, proposer, twin, statistical gate, deterministic shield, fail-safe, arbitration — so fault evidence is measured, not assumed.</a:t>
            </a:r>
          </a:p>
          <a:p>
            <a:pPr algn="l">
              <a:spcAft>
                <a:spcPts val="400"/>
              </a:spcAft>
            </a:pPr>
            <a:r>
              <a:rPr sz="1050" b="0" i="0">
                <a:solidFill>
                  <a:srgbClr val="384553"/>
                </a:solidFill>
                <a:latin typeface="Calibri"/>
              </a:rPr>
              <a:t>•  Adds a monitorability metric that predicts whether a stage's decision statistic has the dynamic range and stability to support a reliable threshold, before deployment.</a:t>
            </a:r>
          </a:p>
          <a:p>
            <a:pPr algn="l">
              <a:spcAft>
                <a:spcPts val="400"/>
              </a:spcAft>
            </a:pPr>
            <a:r>
              <a:rPr sz="1050" b="0" i="0">
                <a:solidFill>
                  <a:srgbClr val="384553"/>
                </a:solidFill>
                <a:latin typeface="Calibri"/>
              </a:rPr>
              <a:t>•  Adds a phase-aware detection rule that distinguishes fault activity from post-fault recovery, so that a monitor's silence during the fault is not read as safety.</a:t>
            </a:r>
          </a:p>
          <a:p>
            <a:pPr algn="l">
              <a:spcAft>
                <a:spcPts val="400"/>
              </a:spcAft>
            </a:pPr>
            <a:r>
              <a:rPr sz="1050" b="0" i="0">
                <a:solidFill>
                  <a:srgbClr val="384553"/>
                </a:solidFill>
                <a:latin typeface="Calibri"/>
              </a:rPr>
              <a:t>•  Preserves the one-way trust boundary between the learned domain (Core-A) and the safety domain (Core-B) throughout.</a:t>
            </a:r>
          </a:p>
          <a:p>
            <a:pPr algn="l">
              <a:spcAft>
                <a:spcPts val="400"/>
              </a:spcAft>
            </a:pPr>
            <a:r>
              <a:rPr sz="1200" b="1" i="0">
                <a:solidFill>
                  <a:srgbClr val="015F6B"/>
                </a:solidFill>
                <a:latin typeface="Cambria"/>
              </a:rPr>
              <a:t>What makes the approach useful</a:t>
            </a:r>
          </a:p>
          <a:p>
            <a:pPr algn="l">
              <a:spcAft>
                <a:spcPts val="0"/>
              </a:spcAft>
            </a:pPr>
            <a:r>
              <a:rPr sz="1050" b="0" i="0">
                <a:solidFill>
                  <a:srgbClr val="384553"/>
                </a:solidFill>
                <a:latin typeface="Calibri"/>
              </a:rPr>
              <a:t>The self-assessment mechanism is what makes an operator able to say, at runtime, how much to trust the current output of a specific monitor. That is a capability no existing architecture in this space provides.</a:t>
            </a:r>
          </a:p>
        </p:txBody>
      </p:sp>
      <p:sp>
        <p:nvSpPr>
          <p:cNvPr id="5" name="Rectangle 4"/>
          <p:cNvSpPr/>
          <p:nvPr/>
        </p:nvSpPr>
        <p:spPr>
          <a:xfrm>
            <a:off x="6400800" y="1280160"/>
            <a:ext cx="5212080" cy="5029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417320"/>
            <a:ext cx="4937760" cy="274320"/>
          </a:xfrm>
          <a:prstGeom prst="rect">
            <a:avLst/>
          </a:prstGeom>
          <a:noFill/>
        </p:spPr>
        <p:txBody>
          <a:bodyPr wrap="square" anchor="t" lIns="0" rIns="0" tIns="0" bIns="0">
            <a:spAutoFit/>
          </a:bodyPr>
          <a:lstStyle/>
          <a:p>
            <a:pPr algn="l">
              <a:spcAft>
                <a:spcPts val="0"/>
              </a:spcAft>
            </a:pPr>
            <a:r>
              <a:rPr sz="1000" b="1" i="0">
                <a:solidFill>
                  <a:srgbClr val="028090"/>
                </a:solidFill>
                <a:latin typeface="Calibri"/>
              </a:rPr>
              <a:t>CONCEPTUAL VIEW</a:t>
            </a:r>
          </a:p>
        </p:txBody>
      </p:sp>
      <p:sp>
        <p:nvSpPr>
          <p:cNvPr id="7" name="Rounded Rectangle 6"/>
          <p:cNvSpPr/>
          <p:nvPr/>
        </p:nvSpPr>
        <p:spPr>
          <a:xfrm>
            <a:off x="6629400" y="1783080"/>
            <a:ext cx="2468880" cy="274320"/>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L1   sensing</a:t>
            </a:r>
          </a:p>
        </p:txBody>
      </p:sp>
      <p:sp>
        <p:nvSpPr>
          <p:cNvPr id="8" name="Rounded Rectangle 7"/>
          <p:cNvSpPr/>
          <p:nvPr/>
        </p:nvSpPr>
        <p:spPr>
          <a:xfrm>
            <a:off x="6629400" y="2093976"/>
            <a:ext cx="2468880" cy="274320"/>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L2   UKF estimator</a:t>
            </a:r>
          </a:p>
        </p:txBody>
      </p:sp>
      <p:sp>
        <p:nvSpPr>
          <p:cNvPr id="9" name="Rounded Rectangle 8"/>
          <p:cNvSpPr/>
          <p:nvPr/>
        </p:nvSpPr>
        <p:spPr>
          <a:xfrm>
            <a:off x="6629400" y="2404872"/>
            <a:ext cx="2468880" cy="274320"/>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L3   trust</a:t>
            </a:r>
          </a:p>
        </p:txBody>
      </p:sp>
      <p:sp>
        <p:nvSpPr>
          <p:cNvPr id="10" name="Rounded Rectangle 9"/>
          <p:cNvSpPr/>
          <p:nvPr/>
        </p:nvSpPr>
        <p:spPr>
          <a:xfrm>
            <a:off x="6629400" y="2715768"/>
            <a:ext cx="2468880" cy="274320"/>
          </a:xfrm>
          <a:prstGeom prst="round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L4   learned proposer  (CORE-A)</a:t>
            </a:r>
          </a:p>
        </p:txBody>
      </p:sp>
      <p:sp>
        <p:nvSpPr>
          <p:cNvPr id="11" name="Rounded Rectangle 10"/>
          <p:cNvSpPr/>
          <p:nvPr/>
        </p:nvSpPr>
        <p:spPr>
          <a:xfrm>
            <a:off x="6629400" y="3026664"/>
            <a:ext cx="2468880" cy="27432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L5   PINN twin</a:t>
            </a:r>
          </a:p>
        </p:txBody>
      </p:sp>
      <p:sp>
        <p:nvSpPr>
          <p:cNvPr id="12" name="Rounded Rectangle 11"/>
          <p:cNvSpPr/>
          <p:nvPr/>
        </p:nvSpPr>
        <p:spPr>
          <a:xfrm>
            <a:off x="6629400" y="3337560"/>
            <a:ext cx="2468880" cy="27432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L6   conformal gate</a:t>
            </a:r>
          </a:p>
        </p:txBody>
      </p:sp>
      <p:sp>
        <p:nvSpPr>
          <p:cNvPr id="13" name="Rounded Rectangle 12"/>
          <p:cNvSpPr/>
          <p:nvPr/>
        </p:nvSpPr>
        <p:spPr>
          <a:xfrm>
            <a:off x="6629400" y="3648456"/>
            <a:ext cx="2468880" cy="27432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L7   shield</a:t>
            </a:r>
          </a:p>
        </p:txBody>
      </p:sp>
      <p:sp>
        <p:nvSpPr>
          <p:cNvPr id="14" name="Rounded Rectangle 13"/>
          <p:cNvSpPr/>
          <p:nvPr/>
        </p:nvSpPr>
        <p:spPr>
          <a:xfrm>
            <a:off x="6629400" y="3959352"/>
            <a:ext cx="2468880" cy="27432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L8   fail-safe</a:t>
            </a:r>
          </a:p>
        </p:txBody>
      </p:sp>
      <p:sp>
        <p:nvSpPr>
          <p:cNvPr id="15" name="Rounded Rectangle 14"/>
          <p:cNvSpPr/>
          <p:nvPr/>
        </p:nvSpPr>
        <p:spPr>
          <a:xfrm>
            <a:off x="6629400" y="4270248"/>
            <a:ext cx="2468880" cy="27432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0"/>
              </a:spcAft>
            </a:pPr>
            <a:r>
              <a:rPr sz="1000" b="1" i="0">
                <a:solidFill>
                  <a:srgbClr val="FFFFFF"/>
                </a:solidFill>
                <a:latin typeface="Calibri"/>
              </a:rPr>
              <a:t>L9   arbitration</a:t>
            </a:r>
          </a:p>
        </p:txBody>
      </p:sp>
      <p:sp>
        <p:nvSpPr>
          <p:cNvPr id="16" name="TextBox 15"/>
          <p:cNvSpPr txBox="1"/>
          <p:nvPr/>
        </p:nvSpPr>
        <p:spPr>
          <a:xfrm>
            <a:off x="9162288" y="3383280"/>
            <a:ext cx="457200" cy="365760"/>
          </a:xfrm>
          <a:prstGeom prst="rect">
            <a:avLst/>
          </a:prstGeom>
          <a:noFill/>
        </p:spPr>
        <p:txBody>
          <a:bodyPr wrap="square" anchor="t" lIns="0" rIns="0" tIns="0" bIns="0">
            <a:spAutoFit/>
          </a:bodyPr>
          <a:lstStyle/>
          <a:p>
            <a:pPr algn="ctr">
              <a:spcAft>
                <a:spcPts val="0"/>
              </a:spcAft>
            </a:pPr>
            <a:r>
              <a:rPr sz="2200" b="0" i="0">
                <a:solidFill>
                  <a:srgbClr val="5F6E7C"/>
                </a:solidFill>
                <a:latin typeface="Calibri"/>
              </a:rPr>
              <a:t>→</a:t>
            </a:r>
          </a:p>
        </p:txBody>
      </p:sp>
      <p:sp>
        <p:nvSpPr>
          <p:cNvPr id="17" name="Rounded Rectangle 16"/>
          <p:cNvSpPr/>
          <p:nvPr/>
        </p:nvSpPr>
        <p:spPr>
          <a:xfrm>
            <a:off x="9646920" y="2286000"/>
            <a:ext cx="1828800" cy="2286000"/>
          </a:xfrm>
          <a:prstGeom prst="roundRect">
            <a:avLst/>
          </a:prstGeom>
          <a:solidFill>
            <a:srgbClr val="6B2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10928" y="2377440"/>
            <a:ext cx="1691640" cy="2148840"/>
          </a:xfrm>
          <a:prstGeom prst="rect">
            <a:avLst/>
          </a:prstGeom>
          <a:noFill/>
        </p:spPr>
        <p:txBody>
          <a:bodyPr wrap="square" anchor="t" lIns="0" rIns="0" tIns="0" bIns="0">
            <a:spAutoFit/>
          </a:bodyPr>
          <a:lstStyle/>
          <a:p>
            <a:pPr algn="ctr">
              <a:spcAft>
                <a:spcPts val="400"/>
              </a:spcAft>
            </a:pPr>
            <a:r>
              <a:rPr sz="1200" b="1" i="0">
                <a:solidFill>
                  <a:srgbClr val="FFFFFF"/>
                </a:solidFill>
                <a:latin typeface="Cambria"/>
              </a:rPr>
              <a:t>SELF-TRUST
PLANE</a:t>
            </a:r>
          </a:p>
          <a:p>
            <a:pPr algn="ctr">
              <a:spcAft>
                <a:spcPts val="800"/>
              </a:spcAft>
            </a:pPr>
            <a:r>
              <a:rPr sz="900" b="0" i="0">
                <a:solidFill>
                  <a:srgbClr val="E4D9EF"/>
                </a:solidFill>
                <a:latin typeface="Calibri"/>
              </a:rPr>
              <a:t>measures each monitor's dynamic range, drift, and phase state</a:t>
            </a:r>
          </a:p>
          <a:p>
            <a:pPr algn="ctr">
              <a:spcAft>
                <a:spcPts val="0"/>
              </a:spcAft>
            </a:pPr>
            <a:r>
              <a:rPr sz="900" b="0" i="0">
                <a:solidFill>
                  <a:srgbClr val="E4D9EF"/>
                </a:solidFill>
                <a:latin typeface="Calibri"/>
              </a:rPr>
              <a:t>attaches a trust score to every verdict</a:t>
            </a:r>
          </a:p>
        </p:txBody>
      </p:sp>
      <p:sp>
        <p:nvSpPr>
          <p:cNvPr id="19" name="TextBox 18"/>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The stack (L1-L9) is implemented and characterised. The self-trust plane is a design proposal justified by the current experimental findings.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CONTROL AND DATA FLOW</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System architecture</a:t>
            </a:r>
          </a:p>
        </p:txBody>
      </p:sp>
      <p:sp>
        <p:nvSpPr>
          <p:cNvPr id="4" name="TextBox 3"/>
          <p:cNvSpPr txBox="1"/>
          <p:nvPr/>
        </p:nvSpPr>
        <p:spPr>
          <a:xfrm>
            <a:off x="548640" y="1234440"/>
            <a:ext cx="11064240" cy="274320"/>
          </a:xfrm>
          <a:prstGeom prst="rect">
            <a:avLst/>
          </a:prstGeom>
          <a:noFill/>
        </p:spPr>
        <p:txBody>
          <a:bodyPr wrap="square" anchor="t" lIns="0" rIns="0" tIns="0" bIns="0">
            <a:spAutoFit/>
          </a:bodyPr>
          <a:lstStyle/>
          <a:p>
            <a:pPr algn="l">
              <a:spcAft>
                <a:spcPts val="0"/>
              </a:spcAft>
            </a:pPr>
            <a:r>
              <a:rPr sz="1050" b="0" i="0">
                <a:solidFill>
                  <a:srgbClr val="5F6E7C"/>
                </a:solidFill>
                <a:latin typeface="Calibri"/>
              </a:rPr>
              <a:t>Sensor input → estimation → trust → learned proposal → twin prediction → statistical and deterministic gates → fail-safe → arbitration → actuation.</a:t>
            </a:r>
          </a:p>
        </p:txBody>
      </p:sp>
      <p:sp>
        <p:nvSpPr>
          <p:cNvPr id="5" name="Rounded Rectangle 4"/>
          <p:cNvSpPr/>
          <p:nvPr/>
        </p:nvSpPr>
        <p:spPr>
          <a:xfrm>
            <a:off x="548640" y="1691640"/>
            <a:ext cx="2468880" cy="365760"/>
          </a:xfrm>
          <a:prstGeom prst="round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55648"/>
            <a:ext cx="2468880" cy="256032"/>
          </a:xfrm>
          <a:prstGeom prst="rect">
            <a:avLst/>
          </a:prstGeom>
          <a:noFill/>
        </p:spPr>
        <p:txBody>
          <a:bodyPr wrap="square" anchor="t" lIns="0" rIns="0" tIns="0" bIns="0">
            <a:spAutoFit/>
          </a:bodyPr>
          <a:lstStyle/>
          <a:p>
            <a:pPr algn="ctr">
              <a:spcAft>
                <a:spcPts val="0"/>
              </a:spcAft>
            </a:pPr>
            <a:r>
              <a:rPr sz="950" b="1" i="0">
                <a:solidFill>
                  <a:srgbClr val="FFFFFF"/>
                </a:solidFill>
                <a:latin typeface="Calibri"/>
              </a:rPr>
              <a:t>SENSORS  IMU · GPS · LIDAR · CAN · fused frame</a:t>
            </a:r>
          </a:p>
        </p:txBody>
      </p:sp>
      <p:sp>
        <p:nvSpPr>
          <p:cNvPr id="7" name="Rectangle 6"/>
          <p:cNvSpPr/>
          <p:nvPr/>
        </p:nvSpPr>
        <p:spPr>
          <a:xfrm>
            <a:off x="548640" y="2240280"/>
            <a:ext cx="4206240" cy="201168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4023360" cy="256032"/>
          </a:xfrm>
          <a:prstGeom prst="rect">
            <a:avLst/>
          </a:prstGeom>
          <a:noFill/>
        </p:spPr>
        <p:txBody>
          <a:bodyPr wrap="square" anchor="t" lIns="0" rIns="0" tIns="0" bIns="0">
            <a:spAutoFit/>
          </a:bodyPr>
          <a:lstStyle/>
          <a:p>
            <a:pPr algn="l">
              <a:spcAft>
                <a:spcPts val="0"/>
              </a:spcAft>
            </a:pPr>
            <a:r>
              <a:rPr sz="1000" b="1" i="0">
                <a:solidFill>
                  <a:srgbClr val="1A222E"/>
                </a:solidFill>
                <a:latin typeface="Calibri"/>
              </a:rPr>
              <a:t>SHARED  (perception &amp; estimation)</a:t>
            </a:r>
          </a:p>
        </p:txBody>
      </p:sp>
      <p:sp>
        <p:nvSpPr>
          <p:cNvPr id="9" name="Rounded Rectangle 8"/>
          <p:cNvSpPr/>
          <p:nvPr/>
        </p:nvSpPr>
        <p:spPr>
          <a:xfrm>
            <a:off x="640080" y="2560320"/>
            <a:ext cx="548640" cy="310896"/>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06040"/>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L1</a:t>
            </a:r>
          </a:p>
        </p:txBody>
      </p:sp>
      <p:sp>
        <p:nvSpPr>
          <p:cNvPr id="11" name="TextBox 10"/>
          <p:cNvSpPr txBox="1"/>
          <p:nvPr/>
        </p:nvSpPr>
        <p:spPr>
          <a:xfrm>
            <a:off x="1234440" y="2633472"/>
            <a:ext cx="34747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Sensor bus, staleness rule, per-channel health</a:t>
            </a:r>
          </a:p>
        </p:txBody>
      </p:sp>
      <p:sp>
        <p:nvSpPr>
          <p:cNvPr id="12" name="Rounded Rectangle 11"/>
          <p:cNvSpPr/>
          <p:nvPr/>
        </p:nvSpPr>
        <p:spPr>
          <a:xfrm>
            <a:off x="640080" y="2944368"/>
            <a:ext cx="548640" cy="310896"/>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90088"/>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L2a</a:t>
            </a:r>
          </a:p>
        </p:txBody>
      </p:sp>
      <p:sp>
        <p:nvSpPr>
          <p:cNvPr id="14" name="TextBox 13"/>
          <p:cNvSpPr txBox="1"/>
          <p:nvPr/>
        </p:nvSpPr>
        <p:spPr>
          <a:xfrm>
            <a:off x="1234440" y="3017520"/>
            <a:ext cx="34747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UKF innovation (Mahalanobis distance)</a:t>
            </a:r>
          </a:p>
        </p:txBody>
      </p:sp>
      <p:sp>
        <p:nvSpPr>
          <p:cNvPr id="15" name="Rounded Rectangle 14"/>
          <p:cNvSpPr/>
          <p:nvPr/>
        </p:nvSpPr>
        <p:spPr>
          <a:xfrm>
            <a:off x="640080" y="3328416"/>
            <a:ext cx="548640" cy="310896"/>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74136"/>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L2b</a:t>
            </a:r>
          </a:p>
        </p:txBody>
      </p:sp>
      <p:sp>
        <p:nvSpPr>
          <p:cNvPr id="17" name="TextBox 16"/>
          <p:cNvSpPr txBox="1"/>
          <p:nvPr/>
        </p:nvSpPr>
        <p:spPr>
          <a:xfrm>
            <a:off x="1234440" y="3401568"/>
            <a:ext cx="34747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Fast-state estimate  ŷ, v̂, â</a:t>
            </a:r>
          </a:p>
        </p:txBody>
      </p:sp>
      <p:sp>
        <p:nvSpPr>
          <p:cNvPr id="18" name="Rounded Rectangle 17"/>
          <p:cNvSpPr/>
          <p:nvPr/>
        </p:nvSpPr>
        <p:spPr>
          <a:xfrm>
            <a:off x="640080" y="3712464"/>
            <a:ext cx="548640" cy="310896"/>
          </a:xfrm>
          <a:prstGeom prst="round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758184"/>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L3</a:t>
            </a:r>
          </a:p>
        </p:txBody>
      </p:sp>
      <p:sp>
        <p:nvSpPr>
          <p:cNvPr id="20" name="TextBox 19"/>
          <p:cNvSpPr txBox="1"/>
          <p:nvPr/>
        </p:nvSpPr>
        <p:spPr>
          <a:xfrm>
            <a:off x="1234440" y="3785616"/>
            <a:ext cx="34747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Trust index (Mondrian conformal context)</a:t>
            </a:r>
          </a:p>
        </p:txBody>
      </p:sp>
      <p:sp>
        <p:nvSpPr>
          <p:cNvPr id="21" name="Rectangle 20"/>
          <p:cNvSpPr/>
          <p:nvPr/>
        </p:nvSpPr>
        <p:spPr>
          <a:xfrm>
            <a:off x="4892040" y="2240280"/>
            <a:ext cx="1645920" cy="2011680"/>
          </a:xfrm>
          <a:prstGeom prst="rect">
            <a:avLst/>
          </a:prstGeom>
          <a:solidFill>
            <a:srgbClr val="EC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2286000"/>
            <a:ext cx="1463040" cy="256032"/>
          </a:xfrm>
          <a:prstGeom prst="rect">
            <a:avLst/>
          </a:prstGeom>
          <a:noFill/>
        </p:spPr>
        <p:txBody>
          <a:bodyPr wrap="square" anchor="t" lIns="0" rIns="0" tIns="0" bIns="0">
            <a:spAutoFit/>
          </a:bodyPr>
          <a:lstStyle/>
          <a:p>
            <a:pPr algn="l">
              <a:spcAft>
                <a:spcPts val="0"/>
              </a:spcAft>
            </a:pPr>
            <a:r>
              <a:rPr sz="1000" b="1" i="0">
                <a:solidFill>
                  <a:srgbClr val="1A222E"/>
                </a:solidFill>
                <a:latin typeface="Calibri"/>
              </a:rPr>
              <a:t>CORE-A</a:t>
            </a:r>
          </a:p>
        </p:txBody>
      </p:sp>
      <p:sp>
        <p:nvSpPr>
          <p:cNvPr id="23" name="Rounded Rectangle 22"/>
          <p:cNvSpPr/>
          <p:nvPr/>
        </p:nvSpPr>
        <p:spPr>
          <a:xfrm>
            <a:off x="4983480" y="2651760"/>
            <a:ext cx="548640" cy="310896"/>
          </a:xfrm>
          <a:prstGeom prst="round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83480" y="2697480"/>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L4</a:t>
            </a:r>
          </a:p>
        </p:txBody>
      </p:sp>
      <p:sp>
        <p:nvSpPr>
          <p:cNvPr id="25" name="TextBox 24"/>
          <p:cNvSpPr txBox="1"/>
          <p:nvPr/>
        </p:nvSpPr>
        <p:spPr>
          <a:xfrm>
            <a:off x="4983480" y="3063240"/>
            <a:ext cx="1463040" cy="1143000"/>
          </a:xfrm>
          <a:prstGeom prst="rect">
            <a:avLst/>
          </a:prstGeom>
          <a:noFill/>
        </p:spPr>
        <p:txBody>
          <a:bodyPr wrap="square" anchor="t" lIns="0" rIns="0" tIns="0" bIns="0">
            <a:spAutoFit/>
          </a:bodyPr>
          <a:lstStyle/>
          <a:p>
            <a:pPr algn="l">
              <a:spcAft>
                <a:spcPts val="0"/>
              </a:spcAft>
            </a:pPr>
            <a:r>
              <a:rPr sz="850" b="0" i="1">
                <a:solidFill>
                  <a:srgbClr val="384553"/>
                </a:solidFill>
                <a:latin typeface="Calibri"/>
              </a:rPr>
              <a:t>Learned proposer
(PPO with PID-Lagrangian CMDP)
Writes π_prop to Core-B; may not read Core-B artefacts.</a:t>
            </a:r>
          </a:p>
        </p:txBody>
      </p:sp>
      <p:sp>
        <p:nvSpPr>
          <p:cNvPr id="26" name="Rectangle 25"/>
          <p:cNvSpPr/>
          <p:nvPr/>
        </p:nvSpPr>
        <p:spPr>
          <a:xfrm>
            <a:off x="6675120" y="2240280"/>
            <a:ext cx="4937760" cy="201168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2286000"/>
            <a:ext cx="4754880" cy="256032"/>
          </a:xfrm>
          <a:prstGeom prst="rect">
            <a:avLst/>
          </a:prstGeom>
          <a:noFill/>
        </p:spPr>
        <p:txBody>
          <a:bodyPr wrap="square" anchor="t" lIns="0" rIns="0" tIns="0" bIns="0">
            <a:spAutoFit/>
          </a:bodyPr>
          <a:lstStyle/>
          <a:p>
            <a:pPr algn="l">
              <a:spcAft>
                <a:spcPts val="0"/>
              </a:spcAft>
            </a:pPr>
            <a:r>
              <a:rPr sz="1000" b="1" i="0">
                <a:solidFill>
                  <a:srgbClr val="1A222E"/>
                </a:solidFill>
                <a:latin typeface="Calibri"/>
              </a:rPr>
              <a:t>CORE-B  (safety gates, verdict on every tick)</a:t>
            </a:r>
          </a:p>
        </p:txBody>
      </p:sp>
      <p:sp>
        <p:nvSpPr>
          <p:cNvPr id="28" name="Rounded Rectangle 27"/>
          <p:cNvSpPr/>
          <p:nvPr/>
        </p:nvSpPr>
        <p:spPr>
          <a:xfrm>
            <a:off x="6766560" y="2560320"/>
            <a:ext cx="548640" cy="310896"/>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2606040"/>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L5</a:t>
            </a:r>
          </a:p>
        </p:txBody>
      </p:sp>
      <p:sp>
        <p:nvSpPr>
          <p:cNvPr id="30" name="TextBox 29"/>
          <p:cNvSpPr txBox="1"/>
          <p:nvPr/>
        </p:nvSpPr>
        <p:spPr>
          <a:xfrm>
            <a:off x="7360920" y="2633472"/>
            <a:ext cx="41605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PINN twin — physics-based command prediction</a:t>
            </a:r>
          </a:p>
        </p:txBody>
      </p:sp>
      <p:sp>
        <p:nvSpPr>
          <p:cNvPr id="31" name="Rounded Rectangle 30"/>
          <p:cNvSpPr/>
          <p:nvPr/>
        </p:nvSpPr>
        <p:spPr>
          <a:xfrm>
            <a:off x="6766560" y="2944368"/>
            <a:ext cx="548640" cy="310896"/>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2990088"/>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L6</a:t>
            </a:r>
          </a:p>
        </p:txBody>
      </p:sp>
      <p:sp>
        <p:nvSpPr>
          <p:cNvPr id="33" name="TextBox 32"/>
          <p:cNvSpPr txBox="1"/>
          <p:nvPr/>
        </p:nvSpPr>
        <p:spPr>
          <a:xfrm>
            <a:off x="7360920" y="3017520"/>
            <a:ext cx="41605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Statistical (conformal) gate — non-conformity score</a:t>
            </a:r>
          </a:p>
        </p:txBody>
      </p:sp>
      <p:sp>
        <p:nvSpPr>
          <p:cNvPr id="34" name="Rounded Rectangle 33"/>
          <p:cNvSpPr/>
          <p:nvPr/>
        </p:nvSpPr>
        <p:spPr>
          <a:xfrm>
            <a:off x="6766560" y="3328416"/>
            <a:ext cx="548640" cy="310896"/>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0" y="3374136"/>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L7</a:t>
            </a:r>
          </a:p>
        </p:txBody>
      </p:sp>
      <p:sp>
        <p:nvSpPr>
          <p:cNvPr id="36" name="TextBox 35"/>
          <p:cNvSpPr txBox="1"/>
          <p:nvPr/>
        </p:nvSpPr>
        <p:spPr>
          <a:xfrm>
            <a:off x="7360920" y="3401568"/>
            <a:ext cx="41605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Deterministic shield + physical envelope</a:t>
            </a:r>
          </a:p>
        </p:txBody>
      </p:sp>
      <p:sp>
        <p:nvSpPr>
          <p:cNvPr id="37" name="Rounded Rectangle 36"/>
          <p:cNvSpPr/>
          <p:nvPr/>
        </p:nvSpPr>
        <p:spPr>
          <a:xfrm>
            <a:off x="6766560" y="3712464"/>
            <a:ext cx="548640" cy="310896"/>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66560" y="3758184"/>
            <a:ext cx="548640" cy="219456"/>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L8</a:t>
            </a:r>
          </a:p>
        </p:txBody>
      </p:sp>
      <p:sp>
        <p:nvSpPr>
          <p:cNvPr id="39" name="TextBox 38"/>
          <p:cNvSpPr txBox="1"/>
          <p:nvPr/>
        </p:nvSpPr>
        <p:spPr>
          <a:xfrm>
            <a:off x="7360920" y="3785616"/>
            <a:ext cx="4160520" cy="256032"/>
          </a:xfrm>
          <a:prstGeom prst="rect">
            <a:avLst/>
          </a:prstGeom>
          <a:noFill/>
        </p:spPr>
        <p:txBody>
          <a:bodyPr wrap="square" anchor="t" lIns="0" rIns="0" tIns="0" bIns="0">
            <a:spAutoFit/>
          </a:bodyPr>
          <a:lstStyle/>
          <a:p>
            <a:pPr algn="l">
              <a:spcAft>
                <a:spcPts val="0"/>
              </a:spcAft>
            </a:pPr>
            <a:r>
              <a:rPr sz="950" b="0" i="0">
                <a:solidFill>
                  <a:srgbClr val="384553"/>
                </a:solidFill>
                <a:latin typeface="Calibri"/>
              </a:rPr>
              <a:t>Fail-safe FSM</a:t>
            </a:r>
          </a:p>
        </p:txBody>
      </p:sp>
      <p:sp>
        <p:nvSpPr>
          <p:cNvPr id="40" name="Rounded Rectangle 39"/>
          <p:cNvSpPr/>
          <p:nvPr/>
        </p:nvSpPr>
        <p:spPr>
          <a:xfrm>
            <a:off x="548640" y="4434840"/>
            <a:ext cx="11064240" cy="36576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498848"/>
            <a:ext cx="11064240" cy="256032"/>
          </a:xfrm>
          <a:prstGeom prst="rect">
            <a:avLst/>
          </a:prstGeom>
          <a:noFill/>
        </p:spPr>
        <p:txBody>
          <a:bodyPr wrap="square" anchor="t" lIns="0" rIns="0" tIns="0" bIns="0">
            <a:spAutoFit/>
          </a:bodyPr>
          <a:lstStyle/>
          <a:p>
            <a:pPr algn="ctr">
              <a:spcAft>
                <a:spcPts val="0"/>
              </a:spcAft>
            </a:pPr>
            <a:r>
              <a:rPr sz="1000" b="1" i="0">
                <a:solidFill>
                  <a:srgbClr val="FFFFFF"/>
                </a:solidFill>
                <a:latin typeface="Calibri"/>
              </a:rPr>
              <a:t>L9  ARBITRATION  →  actuation  (issues the safe command; records the audit-trail record)</a:t>
            </a:r>
          </a:p>
        </p:txBody>
      </p:sp>
      <p:sp>
        <p:nvSpPr>
          <p:cNvPr id="42" name="Rectangle 41"/>
          <p:cNvSpPr/>
          <p:nvPr/>
        </p:nvSpPr>
        <p:spPr>
          <a:xfrm>
            <a:off x="548640" y="4937760"/>
            <a:ext cx="11064240" cy="1097280"/>
          </a:xfrm>
          <a:prstGeom prst="rect">
            <a:avLst/>
          </a:prstGeom>
          <a:solidFill>
            <a:srgbClr val="F2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4937760"/>
            <a:ext cx="128016" cy="1097280"/>
          </a:xfrm>
          <a:prstGeom prst="rect">
            <a:avLst/>
          </a:prstGeom>
          <a:solidFill>
            <a:srgbClr val="6B2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5029200"/>
            <a:ext cx="10698480" cy="960120"/>
          </a:xfrm>
          <a:prstGeom prst="rect">
            <a:avLst/>
          </a:prstGeom>
          <a:noFill/>
        </p:spPr>
        <p:txBody>
          <a:bodyPr wrap="square" anchor="t" lIns="0" rIns="0" tIns="0" bIns="0">
            <a:spAutoFit/>
          </a:bodyPr>
          <a:lstStyle/>
          <a:p>
            <a:pPr algn="l">
              <a:spcAft>
                <a:spcPts val="400"/>
              </a:spcAft>
            </a:pPr>
            <a:r>
              <a:rPr sz="1000" b="1" i="0">
                <a:solidFill>
                  <a:srgbClr val="6B2E86"/>
                </a:solidFill>
                <a:latin typeface="Calibri"/>
              </a:rPr>
              <a:t>OBSERVABILITY PLANE  (offline; read-only taps into every layer above)</a:t>
            </a:r>
          </a:p>
          <a:p>
            <a:pPr algn="l">
              <a:spcAft>
                <a:spcPts val="300"/>
              </a:spcAft>
            </a:pPr>
            <a:r>
              <a:rPr sz="1000" b="0" i="0">
                <a:solidFill>
                  <a:srgbClr val="384553"/>
                </a:solidFill>
                <a:latin typeface="Calibri"/>
              </a:rPr>
              <a:t>Fault-evidence profiler  ·  stability analyzer (σ_between, n_eff, autocorrelation)  ·  monitorability M(f,s)  ·  fault-evidence ledger  ·  redundancy-consistency monitor</a:t>
            </a:r>
          </a:p>
          <a:p>
            <a:pPr algn="l">
              <a:spcAft>
                <a:spcPts val="0"/>
              </a:spcAft>
            </a:pPr>
            <a:r>
              <a:rPr sz="1000" b="0" i="1">
                <a:solidFill>
                  <a:srgbClr val="5F6E7C"/>
                </a:solidFill>
                <a:latin typeface="Calibri"/>
              </a:rPr>
              <a:t>The observability plane never writes to Core-A. It is a monitor for the monitors, and it is the substrate for the self-trust mechanism in ASTRA 2.0.</a:t>
            </a:r>
          </a:p>
        </p:txBody>
      </p:sp>
      <p:sp>
        <p:nvSpPr>
          <p:cNvPr id="45" name="TextBox 44"/>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Diagram based on `src/astra/` module layout; 9/9 layers domain-mapped; 3/3 Core-B gates verdict on every one of 300 ticks in a live verification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HOW A CONTROL TICK IS PROCESSED</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Workflow and methodology</a:t>
            </a:r>
          </a:p>
        </p:txBody>
      </p:sp>
      <p:sp>
        <p:nvSpPr>
          <p:cNvPr id="4" name="TextBox 3"/>
          <p:cNvSpPr txBox="1"/>
          <p:nvPr/>
        </p:nvSpPr>
        <p:spPr>
          <a:xfrm>
            <a:off x="548640" y="1234440"/>
            <a:ext cx="11064240" cy="274320"/>
          </a:xfrm>
          <a:prstGeom prst="rect">
            <a:avLst/>
          </a:prstGeom>
          <a:noFill/>
        </p:spPr>
        <p:txBody>
          <a:bodyPr wrap="square" anchor="t" lIns="0" rIns="0" tIns="0" bIns="0">
            <a:spAutoFit/>
          </a:bodyPr>
          <a:lstStyle/>
          <a:p>
            <a:pPr algn="l">
              <a:spcAft>
                <a:spcPts val="0"/>
              </a:spcAft>
            </a:pPr>
            <a:r>
              <a:rPr sz="1050" b="0" i="0">
                <a:solidFill>
                  <a:srgbClr val="5F6E7C"/>
                </a:solidFill>
                <a:latin typeface="Calibri"/>
              </a:rPr>
              <a:t>Every 50 ms (20 Hz fast rate), the following sequence executes for one control tick.</a:t>
            </a:r>
          </a:p>
        </p:txBody>
      </p:sp>
      <p:sp>
        <p:nvSpPr>
          <p:cNvPr id="5" name="Rectangle 4"/>
          <p:cNvSpPr/>
          <p:nvPr/>
        </p:nvSpPr>
        <p:spPr>
          <a:xfrm>
            <a:off x="548640" y="1691640"/>
            <a:ext cx="5486400" cy="8229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38528"/>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1</a:t>
            </a:r>
          </a:p>
        </p:txBody>
      </p:sp>
      <p:sp>
        <p:nvSpPr>
          <p:cNvPr id="8" name="TextBox 7"/>
          <p:cNvSpPr txBox="1"/>
          <p:nvPr/>
        </p:nvSpPr>
        <p:spPr>
          <a:xfrm>
            <a:off x="1097280" y="1764792"/>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Sensor acquisition</a:t>
            </a:r>
          </a:p>
          <a:p>
            <a:pPr algn="l">
              <a:spcAft>
                <a:spcPts val="0"/>
              </a:spcAft>
            </a:pPr>
            <a:r>
              <a:rPr sz="900" b="0" i="0">
                <a:solidFill>
                  <a:srgbClr val="384553"/>
                </a:solidFill>
                <a:latin typeface="Calibri"/>
              </a:rPr>
              <a:t>IMU/GPS/LIDAR/CAN publish into a shared bus. Timestamps and per-channel health are recorded. Redundant sensing draws independent noise per channel from a disjoint seed.</a:t>
            </a:r>
          </a:p>
        </p:txBody>
      </p:sp>
      <p:sp>
        <p:nvSpPr>
          <p:cNvPr id="9" name="Rectangle 8"/>
          <p:cNvSpPr/>
          <p:nvPr/>
        </p:nvSpPr>
        <p:spPr>
          <a:xfrm>
            <a:off x="6126480" y="1691640"/>
            <a:ext cx="5486400" cy="8229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691640"/>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938528"/>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2</a:t>
            </a:r>
          </a:p>
        </p:txBody>
      </p:sp>
      <p:sp>
        <p:nvSpPr>
          <p:cNvPr id="12" name="TextBox 11"/>
          <p:cNvSpPr txBox="1"/>
          <p:nvPr/>
        </p:nvSpPr>
        <p:spPr>
          <a:xfrm>
            <a:off x="6675120" y="1764792"/>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L1 fusion &amp; health check</a:t>
            </a:r>
          </a:p>
          <a:p>
            <a:pPr algn="l">
              <a:spcAft>
                <a:spcPts val="0"/>
              </a:spcAft>
            </a:pPr>
            <a:r>
              <a:rPr sz="900" b="0" i="0">
                <a:solidFill>
                  <a:srgbClr val="384553"/>
                </a:solidFill>
                <a:latin typeface="Calibri"/>
              </a:rPr>
              <a:t>Frame assembled; L1 evaluates staleness against a 50 ms budget and flags per-modality health.</a:t>
            </a:r>
          </a:p>
        </p:txBody>
      </p:sp>
      <p:sp>
        <p:nvSpPr>
          <p:cNvPr id="13" name="Rectangle 12"/>
          <p:cNvSpPr/>
          <p:nvPr/>
        </p:nvSpPr>
        <p:spPr>
          <a:xfrm>
            <a:off x="548640" y="2587752"/>
            <a:ext cx="548640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587752"/>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834640"/>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3</a:t>
            </a:r>
          </a:p>
        </p:txBody>
      </p:sp>
      <p:sp>
        <p:nvSpPr>
          <p:cNvPr id="16" name="TextBox 15"/>
          <p:cNvSpPr txBox="1"/>
          <p:nvPr/>
        </p:nvSpPr>
        <p:spPr>
          <a:xfrm>
            <a:off x="1097280" y="2660904"/>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L2 estimation (dual-rate UKF)</a:t>
            </a:r>
          </a:p>
          <a:p>
            <a:pPr algn="l">
              <a:spcAft>
                <a:spcPts val="0"/>
              </a:spcAft>
            </a:pPr>
            <a:r>
              <a:rPr sz="900" b="0" i="0">
                <a:solidFill>
                  <a:srgbClr val="384553"/>
                </a:solidFill>
                <a:latin typeface="Calibri"/>
              </a:rPr>
              <a:t>Predict + update on the fused frame. Records the innovation vector, its Mahalanobis distance, and the covariance-normalised residual.</a:t>
            </a:r>
          </a:p>
        </p:txBody>
      </p:sp>
      <p:sp>
        <p:nvSpPr>
          <p:cNvPr id="17" name="Rectangle 16"/>
          <p:cNvSpPr/>
          <p:nvPr/>
        </p:nvSpPr>
        <p:spPr>
          <a:xfrm>
            <a:off x="6126480" y="2587752"/>
            <a:ext cx="548640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2587752"/>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834640"/>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4</a:t>
            </a:r>
          </a:p>
        </p:txBody>
      </p:sp>
      <p:sp>
        <p:nvSpPr>
          <p:cNvPr id="20" name="TextBox 19"/>
          <p:cNvSpPr txBox="1"/>
          <p:nvPr/>
        </p:nvSpPr>
        <p:spPr>
          <a:xfrm>
            <a:off x="6675120" y="2660904"/>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L3 trust classification</a:t>
            </a:r>
          </a:p>
          <a:p>
            <a:pPr algn="l">
              <a:spcAft>
                <a:spcPts val="0"/>
              </a:spcAft>
            </a:pPr>
            <a:r>
              <a:rPr sz="900" b="0" i="0">
                <a:solidFill>
                  <a:srgbClr val="384553"/>
                </a:solidFill>
                <a:latin typeface="Calibri"/>
              </a:rPr>
              <a:t>Context classifier (Mondrian scheme) assigns the tick to a context class (URBAN_CLEAR, HIGHWAY_CLEAR, DEGRADED_SENSOR); trust index emitted.</a:t>
            </a:r>
          </a:p>
        </p:txBody>
      </p:sp>
      <p:sp>
        <p:nvSpPr>
          <p:cNvPr id="21" name="Rectangle 20"/>
          <p:cNvSpPr/>
          <p:nvPr/>
        </p:nvSpPr>
        <p:spPr>
          <a:xfrm>
            <a:off x="548640" y="3483864"/>
            <a:ext cx="5486400" cy="8229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483864"/>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730752"/>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5</a:t>
            </a:r>
          </a:p>
        </p:txBody>
      </p:sp>
      <p:sp>
        <p:nvSpPr>
          <p:cNvPr id="24" name="TextBox 23"/>
          <p:cNvSpPr txBox="1"/>
          <p:nvPr/>
        </p:nvSpPr>
        <p:spPr>
          <a:xfrm>
            <a:off x="1097280" y="3557016"/>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L4 (Core-A) proposes π_prop</a:t>
            </a:r>
          </a:p>
          <a:p>
            <a:pPr algn="l">
              <a:spcAft>
                <a:spcPts val="0"/>
              </a:spcAft>
            </a:pPr>
            <a:r>
              <a:rPr sz="900" b="0" i="0">
                <a:solidFill>
                  <a:srgbClr val="384553"/>
                </a:solidFill>
                <a:latin typeface="Calibri"/>
              </a:rPr>
              <a:t>Learned PPO policy consumes the fast state and trust and emits a command proposal. This is the only write from Core-A into Core-B.</a:t>
            </a:r>
          </a:p>
        </p:txBody>
      </p:sp>
      <p:sp>
        <p:nvSpPr>
          <p:cNvPr id="25" name="Rectangle 24"/>
          <p:cNvSpPr/>
          <p:nvPr/>
        </p:nvSpPr>
        <p:spPr>
          <a:xfrm>
            <a:off x="6126480" y="3483864"/>
            <a:ext cx="5486400" cy="8229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483864"/>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3730752"/>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6</a:t>
            </a:r>
          </a:p>
        </p:txBody>
      </p:sp>
      <p:sp>
        <p:nvSpPr>
          <p:cNvPr id="28" name="TextBox 27"/>
          <p:cNvSpPr txBox="1"/>
          <p:nvPr/>
        </p:nvSpPr>
        <p:spPr>
          <a:xfrm>
            <a:off x="6675120" y="3557016"/>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L5 twin prediction</a:t>
            </a:r>
          </a:p>
          <a:p>
            <a:pPr algn="l">
              <a:spcAft>
                <a:spcPts val="0"/>
              </a:spcAft>
            </a:pPr>
            <a:r>
              <a:rPr sz="900" b="0" i="0">
                <a:solidFill>
                  <a:srgbClr val="384553"/>
                </a:solidFill>
                <a:latin typeface="Calibri"/>
              </a:rPr>
              <a:t>PINN twin produces the command that modelled physics expects, conditioned on the L3 context class.</a:t>
            </a:r>
          </a:p>
        </p:txBody>
      </p:sp>
      <p:sp>
        <p:nvSpPr>
          <p:cNvPr id="29" name="Rectangle 28"/>
          <p:cNvSpPr/>
          <p:nvPr/>
        </p:nvSpPr>
        <p:spPr>
          <a:xfrm>
            <a:off x="548640" y="4379976"/>
            <a:ext cx="548640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379976"/>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626864"/>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7</a:t>
            </a:r>
          </a:p>
        </p:txBody>
      </p:sp>
      <p:sp>
        <p:nvSpPr>
          <p:cNvPr id="32" name="TextBox 31"/>
          <p:cNvSpPr txBox="1"/>
          <p:nvPr/>
        </p:nvSpPr>
        <p:spPr>
          <a:xfrm>
            <a:off x="1097280" y="4453128"/>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L6 statistical gate</a:t>
            </a:r>
          </a:p>
          <a:p>
            <a:pPr algn="l">
              <a:spcAft>
                <a:spcPts val="0"/>
              </a:spcAft>
            </a:pPr>
            <a:r>
              <a:rPr sz="900" b="0" i="0">
                <a:solidFill>
                  <a:srgbClr val="384553"/>
                </a:solidFill>
                <a:latin typeface="Calibri"/>
              </a:rPr>
              <a:t>Compute non-conformity score = ‖π_prop − π_twin‖ / √P̂_a. Compare against the calibrated conformal quantile → PASS / VETO.</a:t>
            </a:r>
          </a:p>
        </p:txBody>
      </p:sp>
      <p:sp>
        <p:nvSpPr>
          <p:cNvPr id="33" name="Rectangle 32"/>
          <p:cNvSpPr/>
          <p:nvPr/>
        </p:nvSpPr>
        <p:spPr>
          <a:xfrm>
            <a:off x="6126480" y="4379976"/>
            <a:ext cx="5486400" cy="8229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0" y="4379976"/>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0" y="4626864"/>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8</a:t>
            </a:r>
          </a:p>
        </p:txBody>
      </p:sp>
      <p:sp>
        <p:nvSpPr>
          <p:cNvPr id="36" name="TextBox 35"/>
          <p:cNvSpPr txBox="1"/>
          <p:nvPr/>
        </p:nvSpPr>
        <p:spPr>
          <a:xfrm>
            <a:off x="6675120" y="4453128"/>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L7 shield + L7b physical envelope</a:t>
            </a:r>
          </a:p>
          <a:p>
            <a:pPr algn="l">
              <a:spcAft>
                <a:spcPts val="0"/>
              </a:spcAft>
            </a:pPr>
            <a:r>
              <a:rPr sz="900" b="0" i="0">
                <a:solidFill>
                  <a:srgbClr val="384553"/>
                </a:solidFill>
                <a:latin typeface="Calibri"/>
              </a:rPr>
              <a:t>Deterministic bounds on speed, lateral acceleration, jerk. VETO if any bound is exceeded.</a:t>
            </a:r>
          </a:p>
        </p:txBody>
      </p:sp>
      <p:sp>
        <p:nvSpPr>
          <p:cNvPr id="37" name="Rectangle 36"/>
          <p:cNvSpPr/>
          <p:nvPr/>
        </p:nvSpPr>
        <p:spPr>
          <a:xfrm>
            <a:off x="548640" y="5276088"/>
            <a:ext cx="5486400" cy="8229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276088"/>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522976"/>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9</a:t>
            </a:r>
          </a:p>
        </p:txBody>
      </p:sp>
      <p:sp>
        <p:nvSpPr>
          <p:cNvPr id="40" name="TextBox 39"/>
          <p:cNvSpPr txBox="1"/>
          <p:nvPr/>
        </p:nvSpPr>
        <p:spPr>
          <a:xfrm>
            <a:off x="1097280" y="5349240"/>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L8 fail-safe FSM</a:t>
            </a:r>
          </a:p>
          <a:p>
            <a:pPr algn="l">
              <a:spcAft>
                <a:spcPts val="0"/>
              </a:spcAft>
            </a:pPr>
            <a:r>
              <a:rPr sz="900" b="0" i="0">
                <a:solidFill>
                  <a:srgbClr val="384553"/>
                </a:solidFill>
                <a:latin typeface="Calibri"/>
              </a:rPr>
              <a:t>Selects between issued command, degraded command, or halt posture based on gate verdicts and posture history.</a:t>
            </a:r>
          </a:p>
        </p:txBody>
      </p:sp>
      <p:sp>
        <p:nvSpPr>
          <p:cNvPr id="41" name="Rectangle 40"/>
          <p:cNvSpPr/>
          <p:nvPr/>
        </p:nvSpPr>
        <p:spPr>
          <a:xfrm>
            <a:off x="6126480" y="5276088"/>
            <a:ext cx="5486400" cy="8229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26480" y="5276088"/>
            <a:ext cx="457200" cy="822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80" y="5522976"/>
            <a:ext cx="45720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mbria"/>
              </a:rPr>
              <a:t>10</a:t>
            </a:r>
          </a:p>
        </p:txBody>
      </p:sp>
      <p:sp>
        <p:nvSpPr>
          <p:cNvPr id="44" name="TextBox 43"/>
          <p:cNvSpPr txBox="1"/>
          <p:nvPr/>
        </p:nvSpPr>
        <p:spPr>
          <a:xfrm>
            <a:off x="6675120" y="5349240"/>
            <a:ext cx="4892040" cy="731520"/>
          </a:xfrm>
          <a:prstGeom prst="rect">
            <a:avLst/>
          </a:prstGeom>
          <a:noFill/>
        </p:spPr>
        <p:txBody>
          <a:bodyPr wrap="square" anchor="t" lIns="0" rIns="0" tIns="0" bIns="0">
            <a:spAutoFit/>
          </a:bodyPr>
          <a:lstStyle/>
          <a:p>
            <a:pPr algn="l">
              <a:spcAft>
                <a:spcPts val="200"/>
              </a:spcAft>
            </a:pPr>
            <a:r>
              <a:rPr sz="1050" b="1" i="0">
                <a:solidFill>
                  <a:srgbClr val="1A222E"/>
                </a:solidFill>
                <a:latin typeface="Cambria"/>
              </a:rPr>
              <a:t>L9 arbitration → actuation</a:t>
            </a:r>
          </a:p>
          <a:p>
            <a:pPr algn="l">
              <a:spcAft>
                <a:spcPts val="0"/>
              </a:spcAft>
            </a:pPr>
            <a:r>
              <a:rPr sz="900" b="0" i="0">
                <a:solidFill>
                  <a:srgbClr val="384553"/>
                </a:solidFill>
                <a:latin typeface="Calibri"/>
              </a:rPr>
              <a:t>Emits the safe command to the actuator; writes the full audit-trail record (fast state, proposal, gate verdicts, posture, seed).</a:t>
            </a:r>
          </a:p>
        </p:txBody>
      </p:sp>
      <p:sp>
        <p:nvSpPr>
          <p:cNvPr id="45" name="TextBox 44"/>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Fault injection, when active, is applied at step 1/2 (sensor level) or step 5-6 (via the per-channel redundant sensing path). The rest of the pipeline is invariant.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CHOSEN FOR REPRODUCIBILITY AND CONTROL</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Technology stack</a:t>
            </a:r>
          </a:p>
        </p:txBody>
      </p:sp>
      <p:sp>
        <p:nvSpPr>
          <p:cNvPr id="4" name="Rectangle 3"/>
          <p:cNvSpPr/>
          <p:nvPr/>
        </p:nvSpPr>
        <p:spPr>
          <a:xfrm>
            <a:off x="548640" y="1325880"/>
            <a:ext cx="5486400" cy="153619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25880"/>
            <a:ext cx="5486400" cy="29260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80744"/>
            <a:ext cx="5212080" cy="219456"/>
          </a:xfrm>
          <a:prstGeom prst="rect">
            <a:avLst/>
          </a:prstGeom>
          <a:noFill/>
        </p:spPr>
        <p:txBody>
          <a:bodyPr wrap="square" anchor="t" lIns="0" rIns="0" tIns="0" bIns="0">
            <a:spAutoFit/>
          </a:bodyPr>
          <a:lstStyle/>
          <a:p>
            <a:pPr algn="l">
              <a:spcAft>
                <a:spcPts val="0"/>
              </a:spcAft>
            </a:pPr>
            <a:r>
              <a:rPr sz="1100" b="1" i="0">
                <a:solidFill>
                  <a:srgbClr val="FFFFFF"/>
                </a:solidFill>
                <a:latin typeface="Cambria"/>
              </a:rPr>
              <a:t>Language &amp; runtime</a:t>
            </a:r>
          </a:p>
        </p:txBody>
      </p:sp>
      <p:sp>
        <p:nvSpPr>
          <p:cNvPr id="7" name="TextBox 6"/>
          <p:cNvSpPr txBox="1"/>
          <p:nvPr/>
        </p:nvSpPr>
        <p:spPr>
          <a:xfrm>
            <a:off x="731520" y="1691640"/>
            <a:ext cx="5120640" cy="1143000"/>
          </a:xfrm>
          <a:prstGeom prst="rect">
            <a:avLst/>
          </a:prstGeom>
          <a:noFill/>
        </p:spPr>
        <p:txBody>
          <a:bodyPr wrap="square" anchor="t" lIns="0" rIns="0" tIns="0" bIns="0">
            <a:spAutoFit/>
          </a:bodyPr>
          <a:lstStyle/>
          <a:p/>
          <a:p>
            <a:pPr algn="l">
              <a:spcAft>
                <a:spcPts val="200"/>
              </a:spcAft>
            </a:pPr>
            <a:r>
              <a:rPr sz="1000" b="1" i="0">
                <a:solidFill>
                  <a:srgbClr val="1A222E"/>
                </a:solidFill>
                <a:latin typeface="Calibri"/>
              </a:rPr>
              <a:t>Python 3.12</a:t>
            </a:r>
          </a:p>
          <a:p>
            <a:pPr algn="l">
              <a:spcAft>
                <a:spcPts val="500"/>
              </a:spcAft>
            </a:pPr>
            <a:r>
              <a:rPr sz="900" b="0" i="1">
                <a:solidFill>
                  <a:srgbClr val="384553"/>
                </a:solidFill>
                <a:latin typeface="Calibri"/>
              </a:rPr>
              <a:t>why: single language across pipeline, training and analysis; reproducibility trumps performance at this stage</a:t>
            </a:r>
          </a:p>
          <a:p>
            <a:pPr algn="l">
              <a:spcAft>
                <a:spcPts val="200"/>
              </a:spcAft>
            </a:pPr>
            <a:r>
              <a:rPr sz="1000" b="1" i="0">
                <a:solidFill>
                  <a:srgbClr val="1A222E"/>
                </a:solidFill>
                <a:latin typeface="Calibri"/>
              </a:rPr>
              <a:t>PowerShell / Bash</a:t>
            </a:r>
          </a:p>
          <a:p>
            <a:pPr algn="l">
              <a:spcAft>
                <a:spcPts val="500"/>
              </a:spcAft>
            </a:pPr>
            <a:r>
              <a:rPr sz="900" b="0" i="1">
                <a:solidFill>
                  <a:srgbClr val="384553"/>
                </a:solidFill>
                <a:latin typeface="Calibri"/>
              </a:rPr>
              <a:t>why: orchestration; the project is CPU-only Windows 11</a:t>
            </a:r>
          </a:p>
        </p:txBody>
      </p:sp>
      <p:sp>
        <p:nvSpPr>
          <p:cNvPr id="8" name="Rectangle 7"/>
          <p:cNvSpPr/>
          <p:nvPr/>
        </p:nvSpPr>
        <p:spPr>
          <a:xfrm>
            <a:off x="6126480" y="1325880"/>
            <a:ext cx="5486400" cy="153619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1325880"/>
            <a:ext cx="5486400" cy="292608"/>
          </a:xfrm>
          <a:prstGeom prst="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80744"/>
            <a:ext cx="5212080" cy="219456"/>
          </a:xfrm>
          <a:prstGeom prst="rect">
            <a:avLst/>
          </a:prstGeom>
          <a:noFill/>
        </p:spPr>
        <p:txBody>
          <a:bodyPr wrap="square" anchor="t" lIns="0" rIns="0" tIns="0" bIns="0">
            <a:spAutoFit/>
          </a:bodyPr>
          <a:lstStyle/>
          <a:p>
            <a:pPr algn="l">
              <a:spcAft>
                <a:spcPts val="0"/>
              </a:spcAft>
            </a:pPr>
            <a:r>
              <a:rPr sz="1100" b="1" i="0">
                <a:solidFill>
                  <a:srgbClr val="FFFFFF"/>
                </a:solidFill>
                <a:latin typeface="Cambria"/>
              </a:rPr>
              <a:t>Numerical &amp; ML</a:t>
            </a:r>
          </a:p>
        </p:txBody>
      </p:sp>
      <p:sp>
        <p:nvSpPr>
          <p:cNvPr id="11" name="TextBox 10"/>
          <p:cNvSpPr txBox="1"/>
          <p:nvPr/>
        </p:nvSpPr>
        <p:spPr>
          <a:xfrm>
            <a:off x="6309360" y="1691640"/>
            <a:ext cx="5120640" cy="1143000"/>
          </a:xfrm>
          <a:prstGeom prst="rect">
            <a:avLst/>
          </a:prstGeom>
          <a:noFill/>
        </p:spPr>
        <p:txBody>
          <a:bodyPr wrap="square" anchor="t" lIns="0" rIns="0" tIns="0" bIns="0">
            <a:spAutoFit/>
          </a:bodyPr>
          <a:lstStyle/>
          <a:p/>
          <a:p>
            <a:pPr algn="l">
              <a:spcAft>
                <a:spcPts val="200"/>
              </a:spcAft>
            </a:pPr>
            <a:r>
              <a:rPr sz="1000" b="1" i="0">
                <a:solidFill>
                  <a:srgbClr val="1A222E"/>
                </a:solidFill>
                <a:latin typeface="Calibri"/>
              </a:rPr>
              <a:t>NumPy 2.5.1</a:t>
            </a:r>
          </a:p>
          <a:p>
            <a:pPr algn="l">
              <a:spcAft>
                <a:spcPts val="500"/>
              </a:spcAft>
            </a:pPr>
            <a:r>
              <a:rPr sz="900" b="0" i="1">
                <a:solidFill>
                  <a:srgbClr val="384553"/>
                </a:solidFill>
                <a:latin typeface="Calibri"/>
              </a:rPr>
              <a:t>why: primary numeric library; version pinned</a:t>
            </a:r>
          </a:p>
          <a:p>
            <a:pPr algn="l">
              <a:spcAft>
                <a:spcPts val="200"/>
              </a:spcAft>
            </a:pPr>
            <a:r>
              <a:rPr sz="1000" b="1" i="0">
                <a:solidFill>
                  <a:srgbClr val="1A222E"/>
                </a:solidFill>
                <a:latin typeface="Calibri"/>
              </a:rPr>
              <a:t>PyTorch 2.13.0</a:t>
            </a:r>
          </a:p>
          <a:p>
            <a:pPr algn="l">
              <a:spcAft>
                <a:spcPts val="500"/>
              </a:spcAft>
            </a:pPr>
            <a:r>
              <a:rPr sz="900" b="0" i="1">
                <a:solidFill>
                  <a:srgbClr val="384553"/>
                </a:solidFill>
                <a:latin typeface="Calibri"/>
              </a:rPr>
              <a:t>why: neural policy and PINN twin; CPU inference</a:t>
            </a:r>
          </a:p>
          <a:p>
            <a:pPr algn="l">
              <a:spcAft>
                <a:spcPts val="200"/>
              </a:spcAft>
            </a:pPr>
            <a:r>
              <a:rPr sz="1000" b="1" i="0">
                <a:solidFill>
                  <a:srgbClr val="1A222E"/>
                </a:solidFill>
                <a:latin typeface="Calibri"/>
              </a:rPr>
              <a:t>Stable-Baselines3 2.9.0</a:t>
            </a:r>
          </a:p>
          <a:p>
            <a:pPr algn="l">
              <a:spcAft>
                <a:spcPts val="500"/>
              </a:spcAft>
            </a:pPr>
            <a:r>
              <a:rPr sz="900" b="0" i="1">
                <a:solidFill>
                  <a:srgbClr val="384553"/>
                </a:solidFill>
                <a:latin typeface="Calibri"/>
              </a:rPr>
              <a:t>why: PPO implementation for the L4 policy</a:t>
            </a:r>
          </a:p>
          <a:p>
            <a:pPr algn="l">
              <a:spcAft>
                <a:spcPts val="200"/>
              </a:spcAft>
            </a:pPr>
            <a:r>
              <a:rPr sz="1000" b="1" i="0">
                <a:solidFill>
                  <a:srgbClr val="1A222E"/>
                </a:solidFill>
                <a:latin typeface="Calibri"/>
              </a:rPr>
              <a:t>Gymnasium</a:t>
            </a:r>
          </a:p>
          <a:p>
            <a:pPr algn="l">
              <a:spcAft>
                <a:spcPts val="500"/>
              </a:spcAft>
            </a:pPr>
            <a:r>
              <a:rPr sz="900" b="0" i="1">
                <a:solidFill>
                  <a:srgbClr val="384553"/>
                </a:solidFill>
                <a:latin typeface="Calibri"/>
              </a:rPr>
              <a:t>why: training environment; NEVER imported by src/astra runtime</a:t>
            </a:r>
          </a:p>
        </p:txBody>
      </p:sp>
      <p:sp>
        <p:nvSpPr>
          <p:cNvPr id="12" name="Rectangle 11"/>
          <p:cNvSpPr/>
          <p:nvPr/>
        </p:nvSpPr>
        <p:spPr>
          <a:xfrm>
            <a:off x="548640" y="2926080"/>
            <a:ext cx="5486400" cy="153619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926080"/>
            <a:ext cx="5486400" cy="29260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80944"/>
            <a:ext cx="5212080" cy="219456"/>
          </a:xfrm>
          <a:prstGeom prst="rect">
            <a:avLst/>
          </a:prstGeom>
          <a:noFill/>
        </p:spPr>
        <p:txBody>
          <a:bodyPr wrap="square" anchor="t" lIns="0" rIns="0" tIns="0" bIns="0">
            <a:spAutoFit/>
          </a:bodyPr>
          <a:lstStyle/>
          <a:p>
            <a:pPr algn="l">
              <a:spcAft>
                <a:spcPts val="0"/>
              </a:spcAft>
            </a:pPr>
            <a:r>
              <a:rPr sz="1100" b="1" i="0">
                <a:solidFill>
                  <a:srgbClr val="FFFFFF"/>
                </a:solidFill>
                <a:latin typeface="Cambria"/>
              </a:rPr>
              <a:t>Statistics</a:t>
            </a:r>
          </a:p>
        </p:txBody>
      </p:sp>
      <p:sp>
        <p:nvSpPr>
          <p:cNvPr id="15" name="TextBox 14"/>
          <p:cNvSpPr txBox="1"/>
          <p:nvPr/>
        </p:nvSpPr>
        <p:spPr>
          <a:xfrm>
            <a:off x="731520" y="3291840"/>
            <a:ext cx="5120640" cy="1143000"/>
          </a:xfrm>
          <a:prstGeom prst="rect">
            <a:avLst/>
          </a:prstGeom>
          <a:noFill/>
        </p:spPr>
        <p:txBody>
          <a:bodyPr wrap="square" anchor="t" lIns="0" rIns="0" tIns="0" bIns="0">
            <a:spAutoFit/>
          </a:bodyPr>
          <a:lstStyle/>
          <a:p/>
          <a:p>
            <a:pPr algn="l">
              <a:spcAft>
                <a:spcPts val="200"/>
              </a:spcAft>
            </a:pPr>
            <a:r>
              <a:rPr sz="1000" b="1" i="0">
                <a:solidFill>
                  <a:srgbClr val="1A222E"/>
                </a:solidFill>
                <a:latin typeface="Calibri"/>
              </a:rPr>
              <a:t>statistics.NormalDist + custom impl</a:t>
            </a:r>
          </a:p>
          <a:p>
            <a:pPr algn="l">
              <a:spcAft>
                <a:spcPts val="500"/>
              </a:spcAft>
            </a:pPr>
            <a:r>
              <a:rPr sz="900" b="0" i="1">
                <a:solidFill>
                  <a:srgbClr val="384553"/>
                </a:solidFill>
                <a:latin typeface="Calibri"/>
              </a:rPr>
              <a:t>why: Wilcoxon, Holm-Bonferroni, BCa bootstrap, Spearman — hand-implemented to avoid mutating the runtime lockfile with scipy</a:t>
            </a:r>
          </a:p>
        </p:txBody>
      </p:sp>
      <p:sp>
        <p:nvSpPr>
          <p:cNvPr id="16" name="Rectangle 15"/>
          <p:cNvSpPr/>
          <p:nvPr/>
        </p:nvSpPr>
        <p:spPr>
          <a:xfrm>
            <a:off x="6126480" y="2926080"/>
            <a:ext cx="5486400" cy="153619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926080"/>
            <a:ext cx="5486400" cy="292608"/>
          </a:xfrm>
          <a:prstGeom prst="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980944"/>
            <a:ext cx="5212080" cy="219456"/>
          </a:xfrm>
          <a:prstGeom prst="rect">
            <a:avLst/>
          </a:prstGeom>
          <a:noFill/>
        </p:spPr>
        <p:txBody>
          <a:bodyPr wrap="square" anchor="t" lIns="0" rIns="0" tIns="0" bIns="0">
            <a:spAutoFit/>
          </a:bodyPr>
          <a:lstStyle/>
          <a:p>
            <a:pPr algn="l">
              <a:spcAft>
                <a:spcPts val="0"/>
              </a:spcAft>
            </a:pPr>
            <a:r>
              <a:rPr sz="1100" b="1" i="0">
                <a:solidFill>
                  <a:srgbClr val="FFFFFF"/>
                </a:solidFill>
                <a:latin typeface="Cambria"/>
              </a:rPr>
              <a:t>Test &amp; CI</a:t>
            </a:r>
          </a:p>
        </p:txBody>
      </p:sp>
      <p:sp>
        <p:nvSpPr>
          <p:cNvPr id="19" name="TextBox 18"/>
          <p:cNvSpPr txBox="1"/>
          <p:nvPr/>
        </p:nvSpPr>
        <p:spPr>
          <a:xfrm>
            <a:off x="6309360" y="3291840"/>
            <a:ext cx="5120640" cy="1143000"/>
          </a:xfrm>
          <a:prstGeom prst="rect">
            <a:avLst/>
          </a:prstGeom>
          <a:noFill/>
        </p:spPr>
        <p:txBody>
          <a:bodyPr wrap="square" anchor="t" lIns="0" rIns="0" tIns="0" bIns="0">
            <a:spAutoFit/>
          </a:bodyPr>
          <a:lstStyle/>
          <a:p/>
          <a:p>
            <a:pPr algn="l">
              <a:spcAft>
                <a:spcPts val="200"/>
              </a:spcAft>
            </a:pPr>
            <a:r>
              <a:rPr sz="1000" b="1" i="0">
                <a:solidFill>
                  <a:srgbClr val="1A222E"/>
                </a:solidFill>
                <a:latin typeface="Calibri"/>
              </a:rPr>
              <a:t>pytest</a:t>
            </a:r>
          </a:p>
          <a:p>
            <a:pPr algn="l">
              <a:spcAft>
                <a:spcPts val="500"/>
              </a:spcAft>
            </a:pPr>
            <a:r>
              <a:rPr sz="900" b="0" i="1">
                <a:solidFill>
                  <a:srgbClr val="384553"/>
                </a:solidFill>
                <a:latin typeface="Calibri"/>
              </a:rPr>
              <a:t>why: unit + integration; 82 passed / 2 failing guard tests (pre-existing)</a:t>
            </a:r>
          </a:p>
          <a:p>
            <a:pPr algn="l">
              <a:spcAft>
                <a:spcPts val="200"/>
              </a:spcAft>
            </a:pPr>
            <a:r>
              <a:rPr sz="1000" b="1" i="0">
                <a:solidFill>
                  <a:srgbClr val="1A222E"/>
                </a:solidFill>
                <a:latin typeface="Calibri"/>
              </a:rPr>
              <a:t>import-linter (contracts)</a:t>
            </a:r>
          </a:p>
          <a:p>
            <a:pPr algn="l">
              <a:spcAft>
                <a:spcPts val="500"/>
              </a:spcAft>
            </a:pPr>
            <a:r>
              <a:rPr sz="900" b="0" i="1">
                <a:solidFill>
                  <a:srgbClr val="384553"/>
                </a:solidFill>
                <a:latin typeface="Calibri"/>
              </a:rPr>
              <a:t>why: enforces Core-A → Core-B one-way boundary as architectural invariant</a:t>
            </a:r>
          </a:p>
        </p:txBody>
      </p:sp>
      <p:sp>
        <p:nvSpPr>
          <p:cNvPr id="20" name="Rectangle 19"/>
          <p:cNvSpPr/>
          <p:nvPr/>
        </p:nvSpPr>
        <p:spPr>
          <a:xfrm>
            <a:off x="548640" y="4526280"/>
            <a:ext cx="5486400" cy="153619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526280"/>
            <a:ext cx="5486400" cy="29260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581144"/>
            <a:ext cx="5212080" cy="219456"/>
          </a:xfrm>
          <a:prstGeom prst="rect">
            <a:avLst/>
          </a:prstGeom>
          <a:noFill/>
        </p:spPr>
        <p:txBody>
          <a:bodyPr wrap="square" anchor="t" lIns="0" rIns="0" tIns="0" bIns="0">
            <a:spAutoFit/>
          </a:bodyPr>
          <a:lstStyle/>
          <a:p>
            <a:pPr algn="l">
              <a:spcAft>
                <a:spcPts val="0"/>
              </a:spcAft>
            </a:pPr>
            <a:r>
              <a:rPr sz="1100" b="1" i="0">
                <a:solidFill>
                  <a:srgbClr val="FFFFFF"/>
                </a:solidFill>
                <a:latin typeface="Cambria"/>
              </a:rPr>
              <a:t>Documentation &amp; artefacts</a:t>
            </a:r>
          </a:p>
        </p:txBody>
      </p:sp>
      <p:sp>
        <p:nvSpPr>
          <p:cNvPr id="23" name="TextBox 22"/>
          <p:cNvSpPr txBox="1"/>
          <p:nvPr/>
        </p:nvSpPr>
        <p:spPr>
          <a:xfrm>
            <a:off x="731520" y="4892040"/>
            <a:ext cx="5120640" cy="1143000"/>
          </a:xfrm>
          <a:prstGeom prst="rect">
            <a:avLst/>
          </a:prstGeom>
          <a:noFill/>
        </p:spPr>
        <p:txBody>
          <a:bodyPr wrap="square" anchor="t" lIns="0" rIns="0" tIns="0" bIns="0">
            <a:spAutoFit/>
          </a:bodyPr>
          <a:lstStyle/>
          <a:p/>
          <a:p>
            <a:pPr algn="l">
              <a:spcAft>
                <a:spcPts val="200"/>
              </a:spcAft>
            </a:pPr>
            <a:r>
              <a:rPr sz="1000" b="1" i="0">
                <a:solidFill>
                  <a:srgbClr val="1A222E"/>
                </a:solidFill>
                <a:latin typeface="Calibri"/>
              </a:rPr>
              <a:t>python-pptx (isolated venv)</a:t>
            </a:r>
          </a:p>
          <a:p>
            <a:pPr algn="l">
              <a:spcAft>
                <a:spcPts val="500"/>
              </a:spcAft>
            </a:pPr>
            <a:r>
              <a:rPr sz="900" b="0" i="1">
                <a:solidFill>
                  <a:srgbClr val="384553"/>
                </a:solidFill>
                <a:latin typeface="Calibri"/>
              </a:rPr>
              <a:t>why: presentation generation without touching the measurement lockfile</a:t>
            </a:r>
          </a:p>
          <a:p>
            <a:pPr algn="l">
              <a:spcAft>
                <a:spcPts val="200"/>
              </a:spcAft>
            </a:pPr>
            <a:r>
              <a:rPr sz="1000" b="1" i="0">
                <a:solidFill>
                  <a:srgbClr val="1A222E"/>
                </a:solidFill>
                <a:latin typeface="Calibri"/>
              </a:rPr>
              <a:t>Markdown</a:t>
            </a:r>
          </a:p>
          <a:p>
            <a:pPr algn="l">
              <a:spcAft>
                <a:spcPts val="500"/>
              </a:spcAft>
            </a:pPr>
            <a:r>
              <a:rPr sz="900" b="0" i="1">
                <a:solidFill>
                  <a:srgbClr val="384553"/>
                </a:solidFill>
                <a:latin typeface="Calibri"/>
              </a:rPr>
              <a:t>why: every experiment carries protocol, integrity checks, decision log</a:t>
            </a:r>
          </a:p>
        </p:txBody>
      </p:sp>
      <p:sp>
        <p:nvSpPr>
          <p:cNvPr id="24" name="Rectangle 23"/>
          <p:cNvSpPr/>
          <p:nvPr/>
        </p:nvSpPr>
        <p:spPr>
          <a:xfrm>
            <a:off x="6126480" y="4526280"/>
            <a:ext cx="5486400" cy="153619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4526280"/>
            <a:ext cx="5486400" cy="292608"/>
          </a:xfrm>
          <a:prstGeom prst="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4581144"/>
            <a:ext cx="5212080" cy="219456"/>
          </a:xfrm>
          <a:prstGeom prst="rect">
            <a:avLst/>
          </a:prstGeom>
          <a:noFill/>
        </p:spPr>
        <p:txBody>
          <a:bodyPr wrap="square" anchor="t" lIns="0" rIns="0" tIns="0" bIns="0">
            <a:spAutoFit/>
          </a:bodyPr>
          <a:lstStyle/>
          <a:p>
            <a:pPr algn="l">
              <a:spcAft>
                <a:spcPts val="0"/>
              </a:spcAft>
            </a:pPr>
            <a:r>
              <a:rPr sz="1100" b="1" i="0">
                <a:solidFill>
                  <a:srgbClr val="FFFFFF"/>
                </a:solidFill>
                <a:latin typeface="Cambria"/>
              </a:rPr>
              <a:t>Version control</a:t>
            </a:r>
          </a:p>
        </p:txBody>
      </p:sp>
      <p:sp>
        <p:nvSpPr>
          <p:cNvPr id="27" name="TextBox 26"/>
          <p:cNvSpPr txBox="1"/>
          <p:nvPr/>
        </p:nvSpPr>
        <p:spPr>
          <a:xfrm>
            <a:off x="6309360" y="4892040"/>
            <a:ext cx="5120640" cy="1143000"/>
          </a:xfrm>
          <a:prstGeom prst="rect">
            <a:avLst/>
          </a:prstGeom>
          <a:noFill/>
        </p:spPr>
        <p:txBody>
          <a:bodyPr wrap="square" anchor="t" lIns="0" rIns="0" tIns="0" bIns="0">
            <a:spAutoFit/>
          </a:bodyPr>
          <a:lstStyle/>
          <a:p/>
          <a:p>
            <a:pPr algn="l">
              <a:spcAft>
                <a:spcPts val="200"/>
              </a:spcAft>
            </a:pPr>
            <a:r>
              <a:rPr sz="1000" b="1" i="0">
                <a:solidFill>
                  <a:srgbClr val="1A222E"/>
                </a:solidFill>
                <a:latin typeface="Calibri"/>
              </a:rPr>
              <a:t>git</a:t>
            </a:r>
          </a:p>
          <a:p>
            <a:pPr algn="l">
              <a:spcAft>
                <a:spcPts val="500"/>
              </a:spcAft>
            </a:pPr>
            <a:r>
              <a:rPr sz="900" b="0" i="1">
                <a:solidFill>
                  <a:srgbClr val="384553"/>
                </a:solidFill>
                <a:latin typeface="Calibri"/>
              </a:rPr>
              <a:t>why: branch `3.0`, six commits recording E17/E18/R1/R2/R3/R3b/R3c</a:t>
            </a:r>
          </a:p>
        </p:txBody>
      </p:sp>
      <p:sp>
        <p:nvSpPr>
          <p:cNvPr id="28" name="TextBox 27"/>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Lockfile discipline is deliberate: adding scipy/matplotlib to the measurement venv would put every prior latency and gate measurement in question.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THE THREE THAT CARRY THE PAPER</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Core algorithms and technical approach</a:t>
            </a:r>
          </a:p>
        </p:txBody>
      </p:sp>
      <p:sp>
        <p:nvSpPr>
          <p:cNvPr id="4" name="Rectangle 3"/>
          <p:cNvSpPr/>
          <p:nvPr/>
        </p:nvSpPr>
        <p:spPr>
          <a:xfrm>
            <a:off x="548640" y="1280160"/>
            <a:ext cx="7680960" cy="1600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128016" cy="1600200"/>
          </a:xfrm>
          <a:prstGeom prst="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7223760" cy="1463040"/>
          </a:xfrm>
          <a:prstGeom prst="rect">
            <a:avLst/>
          </a:prstGeom>
          <a:noFill/>
        </p:spPr>
        <p:txBody>
          <a:bodyPr wrap="square" anchor="t" lIns="0" rIns="0" tIns="0" bIns="0">
            <a:spAutoFit/>
          </a:bodyPr>
          <a:lstStyle/>
          <a:p>
            <a:pPr algn="l">
              <a:spcAft>
                <a:spcPts val="400"/>
              </a:spcAft>
            </a:pPr>
            <a:r>
              <a:rPr sz="1250" b="1" i="0">
                <a:solidFill>
                  <a:srgbClr val="1A222E"/>
                </a:solidFill>
                <a:latin typeface="Cambria"/>
              </a:rPr>
              <a:t>L2  UKF innovation</a:t>
            </a:r>
          </a:p>
          <a:p>
            <a:pPr algn="l">
              <a:spcAft>
                <a:spcPts val="200"/>
              </a:spcAft>
            </a:pPr>
            <a:r>
              <a:rPr sz="950" b="0" i="0">
                <a:solidFill>
                  <a:srgbClr val="384553"/>
                </a:solidFill>
                <a:latin typeface="Calibri"/>
              </a:rPr>
              <a:t>What it does  ·  Unscented Kalman filter on the fast state; emits the innovation vector and its Mahalanobis distance under the innovation covariance.</a:t>
            </a:r>
          </a:p>
          <a:p>
            <a:pPr algn="l">
              <a:spcAft>
                <a:spcPts val="200"/>
              </a:spcAft>
            </a:pPr>
            <a:r>
              <a:rPr sz="950" b="0" i="0">
                <a:solidFill>
                  <a:srgbClr val="384553"/>
                </a:solidFill>
                <a:latin typeface="Calibri"/>
              </a:rPr>
              <a:t>Why chosen  ·  Standard, well-understood non-linear estimator; innovation is the natural residual for FDI at the estimation stage.</a:t>
            </a:r>
          </a:p>
          <a:p>
            <a:pPr algn="l">
              <a:spcAft>
                <a:spcPts val="200"/>
              </a:spcAft>
            </a:pPr>
            <a:r>
              <a:rPr sz="950" b="0" i="0">
                <a:solidFill>
                  <a:srgbClr val="384553"/>
                </a:solidFill>
                <a:latin typeface="Calibri"/>
              </a:rPr>
              <a:t>Inputs / outputs  ·  Fused sensor frame → posterior mean/covariance and residual statistics.</a:t>
            </a:r>
          </a:p>
          <a:p>
            <a:pPr algn="l">
              <a:spcAft>
                <a:spcPts val="200"/>
              </a:spcAft>
            </a:pPr>
            <a:r>
              <a:rPr sz="950" b="0" i="0">
                <a:solidFill>
                  <a:srgbClr val="384553"/>
                </a:solidFill>
                <a:latin typeface="Calibri"/>
              </a:rPr>
              <a:t>Notes  ·  The innovation is the substrate for the L3 trust index and, in this study, for the D_L2a stage-wise discriminability.</a:t>
            </a:r>
          </a:p>
        </p:txBody>
      </p:sp>
      <p:sp>
        <p:nvSpPr>
          <p:cNvPr id="7" name="Rectangle 6"/>
          <p:cNvSpPr/>
          <p:nvPr/>
        </p:nvSpPr>
        <p:spPr>
          <a:xfrm>
            <a:off x="548640" y="2953512"/>
            <a:ext cx="7680960" cy="1600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953512"/>
            <a:ext cx="128016" cy="1600200"/>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44952"/>
            <a:ext cx="7223760" cy="1463040"/>
          </a:xfrm>
          <a:prstGeom prst="rect">
            <a:avLst/>
          </a:prstGeom>
          <a:noFill/>
        </p:spPr>
        <p:txBody>
          <a:bodyPr wrap="square" anchor="t" lIns="0" rIns="0" tIns="0" bIns="0">
            <a:spAutoFit/>
          </a:bodyPr>
          <a:lstStyle/>
          <a:p>
            <a:pPr algn="l">
              <a:spcAft>
                <a:spcPts val="400"/>
              </a:spcAft>
            </a:pPr>
            <a:r>
              <a:rPr sz="1250" b="1" i="0">
                <a:solidFill>
                  <a:srgbClr val="1A222E"/>
                </a:solidFill>
                <a:latin typeface="Cambria"/>
              </a:rPr>
              <a:t>L4  PPO with PID-Lagrangian CMDP</a:t>
            </a:r>
          </a:p>
          <a:p>
            <a:pPr algn="l">
              <a:spcAft>
                <a:spcPts val="200"/>
              </a:spcAft>
            </a:pPr>
            <a:r>
              <a:rPr sz="950" b="0" i="0">
                <a:solidFill>
                  <a:srgbClr val="384553"/>
                </a:solidFill>
                <a:latin typeface="Calibri"/>
              </a:rPr>
              <a:t>What it does  ·  Learns a lateral-control policy under three constraint costs (comfort, envelope, actuator).</a:t>
            </a:r>
          </a:p>
          <a:p>
            <a:pPr algn="l">
              <a:spcAft>
                <a:spcPts val="200"/>
              </a:spcAft>
            </a:pPr>
            <a:r>
              <a:rPr sz="950" b="0" i="0">
                <a:solidFill>
                  <a:srgbClr val="384553"/>
                </a:solidFill>
                <a:latin typeface="Calibri"/>
              </a:rPr>
              <a:t>Why chosen  ·  PID-Lagrangian is the standard treatment for constrained MDPs; PPO is sample-efficient and well-supported.</a:t>
            </a:r>
          </a:p>
          <a:p>
            <a:pPr algn="l">
              <a:spcAft>
                <a:spcPts val="200"/>
              </a:spcAft>
            </a:pPr>
            <a:r>
              <a:rPr sz="950" b="0" i="0">
                <a:solidFill>
                  <a:srgbClr val="384553"/>
                </a:solidFill>
                <a:latin typeface="Calibri"/>
              </a:rPr>
              <a:t>Training  ·  Offline, on the synthetic driving environment (kinematic bicycle). Multipliers held fixed within a batch, updated between batches.</a:t>
            </a:r>
          </a:p>
          <a:p>
            <a:pPr algn="l">
              <a:spcAft>
                <a:spcPts val="200"/>
              </a:spcAft>
            </a:pPr>
            <a:r>
              <a:rPr sz="950" b="0" i="0">
                <a:solidFill>
                  <a:srgbClr val="384553"/>
                </a:solidFill>
                <a:latin typeface="Calibri"/>
              </a:rPr>
              <a:t>Notes  ·  This is Core-A. Its output is the untrusted proposal π_prop. It is NEVER trained on real vehicle data in the current work.</a:t>
            </a:r>
          </a:p>
        </p:txBody>
      </p:sp>
      <p:sp>
        <p:nvSpPr>
          <p:cNvPr id="10" name="Rectangle 9"/>
          <p:cNvSpPr/>
          <p:nvPr/>
        </p:nvSpPr>
        <p:spPr>
          <a:xfrm>
            <a:off x="548640" y="4626864"/>
            <a:ext cx="7680960" cy="1600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626864"/>
            <a:ext cx="128016" cy="16002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718304"/>
            <a:ext cx="7223760" cy="1463040"/>
          </a:xfrm>
          <a:prstGeom prst="rect">
            <a:avLst/>
          </a:prstGeom>
          <a:noFill/>
        </p:spPr>
        <p:txBody>
          <a:bodyPr wrap="square" anchor="t" lIns="0" rIns="0" tIns="0" bIns="0">
            <a:spAutoFit/>
          </a:bodyPr>
          <a:lstStyle/>
          <a:p>
            <a:pPr algn="l">
              <a:spcAft>
                <a:spcPts val="400"/>
              </a:spcAft>
            </a:pPr>
            <a:r>
              <a:rPr sz="1250" b="1" i="0">
                <a:solidFill>
                  <a:srgbClr val="1A222E"/>
                </a:solidFill>
                <a:latin typeface="Cambria"/>
              </a:rPr>
              <a:t>L6  Inductive Conformal Prediction</a:t>
            </a:r>
          </a:p>
          <a:p>
            <a:pPr algn="l">
              <a:spcAft>
                <a:spcPts val="200"/>
              </a:spcAft>
            </a:pPr>
            <a:r>
              <a:rPr sz="950" b="0" i="0">
                <a:solidFill>
                  <a:srgbClr val="384553"/>
                </a:solidFill>
                <a:latin typeface="Calibri"/>
              </a:rPr>
              <a:t>What it does  ·  Non-parametric anomaly gate: computes non-conformity score s = ‖π_prop − π_twin‖ / √P̂_a and thresholds against a calibration corpus quantile.</a:t>
            </a:r>
          </a:p>
          <a:p>
            <a:pPr algn="l">
              <a:spcAft>
                <a:spcPts val="200"/>
              </a:spcAft>
            </a:pPr>
            <a:r>
              <a:rPr sz="950" b="0" i="0">
                <a:solidFill>
                  <a:srgbClr val="384553"/>
                </a:solidFill>
                <a:latin typeface="Calibri"/>
              </a:rPr>
              <a:t>Why chosen  ·  Distribution-free guarantee of false-alarm rate under exchangeability; no parametric assumption on the residual distribution.</a:t>
            </a:r>
          </a:p>
          <a:p>
            <a:pPr algn="l">
              <a:spcAft>
                <a:spcPts val="200"/>
              </a:spcAft>
            </a:pPr>
            <a:r>
              <a:rPr sz="950" b="0" i="0">
                <a:solidFill>
                  <a:srgbClr val="384553"/>
                </a:solidFill>
                <a:latin typeface="Calibri"/>
              </a:rPr>
              <a:t>Inputs / outputs  ·  Proposal and twin prediction → score → PASS / VETO verdict.</a:t>
            </a:r>
          </a:p>
          <a:p>
            <a:pPr algn="l">
              <a:spcAft>
                <a:spcPts val="200"/>
              </a:spcAft>
            </a:pPr>
            <a:r>
              <a:rPr sz="950" b="0" i="0">
                <a:solidFill>
                  <a:srgbClr val="384553"/>
                </a:solidFill>
                <a:latin typeface="Calibri"/>
              </a:rPr>
              <a:t>Notes  ·  Whether exchangeability actually holds is the whole subject of Phase 5 (E18 series). It didn't with the legacy corpus; policy-conditional recalibration restored it.</a:t>
            </a:r>
          </a:p>
        </p:txBody>
      </p:sp>
      <p:sp>
        <p:nvSpPr>
          <p:cNvPr id="13" name="Rectangle 12"/>
          <p:cNvSpPr/>
          <p:nvPr/>
        </p:nvSpPr>
        <p:spPr>
          <a:xfrm>
            <a:off x="8366760" y="1280160"/>
            <a:ext cx="3246120" cy="4937760"/>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371600"/>
            <a:ext cx="3063240" cy="4754880"/>
          </a:xfrm>
          <a:prstGeom prst="rect">
            <a:avLst/>
          </a:prstGeom>
          <a:noFill/>
        </p:spPr>
        <p:txBody>
          <a:bodyPr wrap="square" anchor="t" lIns="0" rIns="0" tIns="0" bIns="0">
            <a:spAutoFit/>
          </a:bodyPr>
          <a:lstStyle/>
          <a:p>
            <a:pPr algn="l">
              <a:spcAft>
                <a:spcPts val="800"/>
              </a:spcAft>
            </a:pPr>
            <a:r>
              <a:rPr sz="1000" b="1" i="0">
                <a:solidFill>
                  <a:srgbClr val="028090"/>
                </a:solidFill>
                <a:latin typeface="Calibri"/>
              </a:rPr>
              <a:t>PRIMARY EVALUATION METRICS</a:t>
            </a:r>
          </a:p>
          <a:p>
            <a:pPr algn="l">
              <a:spcAft>
                <a:spcPts val="200"/>
              </a:spcAft>
            </a:pPr>
            <a:r>
              <a:rPr sz="1050" b="1" i="0">
                <a:solidFill>
                  <a:srgbClr val="1A222E"/>
                </a:solidFill>
                <a:latin typeface="Calibri"/>
              </a:rPr>
              <a:t>D_s(f) — stage discriminability</a:t>
            </a:r>
          </a:p>
          <a:p>
            <a:pPr algn="l">
              <a:spcAft>
                <a:spcPts val="800"/>
              </a:spcAft>
            </a:pPr>
            <a:r>
              <a:rPr sz="900" b="0" i="1">
                <a:solidFill>
                  <a:srgbClr val="384553"/>
                </a:solidFill>
                <a:latin typeface="Calibri"/>
              </a:rPr>
              <a:t>AUC( T_s | faulted , T_s | matched-clean ), folded to [0.5, 1.0]. 0.5 = chance separability, 1.0 = perfect. Ticks pooled within a run.</a:t>
            </a:r>
          </a:p>
          <a:p>
            <a:pPr algn="l">
              <a:spcAft>
                <a:spcPts val="200"/>
              </a:spcAft>
            </a:pPr>
            <a:r>
              <a:rPr sz="1050" b="1" i="0">
                <a:solidFill>
                  <a:srgbClr val="1A222E"/>
                </a:solidFill>
                <a:latin typeface="Calibri"/>
              </a:rPr>
              <a:t>Run-level false-alarm rate</a:t>
            </a:r>
          </a:p>
          <a:p>
            <a:pPr algn="l">
              <a:spcAft>
                <a:spcPts val="800"/>
              </a:spcAft>
            </a:pPr>
            <a:r>
              <a:rPr sz="900" b="0" i="1">
                <a:solidFill>
                  <a:srgbClr val="384553"/>
                </a:solidFill>
                <a:latin typeface="Calibri"/>
              </a:rPr>
              <a:t>|{t : score_t &gt; q}| / |E_r| computed per run; unit of analysis is the run, never the tick.</a:t>
            </a:r>
          </a:p>
          <a:p>
            <a:pPr algn="l">
              <a:spcAft>
                <a:spcPts val="200"/>
              </a:spcAft>
            </a:pPr>
            <a:r>
              <a:rPr sz="1050" b="1" i="0">
                <a:solidFill>
                  <a:srgbClr val="1A222E"/>
                </a:solidFill>
                <a:latin typeface="Calibri"/>
              </a:rPr>
              <a:t>Per-run FAR band [ε/2, 2ε]</a:t>
            </a:r>
          </a:p>
          <a:p>
            <a:pPr algn="l">
              <a:spcAft>
                <a:spcPts val="800"/>
              </a:spcAft>
            </a:pPr>
            <a:r>
              <a:rPr sz="900" b="0" i="1">
                <a:solidFill>
                  <a:srgbClr val="384553"/>
                </a:solidFill>
                <a:latin typeface="Calibri"/>
              </a:rPr>
              <a:t>At ε=0.05, band = [2.5%, 10%]. A calibration is 'valid' only if the majority of held-out clean runs fall inside this band.</a:t>
            </a:r>
          </a:p>
          <a:p>
            <a:pPr algn="l">
              <a:spcAft>
                <a:spcPts val="200"/>
              </a:spcAft>
            </a:pPr>
            <a:r>
              <a:rPr sz="1050" b="1" i="0">
                <a:solidFill>
                  <a:srgbClr val="1A222E"/>
                </a:solidFill>
                <a:latin typeface="Calibri"/>
              </a:rPr>
              <a:t>Phase-resolved detection</a:t>
            </a:r>
          </a:p>
          <a:p>
            <a:pPr algn="l">
              <a:spcAft>
                <a:spcPts val="0"/>
              </a:spcAft>
            </a:pPr>
            <a:r>
              <a:rPr sz="900" b="0" i="1">
                <a:solidFill>
                  <a:srgbClr val="384553"/>
                </a:solidFill>
                <a:latin typeface="Calibri"/>
              </a:rPr>
              <a:t>During-fault and post-fault alarm rates reported separately. Aggregate rates would have hidden the R3b/R3c finding.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MODULES AND INTEGRATION</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Implementation</a:t>
            </a:r>
          </a:p>
        </p:txBody>
      </p:sp>
      <p:sp>
        <p:nvSpPr>
          <p:cNvPr id="4" name="TextBox 3"/>
          <p:cNvSpPr txBox="1"/>
          <p:nvPr/>
        </p:nvSpPr>
        <p:spPr>
          <a:xfrm>
            <a:off x="548640" y="1280160"/>
            <a:ext cx="5486400" cy="502920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Repository structure (implemented)</a:t>
            </a:r>
          </a:p>
          <a:p>
            <a:pPr algn="l">
              <a:spcAft>
                <a:spcPts val="300"/>
              </a:spcAft>
            </a:pPr>
            <a:r>
              <a:rPr sz="1000" b="0" i="0">
                <a:solidFill>
                  <a:srgbClr val="384553"/>
                </a:solidFill>
                <a:latin typeface="Calibri"/>
              </a:rPr>
              <a:t>•  src/astra/  — nine-layer runtime governance stack (production code, no training deps)</a:t>
            </a:r>
          </a:p>
          <a:p>
            <a:pPr algn="l">
              <a:spcAft>
                <a:spcPts val="300"/>
              </a:spcAft>
            </a:pPr>
            <a:r>
              <a:rPr sz="1000" b="0" i="0">
                <a:solidFill>
                  <a:srgbClr val="384553"/>
                </a:solidFill>
                <a:latin typeface="Calibri"/>
              </a:rPr>
              <a:t>•  training/  — offline training for L4 policy and L5 twin; calibration harvest for L6</a:t>
            </a:r>
          </a:p>
          <a:p>
            <a:pPr algn="l">
              <a:spcAft>
                <a:spcPts val="300"/>
              </a:spcAft>
            </a:pPr>
            <a:r>
              <a:rPr sz="1000" b="0" i="0">
                <a:solidFill>
                  <a:srgbClr val="384553"/>
                </a:solidFill>
                <a:latin typeface="Calibri"/>
              </a:rPr>
              <a:t>•  benchmarks/  — experiment drivers (E17, E18, R1, R2, R3, R3b, R3c) and analysis</a:t>
            </a:r>
          </a:p>
          <a:p>
            <a:pPr algn="l">
              <a:spcAft>
                <a:spcPts val="300"/>
              </a:spcAft>
            </a:pPr>
            <a:r>
              <a:rPr sz="1000" b="0" i="0">
                <a:solidFill>
                  <a:srgbClr val="384553"/>
                </a:solidFill>
                <a:latin typeface="Calibri"/>
              </a:rPr>
              <a:t>•  tests/  — unit + integration + guard tests, contract enforcement</a:t>
            </a:r>
          </a:p>
          <a:p>
            <a:pPr algn="l">
              <a:spcAft>
                <a:spcPts val="300"/>
              </a:spcAft>
            </a:pPr>
            <a:r>
              <a:rPr sz="1000" b="0" i="0">
                <a:solidFill>
                  <a:srgbClr val="384553"/>
                </a:solidFill>
                <a:latin typeface="Calibri"/>
              </a:rPr>
              <a:t>•  research/  — experiment history, audits, invalidation records, claim ledger</a:t>
            </a:r>
          </a:p>
          <a:p>
            <a:pPr algn="l">
              <a:spcAft>
                <a:spcPts val="300"/>
              </a:spcAft>
            </a:pPr>
            <a:r>
              <a:rPr sz="1000" b="0" i="0">
                <a:solidFill>
                  <a:srgbClr val="384553"/>
                </a:solidFill>
                <a:latin typeface="Calibri"/>
              </a:rPr>
              <a:t>•  experiments/phase5_od8_h7/  — pre-registrations, frozen thresholds, decision logs</a:t>
            </a:r>
          </a:p>
          <a:p>
            <a:pPr algn="l">
              <a:spcAft>
                <a:spcPts val="300"/>
              </a:spcAft>
            </a:pPr>
            <a:r>
              <a:rPr sz="1000" b="0" i="0">
                <a:solidFill>
                  <a:srgbClr val="384553"/>
                </a:solidFill>
                <a:latin typeface="Calibri"/>
              </a:rPr>
              <a:t>•  results/  and  var/policy/, var/twin/, var/calibration/  — artefacts, checkpoints</a:t>
            </a:r>
          </a:p>
          <a:p>
            <a:pPr algn="l">
              <a:spcAft>
                <a:spcPts val="400"/>
              </a:spcAft>
            </a:pPr>
            <a:r>
              <a:rPr sz="1200" b="1" i="0">
                <a:solidFill>
                  <a:srgbClr val="015F6B"/>
                </a:solidFill>
                <a:latin typeface="Cambria"/>
              </a:rPr>
              <a:t>Key implementation decisions</a:t>
            </a:r>
          </a:p>
          <a:p>
            <a:pPr algn="l">
              <a:spcAft>
                <a:spcPts val="300"/>
              </a:spcAft>
            </a:pPr>
            <a:r>
              <a:rPr sz="1000" b="0" i="0">
                <a:solidFill>
                  <a:srgbClr val="384553"/>
                </a:solidFill>
                <a:latin typeface="Calibri"/>
              </a:rPr>
              <a:t>•  Runtime and training are import-separated: nothing in src/astra imports Gymnasium/SB3.</a:t>
            </a:r>
          </a:p>
          <a:p>
            <a:pPr algn="l">
              <a:spcAft>
                <a:spcPts val="300"/>
              </a:spcAft>
            </a:pPr>
            <a:r>
              <a:rPr sz="1000" b="0" i="0">
                <a:solidFill>
                  <a:srgbClr val="384553"/>
                </a:solidFill>
                <a:latin typeface="Calibri"/>
              </a:rPr>
              <a:t>•  Every experiment is pre-registered before running; the criterion is frozen on disk.</a:t>
            </a:r>
          </a:p>
          <a:p>
            <a:pPr algn="l">
              <a:spcAft>
                <a:spcPts val="300"/>
              </a:spcAft>
            </a:pPr>
            <a:r>
              <a:rPr sz="1000" b="0" i="0">
                <a:solidFill>
                  <a:srgbClr val="384553"/>
                </a:solidFill>
                <a:latin typeface="Calibri"/>
              </a:rPr>
              <a:t>•  Delivered-signal integrity check is a workflow requirement, not a coding convention — results without it are marked invalid.</a:t>
            </a:r>
          </a:p>
          <a:p>
            <a:pPr algn="l">
              <a:spcAft>
                <a:spcPts val="300"/>
              </a:spcAft>
            </a:pPr>
            <a:r>
              <a:rPr sz="1000" b="0" i="0">
                <a:solidFill>
                  <a:srgbClr val="384553"/>
                </a:solidFill>
                <a:latin typeface="Calibri"/>
              </a:rPr>
              <a:t>•  Invalidated results are retained with a WITHDRAWN flag; nothing is silently deleted.</a:t>
            </a:r>
          </a:p>
          <a:p>
            <a:pPr algn="l">
              <a:spcAft>
                <a:spcPts val="300"/>
              </a:spcAft>
            </a:pPr>
            <a:r>
              <a:rPr sz="1000" b="0" i="0">
                <a:solidFill>
                  <a:srgbClr val="384553"/>
                </a:solidFill>
                <a:latin typeface="Calibri"/>
              </a:rPr>
              <a:t>•  Statistical library is hand-implemented in numpy + stdlib to avoid mutating the measurement lockfile.</a:t>
            </a:r>
          </a:p>
        </p:txBody>
      </p:sp>
      <p:sp>
        <p:nvSpPr>
          <p:cNvPr id="5" name="Rectangle 4"/>
          <p:cNvSpPr/>
          <p:nvPr/>
        </p:nvSpPr>
        <p:spPr>
          <a:xfrm>
            <a:off x="6217920" y="1280160"/>
            <a:ext cx="5394960" cy="5029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17320"/>
            <a:ext cx="5120640" cy="4754880"/>
          </a:xfrm>
          <a:prstGeom prst="rect">
            <a:avLst/>
          </a:prstGeom>
          <a:noFill/>
        </p:spPr>
        <p:txBody>
          <a:bodyPr wrap="square" anchor="t" lIns="0" rIns="0" tIns="0" bIns="0">
            <a:spAutoFit/>
          </a:bodyPr>
          <a:lstStyle/>
          <a:p>
            <a:pPr algn="l">
              <a:spcAft>
                <a:spcPts val="600"/>
              </a:spcAft>
            </a:pPr>
            <a:r>
              <a:rPr sz="1000" b="1" i="0">
                <a:solidFill>
                  <a:srgbClr val="028090"/>
                </a:solidFill>
                <a:latin typeface="Calibri"/>
              </a:rPr>
              <a:t>MODULE INTERACTION (SIMPLIFIED)</a:t>
            </a:r>
          </a:p>
          <a:p>
            <a:pPr algn="l">
              <a:spcAft>
                <a:spcPts val="200"/>
              </a:spcAft>
            </a:pPr>
            <a:r>
              <a:rPr sz="1000" b="1" i="0">
                <a:solidFill>
                  <a:srgbClr val="1A222E"/>
                </a:solidFill>
                <a:latin typeface="Consolas"/>
              </a:rPr>
              <a:t>training.closed_loop.drive_closed_loop( )</a:t>
            </a:r>
          </a:p>
          <a:p>
            <a:pPr algn="l">
              <a:spcAft>
                <a:spcPts val="800"/>
              </a:spcAft>
            </a:pPr>
            <a:r>
              <a:rPr sz="900" b="0" i="1">
                <a:solidFill>
                  <a:srgbClr val="384553"/>
                </a:solidFill>
                <a:latin typeface="Calibri"/>
              </a:rPr>
              <a:t>→ constructs the pipeline, drives it for N ticks, calls an observer per tick, returns aggregate results</a:t>
            </a:r>
          </a:p>
          <a:p>
            <a:pPr algn="l">
              <a:spcAft>
                <a:spcPts val="200"/>
              </a:spcAft>
            </a:pPr>
            <a:r>
              <a:rPr sz="1000" b="1" i="0">
                <a:solidFill>
                  <a:srgbClr val="1A222E"/>
                </a:solidFill>
                <a:latin typeface="Consolas"/>
              </a:rPr>
              <a:t>benchmarks.e18r3b_detect  (example)</a:t>
            </a:r>
          </a:p>
          <a:p>
            <a:pPr algn="l">
              <a:spcAft>
                <a:spcPts val="1000"/>
              </a:spcAft>
            </a:pPr>
            <a:r>
              <a:rPr sz="900" b="0" i="0">
                <a:solidFill>
                  <a:srgbClr val="384553"/>
                </a:solidFill>
                <a:latin typeface="Calibri"/>
              </a:rPr>
              <a:t>1. Load frozen threshold (v3, hard-coded)
2. For each fault × seed, run one clean + one faulted arm
3. Record per-tick scores; integrity-check delivered signal
4. Compute per-run alarm rate vs run-level decision boundary</a:t>
            </a:r>
          </a:p>
          <a:p>
            <a:pPr algn="l">
              <a:spcAft>
                <a:spcPts val="400"/>
              </a:spcAft>
            </a:pPr>
            <a:r>
              <a:rPr sz="1000" b="1" i="0">
                <a:solidFill>
                  <a:srgbClr val="6B2E86"/>
                </a:solidFill>
                <a:latin typeface="Calibri"/>
              </a:rPr>
              <a:t>SCREENSHOTS OF THE APPLICATION UI</a:t>
            </a:r>
          </a:p>
          <a:p>
            <a:pPr algn="l">
              <a:spcAft>
                <a:spcPts val="0"/>
              </a:spcAft>
            </a:pPr>
            <a:r>
              <a:rPr sz="900" b="0" i="1">
                <a:solidFill>
                  <a:srgbClr val="5F6E7C"/>
                </a:solidFill>
                <a:latin typeface="Calibri"/>
              </a:rPr>
              <a:t>[NEEDS INPUT] — the project has no user-facing UI; command-line drivers and generated PowerPoint / Markdown reports are the primary interfaces. Suggest: insert screenshots of the terminal running an experiment, and of a generated figure such as fig1_stage_profile_P1.svg.</a:t>
            </a:r>
          </a:p>
        </p:txBody>
      </p:sp>
      <p:sp>
        <p:nvSpPr>
          <p:cNvPr id="7" name="TextBox 6"/>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Runtime code path is 21,631 SLOC; test code is 29,343 SLOC (&gt;1:1 test-to-code ratio).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WHAT IS COMPLETE AND WHAT IS IN FLIGHT</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Current project status</a:t>
            </a:r>
          </a:p>
        </p:txBody>
      </p:sp>
      <p:sp>
        <p:nvSpPr>
          <p:cNvPr id="4" name="Rectangle 3"/>
          <p:cNvSpPr/>
          <p:nvPr/>
        </p:nvSpPr>
        <p:spPr>
          <a:xfrm>
            <a:off x="548640" y="1280160"/>
            <a:ext cx="5532120" cy="5029200"/>
          </a:xfrm>
          <a:prstGeom prst="rect">
            <a:avLst/>
          </a:prstGeom>
          <a:solidFill>
            <a:srgbClr val="E7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128016" cy="5029200"/>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5120640" cy="4846320"/>
          </a:xfrm>
          <a:prstGeom prst="rect">
            <a:avLst/>
          </a:prstGeom>
          <a:noFill/>
        </p:spPr>
        <p:txBody>
          <a:bodyPr wrap="square" anchor="t" lIns="0" rIns="0" tIns="0" bIns="0">
            <a:spAutoFit/>
          </a:bodyPr>
          <a:lstStyle/>
          <a:p>
            <a:pPr algn="l">
              <a:spcAft>
                <a:spcPts val="600"/>
              </a:spcAft>
            </a:pPr>
            <a:r>
              <a:rPr sz="1100" b="1" i="0">
                <a:solidFill>
                  <a:srgbClr val="1E6B52"/>
                </a:solidFill>
                <a:latin typeface="Calibri"/>
              </a:rPr>
              <a:t>COMPLETED</a:t>
            </a:r>
          </a:p>
          <a:p>
            <a:pPr algn="l">
              <a:spcAft>
                <a:spcPts val="200"/>
              </a:spcAft>
            </a:pPr>
            <a:r>
              <a:rPr sz="1050" b="1" i="0">
                <a:solidFill>
                  <a:srgbClr val="1A222E"/>
                </a:solidFill>
                <a:latin typeface="Cambria"/>
              </a:rPr>
              <a:t>Architecture and runtime</a:t>
            </a:r>
          </a:p>
          <a:p>
            <a:pPr algn="l">
              <a:spcAft>
                <a:spcPts val="200"/>
              </a:spcAft>
            </a:pPr>
            <a:r>
              <a:rPr sz="950" b="0" i="0">
                <a:solidFill>
                  <a:srgbClr val="384553"/>
                </a:solidFill>
                <a:latin typeface="Calibri"/>
              </a:rPr>
              <a:t>•  All 9 layers implemented and domain-mapped</a:t>
            </a:r>
          </a:p>
          <a:p>
            <a:pPr algn="l">
              <a:spcAft>
                <a:spcPts val="200"/>
              </a:spcAft>
            </a:pPr>
            <a:r>
              <a:rPr sz="950" b="0" i="0">
                <a:solidFill>
                  <a:srgbClr val="384553"/>
                </a:solidFill>
                <a:latin typeface="Calibri"/>
              </a:rPr>
              <a:t>•  All 3 Core-B gates verdict on every tick (verified live on 300 ticks)</a:t>
            </a:r>
          </a:p>
          <a:p>
            <a:pPr algn="l">
              <a:spcAft>
                <a:spcPts val="200"/>
              </a:spcAft>
            </a:pPr>
            <a:r>
              <a:rPr sz="950" b="0" i="0">
                <a:solidFill>
                  <a:srgbClr val="384553"/>
                </a:solidFill>
                <a:latin typeface="Calibri"/>
              </a:rPr>
              <a:t>•  Core-A → Core-B one-way boundary enforced by contract tests</a:t>
            </a:r>
          </a:p>
          <a:p>
            <a:pPr algn="l">
              <a:spcAft>
                <a:spcPts val="200"/>
              </a:spcAft>
            </a:pPr>
            <a:r>
              <a:rPr sz="1050" b="1" i="0">
                <a:solidFill>
                  <a:srgbClr val="1A222E"/>
                </a:solidFill>
                <a:latin typeface="Cambria"/>
              </a:rPr>
              <a:t>Training pipeline</a:t>
            </a:r>
          </a:p>
          <a:p>
            <a:pPr algn="l">
              <a:spcAft>
                <a:spcPts val="200"/>
              </a:spcAft>
            </a:pPr>
            <a:r>
              <a:rPr sz="950" b="0" i="0">
                <a:solidFill>
                  <a:srgbClr val="384553"/>
                </a:solidFill>
                <a:latin typeface="Calibri"/>
              </a:rPr>
              <a:t>•  L4 policy trained (three checkpoints: synthetic, long, jerkscaled)</a:t>
            </a:r>
          </a:p>
          <a:p>
            <a:pPr algn="l">
              <a:spcAft>
                <a:spcPts val="200"/>
              </a:spcAft>
            </a:pPr>
            <a:r>
              <a:rPr sz="950" b="0" i="0">
                <a:solidFill>
                  <a:srgbClr val="384553"/>
                </a:solidFill>
                <a:latin typeface="Calibri"/>
              </a:rPr>
              <a:t>•  L5 PINN twin trained on kinematic bicycle dynamics</a:t>
            </a:r>
          </a:p>
          <a:p>
            <a:pPr algn="l">
              <a:spcAft>
                <a:spcPts val="200"/>
              </a:spcAft>
            </a:pPr>
            <a:r>
              <a:rPr sz="950" b="0" i="0">
                <a:solidFill>
                  <a:srgbClr val="384553"/>
                </a:solidFill>
                <a:latin typeface="Calibri"/>
              </a:rPr>
              <a:t>•  L6 calibration corpus harvested</a:t>
            </a:r>
          </a:p>
          <a:p>
            <a:pPr algn="l">
              <a:spcAft>
                <a:spcPts val="200"/>
              </a:spcAft>
            </a:pPr>
            <a:r>
              <a:rPr sz="1050" b="1" i="0">
                <a:solidFill>
                  <a:srgbClr val="1A222E"/>
                </a:solidFill>
                <a:latin typeface="Cambria"/>
              </a:rPr>
              <a:t>Experimental campaigns</a:t>
            </a:r>
          </a:p>
          <a:p>
            <a:pPr algn="l">
              <a:spcAft>
                <a:spcPts val="200"/>
              </a:spcAft>
            </a:pPr>
            <a:r>
              <a:rPr sz="950" b="0" i="0">
                <a:solidFill>
                  <a:srgbClr val="384553"/>
                </a:solidFill>
                <a:latin typeface="Calibri"/>
              </a:rPr>
              <a:t>•  E17 30-seed sweep: 90 profiles, 2,160 runs</a:t>
            </a:r>
          </a:p>
          <a:p>
            <a:pPr algn="l">
              <a:spcAft>
                <a:spcPts val="200"/>
              </a:spcAft>
            </a:pPr>
            <a:r>
              <a:rPr sz="950" b="0" i="0">
                <a:solidFill>
                  <a:srgbClr val="384553"/>
                </a:solidFill>
                <a:latin typeface="Calibri"/>
              </a:rPr>
              <a:t>•  E17 position re-injection: 720 runs (invalidated original claim)</a:t>
            </a:r>
          </a:p>
          <a:p>
            <a:pPr algn="l">
              <a:spcAft>
                <a:spcPts val="200"/>
              </a:spcAft>
            </a:pPr>
            <a:r>
              <a:rPr sz="950" b="0" i="0">
                <a:solidFill>
                  <a:srgbClr val="384553"/>
                </a:solidFill>
                <a:latin typeface="Calibri"/>
              </a:rPr>
              <a:t>•  E18 calibration series: 72,000 clean ticks + 1,260 faulted runs</a:t>
            </a:r>
          </a:p>
          <a:p>
            <a:pPr algn="l">
              <a:spcAft>
                <a:spcPts val="200"/>
              </a:spcAft>
            </a:pPr>
            <a:r>
              <a:rPr sz="950" b="0" i="0">
                <a:solidFill>
                  <a:srgbClr val="384553"/>
                </a:solidFill>
                <a:latin typeface="Calibri"/>
              </a:rPr>
              <a:t>•  E18-R1 (run-local), R2 (matched-pooled), R3 (long window), R3b (detection), R3c (sustained fault): together +720 runs</a:t>
            </a:r>
          </a:p>
          <a:p>
            <a:pPr algn="l">
              <a:spcAft>
                <a:spcPts val="200"/>
              </a:spcAft>
            </a:pPr>
            <a:r>
              <a:rPr sz="950" b="0" i="0">
                <a:solidFill>
                  <a:srgbClr val="384553"/>
                </a:solidFill>
                <a:latin typeface="Calibri"/>
              </a:rPr>
              <a:t>•  Zero execution failures across ~4,300 runs</a:t>
            </a:r>
          </a:p>
        </p:txBody>
      </p:sp>
      <p:sp>
        <p:nvSpPr>
          <p:cNvPr id="7" name="Rectangle 6"/>
          <p:cNvSpPr/>
          <p:nvPr/>
        </p:nvSpPr>
        <p:spPr>
          <a:xfrm>
            <a:off x="6263640" y="1280160"/>
            <a:ext cx="5349240" cy="5029200"/>
          </a:xfrm>
          <a:prstGeom prst="rect">
            <a:avLst/>
          </a:prstGeom>
          <a:solidFill>
            <a:srgbClr val="F7E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280160"/>
            <a:ext cx="128016" cy="5029200"/>
          </a:xfrm>
          <a:prstGeom prst="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371600"/>
            <a:ext cx="4937760" cy="4846320"/>
          </a:xfrm>
          <a:prstGeom prst="rect">
            <a:avLst/>
          </a:prstGeom>
          <a:noFill/>
        </p:spPr>
        <p:txBody>
          <a:bodyPr wrap="square" anchor="t" lIns="0" rIns="0" tIns="0" bIns="0">
            <a:spAutoFit/>
          </a:bodyPr>
          <a:lstStyle/>
          <a:p>
            <a:pPr algn="l">
              <a:spcAft>
                <a:spcPts val="600"/>
              </a:spcAft>
            </a:pPr>
            <a:r>
              <a:rPr sz="1100" b="1" i="0">
                <a:solidFill>
                  <a:srgbClr val="A9760B"/>
                </a:solidFill>
                <a:latin typeface="Calibri"/>
              </a:rPr>
              <a:t>CURRENTLY IN PROGRESS / NEXT</a:t>
            </a:r>
          </a:p>
          <a:p>
            <a:pPr algn="l">
              <a:spcAft>
                <a:spcPts val="200"/>
              </a:spcAft>
            </a:pPr>
            <a:r>
              <a:rPr sz="1050" b="1" i="0">
                <a:solidFill>
                  <a:srgbClr val="1A222E"/>
                </a:solidFill>
                <a:latin typeface="Cambria"/>
              </a:rPr>
              <a:t>Systematic literature review</a:t>
            </a:r>
          </a:p>
          <a:p>
            <a:pPr algn="l">
              <a:spcAft>
                <a:spcPts val="600"/>
              </a:spcAft>
            </a:pPr>
            <a:r>
              <a:rPr sz="950" b="0" i="0">
                <a:solidFill>
                  <a:srgbClr val="384553"/>
                </a:solidFill>
                <a:latin typeface="Calibri"/>
              </a:rPr>
              <a:t>Cross-check that the self-trust / monitorability contribution is unclaimed. In progress; blocks the novelty claim.</a:t>
            </a:r>
          </a:p>
          <a:p>
            <a:pPr algn="l">
              <a:spcAft>
                <a:spcPts val="200"/>
              </a:spcAft>
            </a:pPr>
            <a:r>
              <a:rPr sz="1050" b="1" i="0">
                <a:solidFill>
                  <a:srgbClr val="1A222E"/>
                </a:solidFill>
                <a:latin typeface="Cambria"/>
              </a:rPr>
              <a:t>Phase 2 — Monitorability re-analysis</a:t>
            </a:r>
          </a:p>
          <a:p>
            <a:pPr algn="l">
              <a:spcAft>
                <a:spcPts val="600"/>
              </a:spcAft>
            </a:pPr>
            <a:r>
              <a:rPr sz="950" b="0" i="0">
                <a:solidFill>
                  <a:srgbClr val="384553"/>
                </a:solidFill>
                <a:latin typeface="Calibri"/>
              </a:rPr>
              <a:t>Compute M(f,s) on the 28 existing cells. Zero new compute, hours of work; validates or removes the paper's proposed metric.</a:t>
            </a:r>
          </a:p>
          <a:p>
            <a:pPr algn="l">
              <a:spcAft>
                <a:spcPts val="200"/>
              </a:spcAft>
            </a:pPr>
            <a:r>
              <a:rPr sz="1050" b="1" i="0">
                <a:solidFill>
                  <a:srgbClr val="1A222E"/>
                </a:solidFill>
                <a:latin typeface="Cambria"/>
              </a:rPr>
              <a:t>P3 recalibration (E18-R4)</a:t>
            </a:r>
          </a:p>
          <a:p>
            <a:pPr algn="l">
              <a:spcAft>
                <a:spcPts val="600"/>
              </a:spcAft>
            </a:pPr>
            <a:r>
              <a:rPr sz="950" b="0" i="0">
                <a:solidFill>
                  <a:srgbClr val="384553"/>
                </a:solidFill>
                <a:latin typeface="Calibri"/>
              </a:rPr>
              <a:t>Fix P3 threshold bias identified in R3; short compute.</a:t>
            </a:r>
          </a:p>
          <a:p>
            <a:pPr algn="l">
              <a:spcAft>
                <a:spcPts val="200"/>
              </a:spcAft>
            </a:pPr>
            <a:r>
              <a:rPr sz="1050" b="1" i="0">
                <a:solidFill>
                  <a:srgbClr val="1A222E"/>
                </a:solidFill>
                <a:latin typeface="Cambria"/>
              </a:rPr>
              <a:t>E19 — H7 monitor placement</a:t>
            </a:r>
          </a:p>
          <a:p>
            <a:pPr algn="l">
              <a:spcAft>
                <a:spcPts val="600"/>
              </a:spcAft>
            </a:pPr>
            <a:r>
              <a:rPr sz="950" b="0" i="0">
                <a:solidFill>
                  <a:srgbClr val="384553"/>
                </a:solidFill>
                <a:latin typeface="Calibri"/>
              </a:rPr>
              <a:t>Unblocked on P1 after E18-R3 PASS; awaits Phase 2 result before design finalisation.</a:t>
            </a:r>
          </a:p>
          <a:p>
            <a:pPr algn="l">
              <a:spcAft>
                <a:spcPts val="200"/>
              </a:spcAft>
            </a:pPr>
            <a:r>
              <a:rPr sz="1050" b="1" i="0">
                <a:solidFill>
                  <a:srgbClr val="1A222E"/>
                </a:solidFill>
                <a:latin typeface="Cambria"/>
              </a:rPr>
              <a:t>Self-trust layer implementation</a:t>
            </a:r>
          </a:p>
          <a:p>
            <a:pPr algn="l">
              <a:spcAft>
                <a:spcPts val="0"/>
              </a:spcAft>
            </a:pPr>
            <a:r>
              <a:rPr sz="950" b="0" i="0">
                <a:solidFill>
                  <a:srgbClr val="384553"/>
                </a:solidFill>
                <a:latin typeface="Calibri"/>
              </a:rPr>
              <a:t>Design complete (ASTRA 2.0 review). Implementation as production code is the next major engineering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WHERE THE PROJECT IS GOING</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Roadmap  —  current stage to final demo</a:t>
            </a:r>
          </a:p>
        </p:txBody>
      </p:sp>
      <p:sp>
        <p:nvSpPr>
          <p:cNvPr id="4" name="Rectangle 3"/>
          <p:cNvSpPr/>
          <p:nvPr/>
        </p:nvSpPr>
        <p:spPr>
          <a:xfrm>
            <a:off x="548640" y="1371600"/>
            <a:ext cx="11064240" cy="75895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46304" cy="758952"/>
          </a:xfrm>
          <a:prstGeom prst="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91056"/>
            <a:ext cx="640080" cy="365760"/>
          </a:xfrm>
          <a:prstGeom prst="rect">
            <a:avLst/>
          </a:prstGeom>
          <a:noFill/>
        </p:spPr>
        <p:txBody>
          <a:bodyPr wrap="square" anchor="t" lIns="0" rIns="0" tIns="0" bIns="0">
            <a:spAutoFit/>
          </a:bodyPr>
          <a:lstStyle/>
          <a:p>
            <a:pPr algn="l">
              <a:spcAft>
                <a:spcPts val="0"/>
              </a:spcAft>
            </a:pPr>
            <a:r>
              <a:rPr sz="2200" b="1" i="0">
                <a:solidFill>
                  <a:srgbClr val="1E6B52"/>
                </a:solidFill>
                <a:latin typeface="Cambria"/>
              </a:rPr>
              <a:t>01</a:t>
            </a:r>
          </a:p>
        </p:txBody>
      </p:sp>
      <p:sp>
        <p:nvSpPr>
          <p:cNvPr id="7" name="TextBox 6"/>
          <p:cNvSpPr txBox="1"/>
          <p:nvPr/>
        </p:nvSpPr>
        <p:spPr>
          <a:xfrm>
            <a:off x="1554480" y="1444752"/>
            <a:ext cx="85953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Completed</a:t>
            </a:r>
          </a:p>
          <a:p>
            <a:pPr algn="l">
              <a:spcAft>
                <a:spcPts val="0"/>
              </a:spcAft>
            </a:pPr>
            <a:r>
              <a:rPr sz="1000" b="0" i="0">
                <a:solidFill>
                  <a:srgbClr val="384553"/>
                </a:solidFill>
                <a:latin typeface="Calibri"/>
              </a:rPr>
              <a:t>5 experiment phases; 4,300 runs; audited findings; withdrawn claims documented; ASTRA 2.0 architecture proposed</a:t>
            </a:r>
          </a:p>
        </p:txBody>
      </p:sp>
      <p:sp>
        <p:nvSpPr>
          <p:cNvPr id="8" name="Rounded Rectangle 7"/>
          <p:cNvSpPr/>
          <p:nvPr/>
        </p:nvSpPr>
        <p:spPr>
          <a:xfrm>
            <a:off x="10378440" y="1636776"/>
            <a:ext cx="449884" cy="219456"/>
          </a:xfrm>
          <a:prstGeom prst="roundRect">
            <a:avLst/>
          </a:prstGeom>
          <a:solidFill>
            <a:srgbClr val="1E6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DONE</a:t>
            </a:r>
          </a:p>
        </p:txBody>
      </p:sp>
      <p:sp>
        <p:nvSpPr>
          <p:cNvPr id="9" name="Rectangle 8"/>
          <p:cNvSpPr/>
          <p:nvPr/>
        </p:nvSpPr>
        <p:spPr>
          <a:xfrm>
            <a:off x="548640" y="2167128"/>
            <a:ext cx="11064240" cy="75895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67128"/>
            <a:ext cx="146304" cy="758952"/>
          </a:xfrm>
          <a:prstGeom prst="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86584"/>
            <a:ext cx="640080" cy="365760"/>
          </a:xfrm>
          <a:prstGeom prst="rect">
            <a:avLst/>
          </a:prstGeom>
          <a:noFill/>
        </p:spPr>
        <p:txBody>
          <a:bodyPr wrap="square" anchor="t" lIns="0" rIns="0" tIns="0" bIns="0">
            <a:spAutoFit/>
          </a:bodyPr>
          <a:lstStyle/>
          <a:p>
            <a:pPr algn="l">
              <a:spcAft>
                <a:spcPts val="0"/>
              </a:spcAft>
            </a:pPr>
            <a:r>
              <a:rPr sz="2200" b="1" i="0">
                <a:solidFill>
                  <a:srgbClr val="A9760B"/>
                </a:solidFill>
                <a:latin typeface="Cambria"/>
              </a:rPr>
              <a:t>02</a:t>
            </a:r>
          </a:p>
        </p:txBody>
      </p:sp>
      <p:sp>
        <p:nvSpPr>
          <p:cNvPr id="12" name="TextBox 11"/>
          <p:cNvSpPr txBox="1"/>
          <p:nvPr/>
        </p:nvSpPr>
        <p:spPr>
          <a:xfrm>
            <a:off x="1554480" y="2240280"/>
            <a:ext cx="85953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Current stage</a:t>
            </a:r>
          </a:p>
          <a:p>
            <a:pPr algn="l">
              <a:spcAft>
                <a:spcPts val="0"/>
              </a:spcAft>
            </a:pPr>
            <a:r>
              <a:rPr sz="1000" b="0" i="0">
                <a:solidFill>
                  <a:srgbClr val="384553"/>
                </a:solidFill>
                <a:latin typeface="Calibri"/>
              </a:rPr>
              <a:t>Literature review + Phase 2 monitorability re-analysis + P3 recalibration + E19 pre-registration</a:t>
            </a:r>
          </a:p>
        </p:txBody>
      </p:sp>
      <p:sp>
        <p:nvSpPr>
          <p:cNvPr id="13" name="Rounded Rectangle 12"/>
          <p:cNvSpPr/>
          <p:nvPr/>
        </p:nvSpPr>
        <p:spPr>
          <a:xfrm>
            <a:off x="10378440" y="2432304"/>
            <a:ext cx="981151" cy="219456"/>
          </a:xfrm>
          <a:prstGeom prst="roundRect">
            <a:avLst/>
          </a:prstGeom>
          <a:solidFill>
            <a:srgbClr val="A976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IN PROGRESS</a:t>
            </a:r>
          </a:p>
        </p:txBody>
      </p:sp>
      <p:sp>
        <p:nvSpPr>
          <p:cNvPr id="14" name="Rectangle 13"/>
          <p:cNvSpPr/>
          <p:nvPr/>
        </p:nvSpPr>
        <p:spPr>
          <a:xfrm>
            <a:off x="548640" y="2962656"/>
            <a:ext cx="11064240" cy="75895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962656"/>
            <a:ext cx="146304" cy="758952"/>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82112"/>
            <a:ext cx="640080" cy="365760"/>
          </a:xfrm>
          <a:prstGeom prst="rect">
            <a:avLst/>
          </a:prstGeom>
          <a:noFill/>
        </p:spPr>
        <p:txBody>
          <a:bodyPr wrap="square" anchor="t" lIns="0" rIns="0" tIns="0" bIns="0">
            <a:spAutoFit/>
          </a:bodyPr>
          <a:lstStyle/>
          <a:p>
            <a:pPr algn="l">
              <a:spcAft>
                <a:spcPts val="0"/>
              </a:spcAft>
            </a:pPr>
            <a:r>
              <a:rPr sz="2200" b="1" i="0">
                <a:solidFill>
                  <a:srgbClr val="028090"/>
                </a:solidFill>
                <a:latin typeface="Cambria"/>
              </a:rPr>
              <a:t>03</a:t>
            </a:r>
          </a:p>
        </p:txBody>
      </p:sp>
      <p:sp>
        <p:nvSpPr>
          <p:cNvPr id="17" name="TextBox 16"/>
          <p:cNvSpPr txBox="1"/>
          <p:nvPr/>
        </p:nvSpPr>
        <p:spPr>
          <a:xfrm>
            <a:off x="1554480" y="3035808"/>
            <a:ext cx="85953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Next steps</a:t>
            </a:r>
          </a:p>
          <a:p>
            <a:pPr algn="l">
              <a:spcAft>
                <a:spcPts val="0"/>
              </a:spcAft>
            </a:pPr>
            <a:r>
              <a:rPr sz="1000" b="0" i="0">
                <a:solidFill>
                  <a:srgbClr val="384553"/>
                </a:solidFill>
                <a:latin typeface="Calibri"/>
              </a:rPr>
              <a:t>Implement self-trust layer + phase-aware detector; complete E19 monitor placement study; run E20 lying-sensor extension on the per-channel injection path</a:t>
            </a:r>
          </a:p>
        </p:txBody>
      </p:sp>
      <p:sp>
        <p:nvSpPr>
          <p:cNvPr id="18" name="Rounded Rectangle 17"/>
          <p:cNvSpPr/>
          <p:nvPr/>
        </p:nvSpPr>
        <p:spPr>
          <a:xfrm>
            <a:off x="10378440" y="3227832"/>
            <a:ext cx="449884" cy="219456"/>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NEXT</a:t>
            </a:r>
          </a:p>
        </p:txBody>
      </p:sp>
      <p:sp>
        <p:nvSpPr>
          <p:cNvPr id="19" name="Rectangle 18"/>
          <p:cNvSpPr/>
          <p:nvPr/>
        </p:nvSpPr>
        <p:spPr>
          <a:xfrm>
            <a:off x="548640" y="3758184"/>
            <a:ext cx="11064240" cy="75895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58184"/>
            <a:ext cx="146304" cy="758952"/>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977640"/>
            <a:ext cx="640080" cy="365760"/>
          </a:xfrm>
          <a:prstGeom prst="rect">
            <a:avLst/>
          </a:prstGeom>
          <a:noFill/>
        </p:spPr>
        <p:txBody>
          <a:bodyPr wrap="square" anchor="t" lIns="0" rIns="0" tIns="0" bIns="0">
            <a:spAutoFit/>
          </a:bodyPr>
          <a:lstStyle/>
          <a:p>
            <a:pPr algn="l">
              <a:spcAft>
                <a:spcPts val="0"/>
              </a:spcAft>
            </a:pPr>
            <a:r>
              <a:rPr sz="2200" b="1" i="0">
                <a:solidFill>
                  <a:srgbClr val="5F6E7C"/>
                </a:solidFill>
                <a:latin typeface="Cambria"/>
              </a:rPr>
              <a:t>04</a:t>
            </a:r>
          </a:p>
        </p:txBody>
      </p:sp>
      <p:sp>
        <p:nvSpPr>
          <p:cNvPr id="22" name="TextBox 21"/>
          <p:cNvSpPr txBox="1"/>
          <p:nvPr/>
        </p:nvSpPr>
        <p:spPr>
          <a:xfrm>
            <a:off x="1554480" y="3831336"/>
            <a:ext cx="85953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Final implementation</a:t>
            </a:r>
          </a:p>
          <a:p>
            <a:pPr algn="l">
              <a:spcAft>
                <a:spcPts val="0"/>
              </a:spcAft>
            </a:pPr>
            <a:r>
              <a:rPr sz="1000" b="0" i="0">
                <a:solidFill>
                  <a:srgbClr val="384553"/>
                </a:solidFill>
                <a:latin typeface="Calibri"/>
              </a:rPr>
              <a:t>Integrated ASTRA 2.0 with observability plane, monitorability output, and phase-resolved decision rule</a:t>
            </a:r>
          </a:p>
        </p:txBody>
      </p:sp>
      <p:sp>
        <p:nvSpPr>
          <p:cNvPr id="23" name="Rounded Rectangle 22"/>
          <p:cNvSpPr/>
          <p:nvPr/>
        </p:nvSpPr>
        <p:spPr>
          <a:xfrm>
            <a:off x="10378440" y="4023360"/>
            <a:ext cx="677570" cy="219456"/>
          </a:xfrm>
          <a:prstGeom prst="round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PLANNED</a:t>
            </a:r>
          </a:p>
        </p:txBody>
      </p:sp>
      <p:sp>
        <p:nvSpPr>
          <p:cNvPr id="24" name="Rectangle 23"/>
          <p:cNvSpPr/>
          <p:nvPr/>
        </p:nvSpPr>
        <p:spPr>
          <a:xfrm>
            <a:off x="548640" y="4553712"/>
            <a:ext cx="11064240" cy="758952"/>
          </a:xfrm>
          <a:prstGeom prst="rect">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553712"/>
            <a:ext cx="146304" cy="758952"/>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773168"/>
            <a:ext cx="640080" cy="365760"/>
          </a:xfrm>
          <a:prstGeom prst="rect">
            <a:avLst/>
          </a:prstGeom>
          <a:noFill/>
        </p:spPr>
        <p:txBody>
          <a:bodyPr wrap="square" anchor="t" lIns="0" rIns="0" tIns="0" bIns="0">
            <a:spAutoFit/>
          </a:bodyPr>
          <a:lstStyle/>
          <a:p>
            <a:pPr algn="l">
              <a:spcAft>
                <a:spcPts val="0"/>
              </a:spcAft>
            </a:pPr>
            <a:r>
              <a:rPr sz="2200" b="1" i="0">
                <a:solidFill>
                  <a:srgbClr val="5F6E7C"/>
                </a:solidFill>
                <a:latin typeface="Cambria"/>
              </a:rPr>
              <a:t>05</a:t>
            </a:r>
          </a:p>
        </p:txBody>
      </p:sp>
      <p:sp>
        <p:nvSpPr>
          <p:cNvPr id="27" name="TextBox 26"/>
          <p:cNvSpPr txBox="1"/>
          <p:nvPr/>
        </p:nvSpPr>
        <p:spPr>
          <a:xfrm>
            <a:off x="1554480" y="4626864"/>
            <a:ext cx="85953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Testing &amp; validation</a:t>
            </a:r>
          </a:p>
          <a:p>
            <a:pPr algn="l">
              <a:spcAft>
                <a:spcPts val="0"/>
              </a:spcAft>
            </a:pPr>
            <a:r>
              <a:rPr sz="1000" b="0" i="0">
                <a:solidFill>
                  <a:srgbClr val="384553"/>
                </a:solidFill>
                <a:latin typeface="Calibri"/>
              </a:rPr>
              <a:t>comma2k19 real-driving-data replay (open-loop); CARLA closed-loop only if time permits; baseline comparison against innovation-χ² monitor</a:t>
            </a:r>
          </a:p>
        </p:txBody>
      </p:sp>
      <p:sp>
        <p:nvSpPr>
          <p:cNvPr id="28" name="Rounded Rectangle 27"/>
          <p:cNvSpPr/>
          <p:nvPr/>
        </p:nvSpPr>
        <p:spPr>
          <a:xfrm>
            <a:off x="10378440" y="4818888"/>
            <a:ext cx="677570" cy="219456"/>
          </a:xfrm>
          <a:prstGeom prst="round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PLANNED</a:t>
            </a:r>
          </a:p>
        </p:txBody>
      </p:sp>
      <p:sp>
        <p:nvSpPr>
          <p:cNvPr id="29" name="Rectangle 28"/>
          <p:cNvSpPr/>
          <p:nvPr/>
        </p:nvSpPr>
        <p:spPr>
          <a:xfrm>
            <a:off x="548640" y="5349240"/>
            <a:ext cx="11064240" cy="75895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349240"/>
            <a:ext cx="146304" cy="758952"/>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68696"/>
            <a:ext cx="640080" cy="365760"/>
          </a:xfrm>
          <a:prstGeom prst="rect">
            <a:avLst/>
          </a:prstGeom>
          <a:noFill/>
        </p:spPr>
        <p:txBody>
          <a:bodyPr wrap="square" anchor="t" lIns="0" rIns="0" tIns="0" bIns="0">
            <a:spAutoFit/>
          </a:bodyPr>
          <a:lstStyle/>
          <a:p>
            <a:pPr algn="l">
              <a:spcAft>
                <a:spcPts val="0"/>
              </a:spcAft>
            </a:pPr>
            <a:r>
              <a:rPr sz="2200" b="1" i="0">
                <a:solidFill>
                  <a:srgbClr val="5F6E7C"/>
                </a:solidFill>
                <a:latin typeface="Cambria"/>
              </a:rPr>
              <a:t>06</a:t>
            </a:r>
          </a:p>
        </p:txBody>
      </p:sp>
      <p:sp>
        <p:nvSpPr>
          <p:cNvPr id="32" name="TextBox 31"/>
          <p:cNvSpPr txBox="1"/>
          <p:nvPr/>
        </p:nvSpPr>
        <p:spPr>
          <a:xfrm>
            <a:off x="1554480" y="5422392"/>
            <a:ext cx="8595360" cy="658368"/>
          </a:xfrm>
          <a:prstGeom prst="rect">
            <a:avLst/>
          </a:prstGeom>
          <a:noFill/>
        </p:spPr>
        <p:txBody>
          <a:bodyPr wrap="square" anchor="t" lIns="0" rIns="0" tIns="0" bIns="0">
            <a:spAutoFit/>
          </a:bodyPr>
          <a:lstStyle/>
          <a:p>
            <a:pPr algn="l">
              <a:spcAft>
                <a:spcPts val="300"/>
              </a:spcAft>
            </a:pPr>
            <a:r>
              <a:rPr sz="1200" b="1" i="0">
                <a:solidFill>
                  <a:srgbClr val="1A222E"/>
                </a:solidFill>
                <a:latin typeface="Cambria"/>
              </a:rPr>
              <a:t>Final demo</a:t>
            </a:r>
          </a:p>
          <a:p>
            <a:pPr algn="l">
              <a:spcAft>
                <a:spcPts val="0"/>
              </a:spcAft>
            </a:pPr>
            <a:r>
              <a:rPr sz="1000" b="0" i="0">
                <a:solidFill>
                  <a:srgbClr val="384553"/>
                </a:solidFill>
                <a:latin typeface="Calibri"/>
              </a:rPr>
              <a:t>Live end-to-end: inject faults into a driven scenario, show phase-resolved detection, show the self-trust plane annotating each verdict</a:t>
            </a:r>
          </a:p>
        </p:txBody>
      </p:sp>
      <p:sp>
        <p:nvSpPr>
          <p:cNvPr id="33" name="Rounded Rectangle 32"/>
          <p:cNvSpPr/>
          <p:nvPr/>
        </p:nvSpPr>
        <p:spPr>
          <a:xfrm>
            <a:off x="10378440" y="5614416"/>
            <a:ext cx="677570" cy="219456"/>
          </a:xfrm>
          <a:prstGeom prst="round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850" b="1" i="0">
                <a:solidFill>
                  <a:srgbClr val="FFFFFF"/>
                </a:solidFill>
                <a:latin typeface="Calibri"/>
              </a:rPr>
              <a:t>PLANNED</a:t>
            </a:r>
          </a:p>
        </p:txBody>
      </p:sp>
      <p:sp>
        <p:nvSpPr>
          <p:cNvPr id="34" name="TextBox 33"/>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Dates are deliberately not specified. Progression is gated: a stage is not entered just because it exists in the plan. External datasets follow, not lead, the internal causal chain.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MEASURED, NOT ASSUMED</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Results and preliminary findings</a:t>
            </a:r>
          </a:p>
        </p:txBody>
      </p:sp>
      <p:sp>
        <p:nvSpPr>
          <p:cNvPr id="4" name="TextBox 3"/>
          <p:cNvSpPr txBox="1"/>
          <p:nvPr/>
        </p:nvSpPr>
        <p:spPr>
          <a:xfrm>
            <a:off x="548640" y="1234440"/>
            <a:ext cx="11064240" cy="292608"/>
          </a:xfrm>
          <a:prstGeom prst="rect">
            <a:avLst/>
          </a:prstGeom>
          <a:noFill/>
        </p:spPr>
        <p:txBody>
          <a:bodyPr wrap="square" anchor="t" lIns="0" rIns="0" tIns="0" bIns="0">
            <a:spAutoFit/>
          </a:bodyPr>
          <a:lstStyle/>
          <a:p>
            <a:pPr algn="l">
              <a:spcAft>
                <a:spcPts val="0"/>
              </a:spcAft>
            </a:pPr>
            <a:r>
              <a:rPr sz="1000" b="0" i="0">
                <a:solidFill>
                  <a:srgbClr val="5F6E7C"/>
                </a:solidFill>
                <a:latin typeface="Calibri"/>
              </a:rPr>
              <a:t>All results below are on the synthetic plant with three learned policy checkpoints. Positive findings are supported by ≥ 30 seeds and pre-registered criteria. External-data validation is future work.</a:t>
            </a:r>
          </a:p>
        </p:txBody>
      </p:sp>
      <p:graphicFrame>
        <p:nvGraphicFramePr>
          <p:cNvPr id="5" name="Table 4"/>
          <p:cNvGraphicFramePr>
            <a:graphicFrameLocks noGrp="1"/>
          </p:cNvGraphicFramePr>
          <p:nvPr/>
        </p:nvGraphicFramePr>
        <p:xfrm>
          <a:off x="548640" y="1737360"/>
          <a:ext cx="11064240" cy="4663440"/>
        </p:xfrm>
        <a:graphic>
          <a:graphicData uri="http://schemas.openxmlformats.org/drawingml/2006/table">
            <a:tbl>
              <a:tblPr firstRow="1" bandRow="1">
                <a:tableStyleId>{5C22544A-7EE6-4342-B048-85BDC9FD1C3A}</a:tableStyleId>
              </a:tblPr>
              <a:tblGrid>
                <a:gridCol w="3200400"/>
                <a:gridCol w="6126480"/>
                <a:gridCol w="1737360"/>
              </a:tblGrid>
              <a:tr h="274320">
                <a:tc>
                  <a:txBody>
                    <a:bodyPr wrap="square"/>
                    <a:lstStyle/>
                    <a:p>
                      <a:pPr>
                        <a:spcAft>
                          <a:spcPts val="0"/>
                        </a:spcAft>
                      </a:pPr>
                      <a:r>
                        <a:rPr sz="950" b="1">
                          <a:solidFill>
                            <a:srgbClr val="FFFFFF"/>
                          </a:solidFill>
                          <a:latin typeface="Calibri"/>
                        </a:rPr>
                        <a:t>Finding</a:t>
                      </a:r>
                    </a:p>
                  </a:txBody>
                  <a:tcPr marL="64008" marR="64008" marT="18288" marB="18288" anchor="ctr">
                    <a:solidFill>
                      <a:srgbClr val="142832"/>
                    </a:solidFill>
                  </a:tcPr>
                </a:tc>
                <a:tc>
                  <a:txBody>
                    <a:bodyPr wrap="square"/>
                    <a:lstStyle/>
                    <a:p>
                      <a:pPr>
                        <a:spcAft>
                          <a:spcPts val="0"/>
                        </a:spcAft>
                      </a:pPr>
                      <a:r>
                        <a:rPr sz="950" b="1">
                          <a:solidFill>
                            <a:srgbClr val="FFFFFF"/>
                          </a:solidFill>
                          <a:latin typeface="Calibri"/>
                        </a:rPr>
                        <a:t>Evidence</a:t>
                      </a:r>
                    </a:p>
                  </a:txBody>
                  <a:tcPr marL="64008" marR="64008" marT="18288" marB="18288" anchor="ctr">
                    <a:solidFill>
                      <a:srgbClr val="142832"/>
                    </a:solidFill>
                  </a:tcPr>
                </a:tc>
                <a:tc>
                  <a:txBody>
                    <a:bodyPr wrap="square"/>
                    <a:lstStyle/>
                    <a:p>
                      <a:pPr>
                        <a:spcAft>
                          <a:spcPts val="0"/>
                        </a:spcAft>
                      </a:pPr>
                      <a:r>
                        <a:rPr sz="950" b="1">
                          <a:solidFill>
                            <a:srgbClr val="FFFFFF"/>
                          </a:solidFill>
                          <a:latin typeface="Calibri"/>
                        </a:rPr>
                        <a:t>Status</a:t>
                      </a:r>
                    </a:p>
                  </a:txBody>
                  <a:tcPr marL="64008" marR="64008" marT="18288" marB="18288" anchor="ctr">
                    <a:solidFill>
                      <a:srgbClr val="142832"/>
                    </a:solidFill>
                  </a:tcPr>
                </a:tc>
              </a:tr>
              <a:tr h="548640">
                <a:tc>
                  <a:txBody>
                    <a:bodyPr wrap="square"/>
                    <a:lstStyle/>
                    <a:p>
                      <a:pPr>
                        <a:spcAft>
                          <a:spcPts val="0"/>
                        </a:spcAft>
                      </a:pPr>
                      <a:r>
                        <a:rPr sz="900" b="0">
                          <a:solidFill>
                            <a:srgbClr val="1A222E"/>
                          </a:solidFill>
                          <a:latin typeface="Calibri"/>
                        </a:rPr>
                        <a:t>OD-8 miscalibration is a calibration-set provenance failure, not a threshold-value one</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Global recalibration reproduces the original defect exactly (0.00 % FAR on P1/P3, 11.06 % on P2)</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FFFFF"/>
                    </a:solidFill>
                  </a:tcPr>
                </a:tc>
              </a:tr>
              <a:tr h="548640">
                <a:tc>
                  <a:txBody>
                    <a:bodyPr wrap="square"/>
                    <a:lstStyle/>
                    <a:p>
                      <a:pPr>
                        <a:spcAft>
                          <a:spcPts val="0"/>
                        </a:spcAft>
                      </a:pPr>
                      <a:r>
                        <a:rPr sz="900" b="0">
                          <a:solidFill>
                            <a:srgbClr val="1A222E"/>
                          </a:solidFill>
                          <a:latin typeface="Calibri"/>
                        </a:rPr>
                        <a:t>P1 conformal monitor: stable per-run false-alarm rate at a 160-second window</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30/30 held-out clean runs in the [2.5 %, 10 %] band at n = 3,200 (E18-R3)</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3F6F8"/>
                    </a:solidFill>
                  </a:tcPr>
                </a:tc>
              </a:tr>
              <a:tr h="548640">
                <a:tc>
                  <a:txBody>
                    <a:bodyPr wrap="square"/>
                    <a:lstStyle/>
                    <a:p>
                      <a:pPr>
                        <a:spcAft>
                          <a:spcPts val="0"/>
                        </a:spcAft>
                      </a:pPr>
                      <a:r>
                        <a:rPr sz="900" b="0">
                          <a:solidFill>
                            <a:srgbClr val="1A222E"/>
                          </a:solidFill>
                          <a:latin typeface="Calibri"/>
                        </a:rPr>
                        <a:t>Windowed calibration limit was precision, not dynamics</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Per-run FAR variance scales with n; slope −0.739 (P1), −0.918 (P3) (E18-R3)</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FFFFF"/>
                    </a:solidFill>
                  </a:tcPr>
                </a:tc>
              </a:tr>
              <a:tr h="548640">
                <a:tc>
                  <a:txBody>
                    <a:bodyPr wrap="square"/>
                    <a:lstStyle/>
                    <a:p>
                      <a:pPr>
                        <a:spcAft>
                          <a:spcPts val="0"/>
                        </a:spcAft>
                      </a:pPr>
                      <a:r>
                        <a:rPr sz="900" b="0">
                          <a:solidFill>
                            <a:srgbClr val="1A222E"/>
                          </a:solidFill>
                          <a:latin typeface="Calibri"/>
                        </a:rPr>
                        <a:t>4 of 6 faults reach 100 % detection at n = 3,200</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position_bias, position_drift, lateral_noise, imu_dropout at 100 % (E18-R3b)</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Established (with qualifier below)</a:t>
                      </a:r>
                    </a:p>
                  </a:txBody>
                  <a:tcPr marL="64008" marR="64008" marT="18288" marB="18288" anchor="ctr">
                    <a:solidFill>
                      <a:srgbClr val="F3F6F8"/>
                    </a:solidFill>
                  </a:tcPr>
                </a:tc>
              </a:tr>
              <a:tr h="548640">
                <a:tc>
                  <a:txBody>
                    <a:bodyPr wrap="square"/>
                    <a:lstStyle/>
                    <a:p>
                      <a:pPr>
                        <a:spcAft>
                          <a:spcPts val="0"/>
                        </a:spcAft>
                      </a:pPr>
                      <a:r>
                        <a:rPr sz="900" b="0">
                          <a:solidFill>
                            <a:srgbClr val="1A222E"/>
                          </a:solidFill>
                          <a:latin typeface="Calibri"/>
                        </a:rPr>
                        <a:t>A persistent sensor failure is invisible to the monitor for as long as it persists</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Sustained imu_dropout, 160 s, 30 seeds: alarm rate 0.2 % — BELOW clean baseline of ~5 % (E18-R3c). R3b's 100 % detection was the post-fault recovery transient.</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FFFFF"/>
                    </a:solidFill>
                  </a:tcPr>
                </a:tc>
              </a:tr>
              <a:tr h="548640">
                <a:tc>
                  <a:txBody>
                    <a:bodyPr wrap="square"/>
                    <a:lstStyle/>
                    <a:p>
                      <a:pPr>
                        <a:spcAft>
                          <a:spcPts val="0"/>
                        </a:spcAft>
                      </a:pPr>
                      <a:r>
                        <a:rPr sz="900" b="0">
                          <a:solidFill>
                            <a:srgbClr val="1A222E"/>
                          </a:solidFill>
                          <a:latin typeface="Calibri"/>
                        </a:rPr>
                        <a:t>Statistical discriminability does not predict operational detection</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17 of 28 cells disagree between D_L6 ≥ 0.9 and detection ≥ 0.9. D_L1 vs detection: Spearman ρ = −0.480, p = 0.0088 (E18)</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3F6F8"/>
                    </a:solidFill>
                  </a:tcPr>
                </a:tc>
              </a:tr>
              <a:tr h="548640">
                <a:tc>
                  <a:txBody>
                    <a:bodyPr wrap="square"/>
                    <a:lstStyle/>
                    <a:p>
                      <a:pPr>
                        <a:spcAft>
                          <a:spcPts val="0"/>
                        </a:spcAft>
                      </a:pPr>
                      <a:r>
                        <a:rPr sz="900" b="0">
                          <a:solidFill>
                            <a:srgbClr val="1A222E"/>
                          </a:solidFill>
                          <a:latin typeface="Calibri"/>
                        </a:rPr>
                        <a:t>Fault-induced alarm suppression is a real phenomenon, not an anecdote</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11 of 28 cells, all p &lt; 0.05. imu_dropout on P1: 0.10 % alarm during fault vs 5.47 % clean baseline (E18); phase-resolved mechanism confirmed by R3c</a:t>
                      </a:r>
                    </a:p>
                  </a:txBody>
                  <a:tcPr marL="64008" marR="64008" marT="18288" marB="18288" anchor="ctr">
                    <a:solidFill>
                      <a:srgbClr val="FFFFFF"/>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FFFFF"/>
                    </a:solidFill>
                  </a:tcPr>
                </a:tc>
              </a:tr>
              <a:tr h="548640">
                <a:tc>
                  <a:txBody>
                    <a:bodyPr wrap="square"/>
                    <a:lstStyle/>
                    <a:p>
                      <a:pPr>
                        <a:spcAft>
                          <a:spcPts val="0"/>
                        </a:spcAft>
                      </a:pPr>
                      <a:r>
                        <a:rPr sz="900" b="0">
                          <a:solidFill>
                            <a:srgbClr val="1A222E"/>
                          </a:solidFill>
                          <a:latin typeface="Calibri"/>
                        </a:rPr>
                        <a:t>Redundancy can conceal a fault entirely</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POSITION_Y was inert against the driven sensing path for 17 days (E17-Position); Control C established causally: estimator sees 0 with redundancy on, 3.18 with it off</a:t>
                      </a:r>
                    </a:p>
                  </a:txBody>
                  <a:tcPr marL="64008" marR="64008" marT="18288" marB="18288" anchor="ctr">
                    <a:solidFill>
                      <a:srgbClr val="F3F6F8"/>
                    </a:solidFill>
                  </a:tcPr>
                </a:tc>
                <a:tc>
                  <a:txBody>
                    <a:bodyPr wrap="square"/>
                    <a:lstStyle/>
                    <a:p>
                      <a:pPr>
                        <a:spcAft>
                          <a:spcPts val="0"/>
                        </a:spcAft>
                      </a:pPr>
                      <a:r>
                        <a:rPr sz="900" b="0">
                          <a:solidFill>
                            <a:srgbClr val="1A222E"/>
                          </a:solidFill>
                          <a:latin typeface="Calibri"/>
                        </a:rPr>
                        <a:t>Established</a:t>
                      </a:r>
                    </a:p>
                  </a:txBody>
                  <a:tcPr marL="64008" marR="64008" marT="18288" marB="18288" anchor="ctr">
                    <a:solidFill>
                      <a:srgbClr val="F3F6F8"/>
                    </a:solidFill>
                  </a:tcPr>
                </a:tc>
              </a:tr>
            </a:tbl>
          </a:graphicData>
        </a:graphic>
      </p:graphicFrame>
      <p:sp>
        <p:nvSpPr>
          <p:cNvPr id="6" name="TextBox 5"/>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Six earlier claims were withdrawn during the campaign after measurement defects were self-caught. All are documented in the project claim ledger; the discipline of recording them is itself part of the contribution.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HONESTLY STATED</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Challenges and limitations</a:t>
            </a:r>
          </a:p>
        </p:txBody>
      </p:sp>
      <p:sp>
        <p:nvSpPr>
          <p:cNvPr id="4" name="TextBox 3"/>
          <p:cNvSpPr txBox="1"/>
          <p:nvPr/>
        </p:nvSpPr>
        <p:spPr>
          <a:xfrm>
            <a:off x="548640" y="1280160"/>
            <a:ext cx="5486400" cy="502920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Technical challenges encountered</a:t>
            </a:r>
          </a:p>
          <a:p>
            <a:pPr algn="l">
              <a:spcAft>
                <a:spcPts val="300"/>
              </a:spcAft>
            </a:pPr>
            <a:r>
              <a:rPr sz="1000" b="0" i="0">
                <a:solidFill>
                  <a:srgbClr val="384553"/>
                </a:solidFill>
                <a:latin typeface="Calibri"/>
              </a:rPr>
              <a:t>•  Six measurement defects self-caught during the campaign, five before publication. Each withdrew a claim and each was recorded rather than hidden.</a:t>
            </a:r>
          </a:p>
          <a:p>
            <a:pPr algn="l">
              <a:spcAft>
                <a:spcPts val="300"/>
              </a:spcAft>
            </a:pPr>
            <a:r>
              <a:rPr sz="1000" b="0" i="0">
                <a:solidFill>
                  <a:srgbClr val="384553"/>
                </a:solidFill>
                <a:latin typeface="Calibri"/>
              </a:rPr>
              <a:t>•  Original position-fault result was 0.5-by-construction: the redundant sensing path was regenerating the position channel from ground truth. Corrected by re-injecting through a per-channel path.</a:t>
            </a:r>
          </a:p>
          <a:p>
            <a:pPr algn="l">
              <a:spcAft>
                <a:spcPts val="300"/>
              </a:spcAft>
            </a:pPr>
            <a:r>
              <a:rPr sz="1000" b="0" i="0">
                <a:solidFill>
                  <a:srgbClr val="384553"/>
                </a:solidFill>
                <a:latin typeface="Calibri"/>
              </a:rPr>
              <a:t>•  Original P1 'VALID' calibration was measured on a different tick window than detection. Withdrawn once matched-window analysis exposed it.</a:t>
            </a:r>
          </a:p>
          <a:p>
            <a:pPr algn="l">
              <a:spcAft>
                <a:spcPts val="300"/>
              </a:spcAft>
            </a:pPr>
            <a:r>
              <a:rPr sz="1000" b="0" i="0">
                <a:solidFill>
                  <a:srgbClr val="384553"/>
                </a:solidFill>
                <a:latin typeface="Calibri"/>
              </a:rPr>
              <a:t>•  R3b's 100 % detection of imu_dropout was traced to the post-fault recovery transient, not the fault itself. R3c (duration-matched control) settled this.</a:t>
            </a:r>
          </a:p>
          <a:p>
            <a:pPr algn="l">
              <a:spcAft>
                <a:spcPts val="400"/>
              </a:spcAft>
            </a:pPr>
            <a:r>
              <a:rPr sz="1200" b="1" i="0">
                <a:solidFill>
                  <a:srgbClr val="015F6B"/>
                </a:solidFill>
                <a:latin typeface="Cambria"/>
              </a:rPr>
              <a:t>How the team addressed them</a:t>
            </a:r>
          </a:p>
          <a:p>
            <a:pPr algn="l">
              <a:spcAft>
                <a:spcPts val="300"/>
              </a:spcAft>
            </a:pPr>
            <a:r>
              <a:rPr sz="1000" b="0" i="0">
                <a:solidFill>
                  <a:srgbClr val="384553"/>
                </a:solidFill>
                <a:latin typeface="Calibri"/>
              </a:rPr>
              <a:t>•  Adopted pre-registration: criterion frozen on disk before each experiment ran.</a:t>
            </a:r>
          </a:p>
          <a:p>
            <a:pPr algn="l">
              <a:spcAft>
                <a:spcPts val="300"/>
              </a:spcAft>
            </a:pPr>
            <a:r>
              <a:rPr sz="1000" b="0" i="0">
                <a:solidFill>
                  <a:srgbClr val="384553"/>
                </a:solidFill>
                <a:latin typeface="Calibri"/>
              </a:rPr>
              <a:t>•  Adopted delivered-signal integrity as a workflow requirement, not a coding convention.</a:t>
            </a:r>
          </a:p>
          <a:p>
            <a:pPr algn="l">
              <a:spcAft>
                <a:spcPts val="300"/>
              </a:spcAft>
            </a:pPr>
            <a:r>
              <a:rPr sz="1000" b="0" i="0">
                <a:solidFill>
                  <a:srgbClr val="384553"/>
                </a:solidFill>
                <a:latin typeface="Calibri"/>
              </a:rPr>
              <a:t>•  Adopted the run as the statistical unit; tick-level rates are now supplementary only.</a:t>
            </a:r>
          </a:p>
          <a:p>
            <a:pPr algn="l">
              <a:spcAft>
                <a:spcPts val="300"/>
              </a:spcAft>
            </a:pPr>
            <a:r>
              <a:rPr sz="1000" b="0" i="0">
                <a:solidFill>
                  <a:srgbClr val="384553"/>
                </a:solidFill>
                <a:latin typeface="Calibri"/>
              </a:rPr>
              <a:t>•  Maintain a machine-readable claim ledger; nothing is silently deleted.</a:t>
            </a:r>
          </a:p>
        </p:txBody>
      </p:sp>
      <p:sp>
        <p:nvSpPr>
          <p:cNvPr id="5" name="TextBox 4"/>
          <p:cNvSpPr txBox="1"/>
          <p:nvPr/>
        </p:nvSpPr>
        <p:spPr>
          <a:xfrm>
            <a:off x="6217920" y="1280160"/>
            <a:ext cx="5394960" cy="5029200"/>
          </a:xfrm>
          <a:prstGeom prst="rect">
            <a:avLst/>
          </a:prstGeom>
          <a:noFill/>
        </p:spPr>
        <p:txBody>
          <a:bodyPr wrap="square" anchor="t" lIns="0" rIns="0" tIns="0" bIns="0">
            <a:spAutoFit/>
          </a:bodyPr>
          <a:lstStyle/>
          <a:p>
            <a:pPr algn="l">
              <a:spcAft>
                <a:spcPts val="400"/>
              </a:spcAft>
            </a:pPr>
            <a:r>
              <a:rPr sz="1200" b="1" i="0">
                <a:solidFill>
                  <a:srgbClr val="015F6B"/>
                </a:solidFill>
                <a:latin typeface="Cambria"/>
              </a:rPr>
              <a:t>Known limitations of the current work</a:t>
            </a:r>
          </a:p>
          <a:p>
            <a:pPr algn="l">
              <a:spcAft>
                <a:spcPts val="300"/>
              </a:spcAft>
            </a:pPr>
            <a:r>
              <a:rPr sz="1000" b="0" i="0">
                <a:solidFill>
                  <a:srgbClr val="384553"/>
                </a:solidFill>
                <a:latin typeface="Calibri"/>
              </a:rPr>
              <a:t>•  Synthetic plant only. All findings are [M-syn]; external validation [M-ext] is 0 of 30. This is the largest single limitation and the reason external datasets are the next stage.</a:t>
            </a:r>
          </a:p>
          <a:p>
            <a:pPr algn="l">
              <a:spcAft>
                <a:spcPts val="300"/>
              </a:spcAft>
            </a:pPr>
            <a:r>
              <a:rPr sz="1000" b="0" i="0">
                <a:solidFill>
                  <a:srgbClr val="384553"/>
                </a:solidFill>
                <a:latin typeface="Calibri"/>
              </a:rPr>
              <a:t>•  Three policies is not a sample of policies; findings on P1 do not automatically generalise across policy space.</a:t>
            </a:r>
          </a:p>
          <a:p>
            <a:pPr algn="l">
              <a:spcAft>
                <a:spcPts val="300"/>
              </a:spcAft>
            </a:pPr>
            <a:r>
              <a:rPr sz="1000" b="0" i="0">
                <a:solidFill>
                  <a:srgbClr val="384553"/>
                </a:solidFill>
                <a:latin typeface="Calibri"/>
              </a:rPr>
              <a:t>•  P2 is INVALID for fixed-quantile calibration (non-stationary score). Retained in the record; not tuned around.</a:t>
            </a:r>
          </a:p>
          <a:p>
            <a:pPr algn="l">
              <a:spcAft>
                <a:spcPts val="300"/>
              </a:spcAft>
            </a:pPr>
            <a:r>
              <a:rPr sz="1000" b="0" i="0">
                <a:solidFill>
                  <a:srgbClr val="384553"/>
                </a:solidFill>
                <a:latin typeface="Calibri"/>
              </a:rPr>
              <a:t>•  Two faults (speed_bias, speed_stuck) remain undetectable by the current L6 gate at any tested severity; their non-conformity score is flat in every phase.</a:t>
            </a:r>
          </a:p>
          <a:p>
            <a:pPr algn="l">
              <a:spcAft>
                <a:spcPts val="300"/>
              </a:spcAft>
            </a:pPr>
            <a:r>
              <a:rPr sz="1000" b="0" i="0">
                <a:solidFill>
                  <a:srgbClr val="384553"/>
                </a:solidFill>
                <a:latin typeface="Calibri"/>
              </a:rPr>
              <a:t>•  No end-to-end user-facing application; the deliverable is an audited testbed, measurement discipline, findings, and an architecture proposal.</a:t>
            </a:r>
          </a:p>
          <a:p>
            <a:pPr algn="l">
              <a:spcAft>
                <a:spcPts val="300"/>
              </a:spcAft>
            </a:pPr>
            <a:r>
              <a:rPr sz="1000" b="0" i="0">
                <a:solidFill>
                  <a:srgbClr val="384553"/>
                </a:solidFill>
                <a:latin typeface="Calibri"/>
              </a:rPr>
              <a:t>•  Self-trust plane is a design; implementation and validation are future work.</a:t>
            </a:r>
          </a:p>
          <a:p>
            <a:pPr algn="l">
              <a:spcAft>
                <a:spcPts val="300"/>
              </a:spcAft>
            </a:pPr>
            <a:r>
              <a:rPr sz="1000" b="0" i="0">
                <a:solidFill>
                  <a:srgbClr val="384553"/>
                </a:solidFill>
                <a:latin typeface="Calibri"/>
              </a:rPr>
              <a:t>•  Novelty of the specific self-trust framing awaits systematic literature review.</a:t>
            </a:r>
          </a:p>
        </p:txBody>
      </p:sp>
      <p:sp>
        <p:nvSpPr>
          <p:cNvPr id="6" name="TextBox 5"/>
          <p:cNvSpPr txBox="1"/>
          <p:nvPr/>
        </p:nvSpPr>
        <p:spPr>
          <a:xfrm>
            <a:off x="548640" y="6419088"/>
            <a:ext cx="11064240" cy="256032"/>
          </a:xfrm>
          <a:prstGeom prst="rect">
            <a:avLst/>
          </a:prstGeom>
          <a:noFill/>
        </p:spPr>
        <p:txBody>
          <a:bodyPr wrap="square" anchor="t" lIns="0" rIns="0" tIns="0" bIns="0">
            <a:spAutoFit/>
          </a:bodyPr>
          <a:lstStyle/>
          <a:p>
            <a:pPr algn="l">
              <a:spcAft>
                <a:spcPts val="0"/>
              </a:spcAft>
            </a:pPr>
            <a:r>
              <a:rPr sz="850" b="0" i="1">
                <a:solidFill>
                  <a:srgbClr val="93A0AB"/>
                </a:solidFill>
                <a:latin typeface="Calibri"/>
              </a:rPr>
              <a:t>The withdrawal record is treated as an asset of the project: a reviewer can inspect exactly what was tried, what failed, and why, rather than only the polished result.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REALISTIC EXTENSIONS</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1A222E"/>
                </a:solidFill>
                <a:latin typeface="Cambria"/>
              </a:rPr>
              <a:t>Future scope</a:t>
            </a:r>
          </a:p>
        </p:txBody>
      </p:sp>
      <p:sp>
        <p:nvSpPr>
          <p:cNvPr id="4" name="Rectangle 3"/>
          <p:cNvSpPr/>
          <p:nvPr/>
        </p:nvSpPr>
        <p:spPr>
          <a:xfrm>
            <a:off x="548640" y="1325880"/>
            <a:ext cx="11064240" cy="79552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25880"/>
            <a:ext cx="146304" cy="79552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10515600" cy="658368"/>
          </a:xfrm>
          <a:prstGeom prst="rect">
            <a:avLst/>
          </a:prstGeom>
          <a:noFill/>
        </p:spPr>
        <p:txBody>
          <a:bodyPr wrap="square" anchor="t" lIns="0" rIns="0" tIns="0" bIns="0">
            <a:spAutoFit/>
          </a:bodyPr>
          <a:lstStyle/>
          <a:p>
            <a:pPr algn="l">
              <a:spcAft>
                <a:spcPts val="300"/>
              </a:spcAft>
            </a:pPr>
            <a:r>
              <a:rPr sz="1100" b="1" i="0">
                <a:solidFill>
                  <a:srgbClr val="1A222E"/>
                </a:solidFill>
                <a:latin typeface="Cambria"/>
              </a:rPr>
              <a:t>Near-term (weeks)</a:t>
            </a:r>
          </a:p>
          <a:p>
            <a:pPr algn="l">
              <a:spcAft>
                <a:spcPts val="0"/>
              </a:spcAft>
            </a:pPr>
            <a:r>
              <a:rPr sz="1000" b="0" i="0">
                <a:solidFill>
                  <a:srgbClr val="384553"/>
                </a:solidFill>
                <a:latin typeface="Calibri"/>
              </a:rPr>
              <a:t>Complete literature review (blocks the novelty claim); compute monitorability metric on the 28 existing cells (zero new compute); recalibrate P3 (short compute); run E19 monitor-placement experiment on P1 with pre-registered baselines.</a:t>
            </a:r>
          </a:p>
        </p:txBody>
      </p:sp>
      <p:sp>
        <p:nvSpPr>
          <p:cNvPr id="7" name="Rectangle 6"/>
          <p:cNvSpPr/>
          <p:nvPr/>
        </p:nvSpPr>
        <p:spPr>
          <a:xfrm>
            <a:off x="548640" y="2167128"/>
            <a:ext cx="11064240" cy="79552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67128"/>
            <a:ext cx="146304" cy="795528"/>
          </a:xfrm>
          <a:prstGeom prst="rect">
            <a:avLst/>
          </a:prstGeom>
          <a:solidFill>
            <a:srgbClr val="01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58568"/>
            <a:ext cx="10515600" cy="658368"/>
          </a:xfrm>
          <a:prstGeom prst="rect">
            <a:avLst/>
          </a:prstGeom>
          <a:noFill/>
        </p:spPr>
        <p:txBody>
          <a:bodyPr wrap="square" anchor="t" lIns="0" rIns="0" tIns="0" bIns="0">
            <a:spAutoFit/>
          </a:bodyPr>
          <a:lstStyle/>
          <a:p>
            <a:pPr algn="l">
              <a:spcAft>
                <a:spcPts val="300"/>
              </a:spcAft>
            </a:pPr>
            <a:r>
              <a:rPr sz="1100" b="1" i="0">
                <a:solidFill>
                  <a:srgbClr val="1A222E"/>
                </a:solidFill>
                <a:latin typeface="Cambria"/>
              </a:rPr>
              <a:t>Medium-term (months)</a:t>
            </a:r>
          </a:p>
          <a:p>
            <a:pPr algn="l">
              <a:spcAft>
                <a:spcPts val="0"/>
              </a:spcAft>
            </a:pPr>
            <a:r>
              <a:rPr sz="1000" b="0" i="0">
                <a:solidFill>
                  <a:srgbClr val="384553"/>
                </a:solidFill>
                <a:latin typeface="Calibri"/>
              </a:rPr>
              <a:t>Implement the self-trust plane as production code with an interface, not a benchmark script. Run E20 (lying-sensor / adversarial): one channel lies within the voting margin using the redundancy-consistency monitor as the detection substrate.</a:t>
            </a:r>
          </a:p>
        </p:txBody>
      </p:sp>
      <p:sp>
        <p:nvSpPr>
          <p:cNvPr id="10" name="Rectangle 9"/>
          <p:cNvSpPr/>
          <p:nvPr/>
        </p:nvSpPr>
        <p:spPr>
          <a:xfrm>
            <a:off x="548640" y="3008376"/>
            <a:ext cx="11064240" cy="79552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008376"/>
            <a:ext cx="146304" cy="795528"/>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99816"/>
            <a:ext cx="10515600" cy="658368"/>
          </a:xfrm>
          <a:prstGeom prst="rect">
            <a:avLst/>
          </a:prstGeom>
          <a:noFill/>
        </p:spPr>
        <p:txBody>
          <a:bodyPr wrap="square" anchor="t" lIns="0" rIns="0" tIns="0" bIns="0">
            <a:spAutoFit/>
          </a:bodyPr>
          <a:lstStyle/>
          <a:p>
            <a:pPr algn="l">
              <a:spcAft>
                <a:spcPts val="300"/>
              </a:spcAft>
            </a:pPr>
            <a:r>
              <a:rPr sz="1100" b="1" i="0">
                <a:solidFill>
                  <a:srgbClr val="1A222E"/>
                </a:solidFill>
                <a:latin typeface="Cambria"/>
              </a:rPr>
              <a:t>External validation</a:t>
            </a:r>
          </a:p>
          <a:p>
            <a:pPr algn="l">
              <a:spcAft>
                <a:spcPts val="0"/>
              </a:spcAft>
            </a:pPr>
            <a:r>
              <a:rPr sz="1000" b="0" i="0">
                <a:solidFill>
                  <a:srgbClr val="384553"/>
                </a:solidFill>
                <a:latin typeface="Calibri"/>
              </a:rPr>
              <a:t>comma2k19: open-loop replay of real driving data with controlled fault injection layered on top. Requires an adapter and confirmed timestamp precision.</a:t>
            </a:r>
          </a:p>
        </p:txBody>
      </p:sp>
      <p:sp>
        <p:nvSpPr>
          <p:cNvPr id="13" name="Rectangle 12"/>
          <p:cNvSpPr/>
          <p:nvPr/>
        </p:nvSpPr>
        <p:spPr>
          <a:xfrm>
            <a:off x="548640" y="3849624"/>
            <a:ext cx="11064240" cy="79552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849624"/>
            <a:ext cx="146304" cy="795528"/>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41064"/>
            <a:ext cx="10515600" cy="658368"/>
          </a:xfrm>
          <a:prstGeom prst="rect">
            <a:avLst/>
          </a:prstGeom>
          <a:noFill/>
        </p:spPr>
        <p:txBody>
          <a:bodyPr wrap="square" anchor="t" lIns="0" rIns="0" tIns="0" bIns="0">
            <a:spAutoFit/>
          </a:bodyPr>
          <a:lstStyle/>
          <a:p>
            <a:pPr algn="l">
              <a:spcAft>
                <a:spcPts val="300"/>
              </a:spcAft>
            </a:pPr>
            <a:r>
              <a:rPr sz="1100" b="1" i="0">
                <a:solidFill>
                  <a:srgbClr val="1A222E"/>
                </a:solidFill>
                <a:latin typeface="Cambria"/>
              </a:rPr>
              <a:t>Naturalistic regime validation</a:t>
            </a:r>
          </a:p>
          <a:p>
            <a:pPr algn="l">
              <a:spcAft>
                <a:spcPts val="0"/>
              </a:spcAft>
            </a:pPr>
            <a:r>
              <a:rPr sz="1000" b="0" i="0">
                <a:solidFill>
                  <a:srgbClr val="384553"/>
                </a:solidFill>
                <a:latin typeface="Calibri"/>
              </a:rPr>
              <a:t>highD: naturalistic traffic trajectories to test whether findings survive across operating regimes rather than one synthetic driving profile.</a:t>
            </a:r>
          </a:p>
        </p:txBody>
      </p:sp>
      <p:sp>
        <p:nvSpPr>
          <p:cNvPr id="16" name="Rectangle 15"/>
          <p:cNvSpPr/>
          <p:nvPr/>
        </p:nvSpPr>
        <p:spPr>
          <a:xfrm>
            <a:off x="548640" y="4690872"/>
            <a:ext cx="11064240" cy="79552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690872"/>
            <a:ext cx="146304" cy="795528"/>
          </a:xfrm>
          <a:prstGeom prst="rect">
            <a:avLst/>
          </a:prstGeom>
          <a:solidFill>
            <a:srgbClr val="5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782312"/>
            <a:ext cx="10515600" cy="658368"/>
          </a:xfrm>
          <a:prstGeom prst="rect">
            <a:avLst/>
          </a:prstGeom>
          <a:noFill/>
        </p:spPr>
        <p:txBody>
          <a:bodyPr wrap="square" anchor="t" lIns="0" rIns="0" tIns="0" bIns="0">
            <a:spAutoFit/>
          </a:bodyPr>
          <a:lstStyle/>
          <a:p>
            <a:pPr algn="l">
              <a:spcAft>
                <a:spcPts val="300"/>
              </a:spcAft>
            </a:pPr>
            <a:r>
              <a:rPr sz="1100" b="1" i="0">
                <a:solidFill>
                  <a:srgbClr val="1A222E"/>
                </a:solidFill>
                <a:latin typeface="Cambria"/>
              </a:rPr>
              <a:t>Closed-loop realism</a:t>
            </a:r>
          </a:p>
          <a:p>
            <a:pPr algn="l">
              <a:spcAft>
                <a:spcPts val="0"/>
              </a:spcAft>
            </a:pPr>
            <a:r>
              <a:rPr sz="1000" b="0" i="0">
                <a:solidFill>
                  <a:srgbClr val="384553"/>
                </a:solidFill>
                <a:latin typeface="Calibri"/>
              </a:rPr>
              <a:t>CARLA: closed-loop simulation with better sensor models; useful demonstration but not a substitute for real data.</a:t>
            </a:r>
          </a:p>
        </p:txBody>
      </p:sp>
      <p:sp>
        <p:nvSpPr>
          <p:cNvPr id="19" name="Rectangle 18"/>
          <p:cNvSpPr/>
          <p:nvPr/>
        </p:nvSpPr>
        <p:spPr>
          <a:xfrm>
            <a:off x="548640" y="5532120"/>
            <a:ext cx="11064240" cy="79552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532120"/>
            <a:ext cx="146304" cy="795528"/>
          </a:xfrm>
          <a:prstGeom prst="rect">
            <a:avLst/>
          </a:prstGeom>
          <a:solidFill>
            <a:srgbClr val="9B33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623560"/>
            <a:ext cx="10515600" cy="658368"/>
          </a:xfrm>
          <a:prstGeom prst="rect">
            <a:avLst/>
          </a:prstGeom>
          <a:noFill/>
        </p:spPr>
        <p:txBody>
          <a:bodyPr wrap="square" anchor="t" lIns="0" rIns="0" tIns="0" bIns="0">
            <a:spAutoFit/>
          </a:bodyPr>
          <a:lstStyle/>
          <a:p>
            <a:pPr algn="l">
              <a:spcAft>
                <a:spcPts val="300"/>
              </a:spcAft>
            </a:pPr>
            <a:r>
              <a:rPr sz="1100" b="1" i="0">
                <a:solidFill>
                  <a:srgbClr val="1A222E"/>
                </a:solidFill>
                <a:latin typeface="Cambria"/>
              </a:rPr>
              <a:t>Standards and industry engagement</a:t>
            </a:r>
          </a:p>
          <a:p>
            <a:pPr algn="l">
              <a:spcAft>
                <a:spcPts val="0"/>
              </a:spcAft>
            </a:pPr>
            <a:r>
              <a:rPr sz="1000" b="0" i="0">
                <a:solidFill>
                  <a:srgbClr val="384553"/>
                </a:solidFill>
                <a:latin typeface="Calibri"/>
              </a:rPr>
              <a:t>Position monitorability + self-trust as a SOTIF (ISO 21448) coverage contribution; engage automotive R&amp;D partners for real sensor data via NDA. Explicitly out of scope: any autonomy claim beyond fault detection and monitor assurance.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832"/>
        </a:solidFill>
        <a:effectLst/>
      </p:bgPr>
    </p:bg>
    <p:spTree>
      <p:nvGrpSpPr>
        <p:cNvPr id="1" name=""/>
        <p:cNvGrpSpPr/>
        <p:nvPr/>
      </p:nvGrpSpPr>
      <p:grpSpPr/>
      <p:sp>
        <p:nvSpPr>
          <p:cNvPr id="2" name="TextBox 1"/>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IN SUMMARY</a:t>
            </a:r>
          </a:p>
        </p:txBody>
      </p:sp>
      <p:sp>
        <p:nvSpPr>
          <p:cNvPr id="3" name="TextBox 2"/>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FFFFFF"/>
                </a:solidFill>
                <a:latin typeface="Cambria"/>
              </a:rPr>
              <a:t>Conclusion</a:t>
            </a:r>
          </a:p>
        </p:txBody>
      </p:sp>
      <p:sp>
        <p:nvSpPr>
          <p:cNvPr id="4" name="Rectangle 3"/>
          <p:cNvSpPr/>
          <p:nvPr/>
        </p:nvSpPr>
        <p:spPr>
          <a:xfrm>
            <a:off x="0" y="0"/>
            <a:ext cx="12191695" cy="6858000"/>
          </a:xfrm>
          <a:prstGeom prst="rect">
            <a:avLst/>
          </a:prstGeom>
          <a:solidFill>
            <a:srgbClr val="142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11064240" cy="219456"/>
          </a:xfrm>
          <a:prstGeom prst="rect">
            <a:avLst/>
          </a:prstGeom>
          <a:noFill/>
        </p:spPr>
        <p:txBody>
          <a:bodyPr wrap="square" anchor="t" lIns="0" rIns="0" tIns="0" bIns="0">
            <a:spAutoFit/>
          </a:bodyPr>
          <a:lstStyle/>
          <a:p>
            <a:pPr algn="l">
              <a:spcAft>
                <a:spcPts val="0"/>
              </a:spcAft>
            </a:pPr>
            <a:r>
              <a:rPr sz="950" b="1" i="0">
                <a:solidFill>
                  <a:srgbClr val="028090"/>
                </a:solidFill>
                <a:latin typeface="Calibri"/>
              </a:rPr>
              <a:t>IN SUMMARY</a:t>
            </a:r>
          </a:p>
        </p:txBody>
      </p:sp>
      <p:sp>
        <p:nvSpPr>
          <p:cNvPr id="6" name="TextBox 5"/>
          <p:cNvSpPr txBox="1"/>
          <p:nvPr/>
        </p:nvSpPr>
        <p:spPr>
          <a:xfrm>
            <a:off x="548640" y="585216"/>
            <a:ext cx="11064240" cy="548640"/>
          </a:xfrm>
          <a:prstGeom prst="rect">
            <a:avLst/>
          </a:prstGeom>
          <a:noFill/>
        </p:spPr>
        <p:txBody>
          <a:bodyPr wrap="square" anchor="t" lIns="0" rIns="0" tIns="0" bIns="0">
            <a:spAutoFit/>
          </a:bodyPr>
          <a:lstStyle/>
          <a:p>
            <a:pPr algn="l">
              <a:spcAft>
                <a:spcPts val="0"/>
              </a:spcAft>
            </a:pPr>
            <a:r>
              <a:rPr sz="2600" b="1" i="0">
                <a:solidFill>
                  <a:srgbClr val="FFFFFF"/>
                </a:solidFill>
                <a:latin typeface="Cambria"/>
              </a:rPr>
              <a:t>Conclusion</a:t>
            </a:r>
          </a:p>
        </p:txBody>
      </p:sp>
      <p:sp>
        <p:nvSpPr>
          <p:cNvPr id="7" name="Rectangle 6"/>
          <p:cNvSpPr/>
          <p:nvPr/>
        </p:nvSpPr>
        <p:spPr>
          <a:xfrm>
            <a:off x="548640" y="1280160"/>
            <a:ext cx="11064240" cy="932688"/>
          </a:xfrm>
          <a:prstGeom prst="rect">
            <a:avLst/>
          </a:prstGeom>
          <a:solidFill>
            <a:srgbClr val="1E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80160"/>
            <a:ext cx="146304" cy="93268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10515600" cy="804672"/>
          </a:xfrm>
          <a:prstGeom prst="rect">
            <a:avLst/>
          </a:prstGeom>
          <a:noFill/>
        </p:spPr>
        <p:txBody>
          <a:bodyPr wrap="square" anchor="t" lIns="0" rIns="0" tIns="0" bIns="0">
            <a:spAutoFit/>
          </a:bodyPr>
          <a:lstStyle/>
          <a:p>
            <a:pPr algn="l">
              <a:spcAft>
                <a:spcPts val="400"/>
              </a:spcAft>
            </a:pPr>
            <a:r>
              <a:rPr sz="1200" b="1" i="0">
                <a:solidFill>
                  <a:srgbClr val="028090"/>
                </a:solidFill>
                <a:latin typeface="Cambria"/>
              </a:rPr>
              <a:t>Problem</a:t>
            </a:r>
          </a:p>
          <a:p>
            <a:pPr algn="l">
              <a:spcAft>
                <a:spcPts val="0"/>
              </a:spcAft>
            </a:pPr>
            <a:r>
              <a:rPr sz="1100" b="0" i="0">
                <a:solidFill>
                  <a:srgbClr val="D2E1E7"/>
                </a:solidFill>
                <a:latin typeface="Calibri"/>
              </a:rPr>
              <a:t>Autonomous systems with learned controllers rely on runtime monitors that existing architectures assume are reliable. That assumption is not measured.</a:t>
            </a:r>
          </a:p>
        </p:txBody>
      </p:sp>
      <p:sp>
        <p:nvSpPr>
          <p:cNvPr id="10" name="Rectangle 9"/>
          <p:cNvSpPr/>
          <p:nvPr/>
        </p:nvSpPr>
        <p:spPr>
          <a:xfrm>
            <a:off x="548640" y="2267712"/>
            <a:ext cx="11064240" cy="932688"/>
          </a:xfrm>
          <a:prstGeom prst="rect">
            <a:avLst/>
          </a:prstGeom>
          <a:solidFill>
            <a:srgbClr val="1E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67712"/>
            <a:ext cx="146304" cy="93268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10515600" cy="804672"/>
          </a:xfrm>
          <a:prstGeom prst="rect">
            <a:avLst/>
          </a:prstGeom>
          <a:noFill/>
        </p:spPr>
        <p:txBody>
          <a:bodyPr wrap="square" anchor="t" lIns="0" rIns="0" tIns="0" bIns="0">
            <a:spAutoFit/>
          </a:bodyPr>
          <a:lstStyle/>
          <a:p>
            <a:pPr algn="l">
              <a:spcAft>
                <a:spcPts val="400"/>
              </a:spcAft>
            </a:pPr>
            <a:r>
              <a:rPr sz="1200" b="1" i="0">
                <a:solidFill>
                  <a:srgbClr val="028090"/>
                </a:solidFill>
                <a:latin typeface="Cambria"/>
              </a:rPr>
              <a:t>Proposed solution</a:t>
            </a:r>
          </a:p>
          <a:p>
            <a:pPr algn="l">
              <a:spcAft>
                <a:spcPts val="0"/>
              </a:spcAft>
            </a:pPr>
            <a:r>
              <a:rPr sz="1100" b="0" i="0">
                <a:solidFill>
                  <a:srgbClr val="D2E1E7"/>
                </a:solidFill>
                <a:latin typeface="Calibri"/>
              </a:rPr>
              <a:t>ASTRA: a nine-layer runtime governance stack (Simplex-derived) instrumented so fault evidence is measurable at every stage, plus an observability plane that assesses whether each monitor can be trusted.</a:t>
            </a:r>
          </a:p>
        </p:txBody>
      </p:sp>
      <p:sp>
        <p:nvSpPr>
          <p:cNvPr id="13" name="Rectangle 12"/>
          <p:cNvSpPr/>
          <p:nvPr/>
        </p:nvSpPr>
        <p:spPr>
          <a:xfrm>
            <a:off x="548640" y="3255264"/>
            <a:ext cx="11064240" cy="932688"/>
          </a:xfrm>
          <a:prstGeom prst="rect">
            <a:avLst/>
          </a:prstGeom>
          <a:solidFill>
            <a:srgbClr val="1E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55264"/>
            <a:ext cx="146304" cy="93268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346704"/>
            <a:ext cx="10515600" cy="804672"/>
          </a:xfrm>
          <a:prstGeom prst="rect">
            <a:avLst/>
          </a:prstGeom>
          <a:noFill/>
        </p:spPr>
        <p:txBody>
          <a:bodyPr wrap="square" anchor="t" lIns="0" rIns="0" tIns="0" bIns="0">
            <a:spAutoFit/>
          </a:bodyPr>
          <a:lstStyle/>
          <a:p>
            <a:pPr algn="l">
              <a:spcAft>
                <a:spcPts val="400"/>
              </a:spcAft>
            </a:pPr>
            <a:r>
              <a:rPr sz="1200" b="1" i="0">
                <a:solidFill>
                  <a:srgbClr val="028090"/>
                </a:solidFill>
                <a:latin typeface="Cambria"/>
              </a:rPr>
              <a:t>Current achievement</a:t>
            </a:r>
          </a:p>
          <a:p>
            <a:pPr algn="l">
              <a:spcAft>
                <a:spcPts val="0"/>
              </a:spcAft>
            </a:pPr>
            <a:r>
              <a:rPr sz="1100" b="0" i="0">
                <a:solidFill>
                  <a:srgbClr val="D2E1E7"/>
                </a:solidFill>
                <a:latin typeface="Calibri"/>
              </a:rPr>
              <a:t>Six audited experiment phases, ~4,300 runs, zero fabricated results, six withdrawn claims documented. A working per-run-stable monitor on one policy at a 160-second window, four of six faults detectable, and — the most significant single finding — measured evidence that the monitor is silent for the duration of a persistent sensor failure.</a:t>
            </a:r>
          </a:p>
        </p:txBody>
      </p:sp>
      <p:sp>
        <p:nvSpPr>
          <p:cNvPr id="16" name="Rectangle 15"/>
          <p:cNvSpPr/>
          <p:nvPr/>
        </p:nvSpPr>
        <p:spPr>
          <a:xfrm>
            <a:off x="548640" y="4242816"/>
            <a:ext cx="11064240" cy="932688"/>
          </a:xfrm>
          <a:prstGeom prst="rect">
            <a:avLst/>
          </a:prstGeom>
          <a:solidFill>
            <a:srgbClr val="1E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242816"/>
            <a:ext cx="146304" cy="93268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334256"/>
            <a:ext cx="10515600" cy="804672"/>
          </a:xfrm>
          <a:prstGeom prst="rect">
            <a:avLst/>
          </a:prstGeom>
          <a:noFill/>
        </p:spPr>
        <p:txBody>
          <a:bodyPr wrap="square" anchor="t" lIns="0" rIns="0" tIns="0" bIns="0">
            <a:spAutoFit/>
          </a:bodyPr>
          <a:lstStyle/>
          <a:p>
            <a:pPr algn="l">
              <a:spcAft>
                <a:spcPts val="400"/>
              </a:spcAft>
            </a:pPr>
            <a:r>
              <a:rPr sz="1200" b="1" i="0">
                <a:solidFill>
                  <a:srgbClr val="028090"/>
                </a:solidFill>
                <a:latin typeface="Cambria"/>
              </a:rPr>
              <a:t>Expected final outcome</a:t>
            </a:r>
          </a:p>
          <a:p>
            <a:pPr algn="l">
              <a:spcAft>
                <a:spcPts val="0"/>
              </a:spcAft>
            </a:pPr>
            <a:r>
              <a:rPr sz="1100" b="0" i="0">
                <a:solidFill>
                  <a:srgbClr val="D2E1E7"/>
                </a:solidFill>
                <a:latin typeface="Calibri"/>
              </a:rPr>
              <a:t>An implemented self-trust plane, monitorability validated as a predictor of operational detection, and an initial external-data replication on comma2k19. Publishable at an IEEE conference in the runtime-assurance / dependability track.</a:t>
            </a:r>
          </a:p>
        </p:txBody>
      </p:sp>
      <p:sp>
        <p:nvSpPr>
          <p:cNvPr id="19" name="Rectangle 18"/>
          <p:cNvSpPr/>
          <p:nvPr/>
        </p:nvSpPr>
        <p:spPr>
          <a:xfrm>
            <a:off x="548640" y="5230368"/>
            <a:ext cx="11064240" cy="932688"/>
          </a:xfrm>
          <a:prstGeom prst="rect">
            <a:avLst/>
          </a:prstGeom>
          <a:solidFill>
            <a:srgbClr val="1E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230368"/>
            <a:ext cx="146304" cy="93268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321808"/>
            <a:ext cx="10515600" cy="804672"/>
          </a:xfrm>
          <a:prstGeom prst="rect">
            <a:avLst/>
          </a:prstGeom>
          <a:noFill/>
        </p:spPr>
        <p:txBody>
          <a:bodyPr wrap="square" anchor="t" lIns="0" rIns="0" tIns="0" bIns="0">
            <a:spAutoFit/>
          </a:bodyPr>
          <a:lstStyle/>
          <a:p>
            <a:pPr algn="l">
              <a:spcAft>
                <a:spcPts val="400"/>
              </a:spcAft>
            </a:pPr>
            <a:r>
              <a:rPr sz="1200" b="1" i="0">
                <a:solidFill>
                  <a:srgbClr val="028090"/>
                </a:solidFill>
                <a:latin typeface="Cambria"/>
              </a:rPr>
              <a:t>Overall significance</a:t>
            </a:r>
          </a:p>
          <a:p>
            <a:pPr algn="l">
              <a:spcAft>
                <a:spcPts val="0"/>
              </a:spcAft>
            </a:pPr>
            <a:r>
              <a:rPr sz="1100" b="0" i="0">
                <a:solidFill>
                  <a:srgbClr val="D2E1E7"/>
                </a:solidFill>
                <a:latin typeface="Calibri"/>
              </a:rPr>
              <a:t>The contribution is a shift from 'is there a fault?' to 'can the monitor answering that question currently be trusted?' — a distinction our own experiments show is necessary, and one no existing runtime-assurance architecture makes.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